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Multi-agent pipelines can be more accurate than a single model call, but they cost several times as much. This talk asks when the team is worth its cost, and how to skip it without giving up more than a user-set amount of accuracy, with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we study is a standard plan, execute, review team. It costs 1.3 to 6.3 times a single agent at the same reasoning setting. Between 28 and 57 percent of the cost is coordination: the planner and reviewer calls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net gain over a single agent, 0.6 to 9.4 points, is the difference of two larger flows. The team rescues answers but also loses some. Most losses come from a wrong first draft that the reviewer accepts: the reviewer accepts 23 to 58 percent of incorrect answers. The losses are not just noise: rerunning the team on 300 tasks per setting reproduces 66 of the 142 losses against the direct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Panel b: a large share of the tasks the team solves are already solved by the direct answer, filled, or by the direct answer or a single agent, outlined. So escalating only when needed could save a lot. Panel c: the obvious signal, the mean token log-probability of the direct answer, separates right from wrong only partly. On Gemma without thinking, greedy decoding falls into confident repetitions, and the ranking is backwards.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confidence threshold can work on average, but it gives no guarantee per setting. With the same average cost as our method, it loses more than 2 points on seven of twelve settings and up to 16. At deployment there is nothing to tell you which settings are the bad ones, so a practitioner may reasonably keep paying for the full pipeline.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turn the question into a constrained problem. Minimise expected cost, subject to a bound epsilon on the accuracy lost relative to the team. Since the policy is fitted on a finite calibration sample, the bound holds with probability at least one minus delta over that sample. The constraint is always feasible: always running the team has zero risk.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task climbs a ladder. The direct answer is the cheapest rung. The single agent is the team's executor without a plan or a review. Calibration chooses one depth: stop at the direct answer when it is confident, or run both cheap rungs and stop at the single agent, agreeing tasks first. Every other task runs the full team from scratch. Both scores are free: log-probabilities come with the call, and agreement needs no extra call because L1 never sees L0's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the team sometimes loses answers that a cheaper rung gets right, the per-task loss of stopping is signed. Keeping the sign matters where the team often loses correct answers. And because the loss is zero on most tasks, its variance is small, which a variance-adaptive test can exploit. Both points come back in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one stopping decision, two functions govern the problem: the gain g of escalating at score s, which can be negative, and the tokens c that stopping saves. If both g and g over c fall as confidence rises, filling the knapsack greedily means stopping above a threshold. It also means the safe thresholds come first in the sequence, so testing them in order discards no safe threshold. CLIMB's cost then approaches that of the best threshold as calibration data grow. Importantly, the guarantee itself does not need this condition.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Following Learn-then-Test, every candidate threshold is a hypothesis that its risk exceeds the tolerance, and a threshold is deployable only if the calibration data reject it. We test the signed loss directly with a betting test: a gambler bets that the mean loss is below epsilon. Under the null the wealth is a nonnegative supermartingale, so by Ville's inequality one over its maximum is a valid p-value. The bet size follows the running variance, so the test adapts to how often stopping changes the answer at all. Testing in a fixed order needs no correction for the number of candidates.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Whether the second rung pays for itself depends on the model and the task, so CLIMB lets calibration choose. It certifies two one-decision families, each at level delta over two, and deploys the cheaper. If no cheaper policy passes, it runs the full team, so the worst case is no savings. The guarantee needs neither the monotone condition nor a calibrated score, only i.i.d. calibration and deployment tasks, including the model's outputs. It bounds the loss relative to the team, not to the best possible system.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MATH is scored by symbolic equivalence, BBEH by its official fuzzy match, FRAMES and MuSiQue by an LLM judge. FRAMES and MuSiQue are open-book: every call receives the documents, median 17k and 2.4k tokens, so every rung pays for them. Because we record every rung's outcome for every task, we can replay any policy on any split. Tolerances are absolute: epsilon equal to 10 percent allows a loss of 10 accuracy points.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check the guarantee in two ways. First, we treat each recorded pool as the task distribution, draw calibration sets i.i.d. from it, and compute the deployed policy's exact risk. Over 5,000 draws per setting and tolerance, the failure rate is at most 3.4 percent, with an upper 95 percent limit of 3.9, against the allowed 10. Second, the finite-pool violation rate of the replay is at most 2 percent in the main table.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improves on the direct answer on every setting, by 2 to 20.6 points, so savings are paid for in accuracy and epsilon sets the price. At 2 percent CLIMB saves little. At 5 percent it spends 62 percent of the pipeline's tokens on average, at 10 percent 35 percent. Savings are smallest where the direct answer's confidence is inverted, Gemma on FRAMES and BBEH, and on FRAMES, whose long documents every rung pays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Means over 200 calibration and evaluation splits. Viol. is the largest violation rate over the three tolerances, all at most 2 percent. At 10 percent most settings spend under half of the team's tokens. The exceptions are Gemma FRAMES and BBEH, where the direct answer's confidence is inverted and the certified policy largely escalates. The ε = 2% column is in the paper and saves little.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rules can look fine on average but lose a lot on some settings, with nothing at deployment to say which. Always stopping at L1 loses less on average than CLIMB at 10 percent, but with no bound on any setting. A stronger baseline tunes the threshold per setting on the same calibration half, without certification. It is cheaper, 37 percent of tokens at 5 percent, but exceeds the tolerance on 31 percent of splits on average. A threshold tuned to the edge of the tolerance on one sample tends to cross it on the next.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here is a valid test of the same policy family, so the difference is only in efficiency. Mapped to zero to one, the signed losses sit at one half, and Hoeffding-Bentkus, which assumes the worst variance at that mean, certifies nothing. Clipping the loss to the harm indicator ignores the answers stopping saves. The exact binomial test of the clipped loss wins only on three settings, two of them on MATH, where the team rarely loses correct answers. Bonferroni in place of sequential testing loses most of the rest.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largely decide how much CLIMB can save. The signal: on the nine settings where the direct answer's confidence ranks correctly, the gain falls with confidence on eight. On Gemma's three inverted settings, adding agreement helps, 71 against 82 percent of tokens at 5 percent. A random score still keeps the guarantee, it just saves less. The data: with 50 calibration tasks almost nothing is certified, and savings at 5 percent need a few hundred. The oracle shows the headroom: better signals can plug in without changing the procedure.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whether to pay for the team is a constrained decision with a signed loss. Under a monotone-gain condition a confidence threshold is optimal, and CLIMB certifies that family with a variance-adaptive betting test whose bound holds, given i.i.d. data, whether or not the condition does. Where confidence misleads, it saves little rather than losing accuracy. Weighted or online calibration could extend the guarantee to shifting distributions.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12800" y="1905000"/>
            <a:ext cx="10566400" cy="254000"/>
          </a:xfrm>
          <a:prstGeom prst="rect">
            <a:avLst/>
          </a:prstGeom>
          <a:noFill/>
        </p:spPr>
        <p:txBody>
          <a:bodyPr wrap="square" lIns="0" rIns="0" tIns="0" bIns="0" anchor="t">
            <a:spAutoFit/>
          </a:bodyPr>
          <a:lstStyle/>
          <a:p>
            <a:pPr algn="l">
              <a:lnSpc>
                <a:spcPct val="115000"/>
              </a:lnSpc>
              <a:spcAft>
                <a:spcPts val="0"/>
              </a:spcAft>
            </a:pPr>
            <a:r>
              <a:rPr sz="1400" b="1" i="0">
                <a:solidFill>
                  <a:srgbClr val="F0A66B"/>
                </a:solidFill>
                <a:latin typeface="Arial"/>
              </a:rPr>
              <a:t>CLIMB</a:t>
            </a:r>
          </a:p>
        </p:txBody>
      </p:sp>
      <p:sp>
        <p:nvSpPr>
          <p:cNvPr id="3" name="TextBox 2"/>
          <p:cNvSpPr txBox="1"/>
          <p:nvPr/>
        </p:nvSpPr>
        <p:spPr>
          <a:xfrm>
            <a:off x="812800" y="2222500"/>
            <a:ext cx="10566400" cy="825500"/>
          </a:xfrm>
          <a:prstGeom prst="rect">
            <a:avLst/>
          </a:prstGeom>
          <a:noFill/>
        </p:spPr>
        <p:txBody>
          <a:bodyPr wrap="square" lIns="0" rIns="0" tIns="0" bIns="0" anchor="t">
            <a:spAutoFit/>
          </a:bodyPr>
          <a:lstStyle/>
          <a:p>
            <a:pPr algn="l">
              <a:lnSpc>
                <a:spcPct val="115000"/>
              </a:lnSpc>
              <a:spcAft>
                <a:spcPts val="0"/>
              </a:spcAft>
            </a:pPr>
            <a:r>
              <a:rPr sz="5200" b="1" i="0">
                <a:solidFill>
                  <a:srgbClr val="F7F6F2"/>
                </a:solidFill>
                <a:latin typeface="Georgia"/>
              </a:rPr>
              <a:t>When to Call the Team</a:t>
            </a:r>
          </a:p>
        </p:txBody>
      </p:sp>
      <p:sp>
        <p:nvSpPr>
          <p:cNvPr id="4" name="TextBox 3"/>
          <p:cNvSpPr txBox="1"/>
          <p:nvPr/>
        </p:nvSpPr>
        <p:spPr>
          <a:xfrm>
            <a:off x="812800" y="3111500"/>
            <a:ext cx="10566400" cy="381000"/>
          </a:xfrm>
          <a:prstGeom prst="rect">
            <a:avLst/>
          </a:prstGeom>
          <a:noFill/>
        </p:spPr>
        <p:txBody>
          <a:bodyPr wrap="square" lIns="0" rIns="0" tIns="0" bIns="0" anchor="t">
            <a:spAutoFit/>
          </a:bodyPr>
          <a:lstStyle/>
          <a:p>
            <a:pPr algn="l">
              <a:lnSpc>
                <a:spcPct val="115000"/>
              </a:lnSpc>
              <a:spcAft>
                <a:spcPts val="0"/>
              </a:spcAft>
            </a:pPr>
            <a:r>
              <a:rPr sz="2200" b="0" i="0">
                <a:solidFill>
                  <a:srgbClr val="C9D1E0"/>
                </a:solidFill>
                <a:latin typeface="Arial"/>
              </a:rPr>
              <a:t>Risk-controlled escalation for multi-agent LLM pipelines</a:t>
            </a:r>
          </a:p>
        </p:txBody>
      </p:sp>
      <p:sp>
        <p:nvSpPr>
          <p:cNvPr id="5" name="Rectangle 4"/>
          <p:cNvSpPr/>
          <p:nvPr/>
        </p:nvSpPr>
        <p:spPr>
          <a:xfrm>
            <a:off x="812800" y="3746500"/>
            <a:ext cx="1524000" cy="25400"/>
          </a:xfrm>
          <a:prstGeom prst="rect">
            <a:avLst/>
          </a:prstGeom>
          <a:solidFill>
            <a:srgbClr val="F0A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4000500"/>
            <a:ext cx="10566400" cy="317500"/>
          </a:xfrm>
          <a:prstGeom prst="rect">
            <a:avLst/>
          </a:prstGeom>
          <a:noFill/>
        </p:spPr>
        <p:txBody>
          <a:bodyPr wrap="square" lIns="0" rIns="0" tIns="0" bIns="0" anchor="t">
            <a:spAutoFit/>
          </a:bodyPr>
          <a:lstStyle/>
          <a:p>
            <a:pPr algn="l">
              <a:lnSpc>
                <a:spcPct val="115000"/>
              </a:lnSpc>
              <a:spcAft>
                <a:spcPts val="0"/>
              </a:spcAft>
            </a:pPr>
            <a:r>
              <a:rPr sz="1500" b="0" i="0">
                <a:solidFill>
                  <a:srgbClr val="C9D1E0"/>
                </a:solidFill>
                <a:latin typeface="Arial"/>
              </a:rPr>
              <a:t>Jianjun Gao, Jinxin Liu, Dongyun Lin, Hongyun Cai, Zheng Ma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749300"/>
            <a:ext cx="10566400" cy="254000"/>
          </a:xfrm>
          <a:prstGeom prst="rect">
            <a:avLst/>
          </a:prstGeom>
          <a:noFill/>
        </p:spPr>
        <p:txBody>
          <a:bodyPr wrap="square" lIns="0" rIns="0" tIns="0" bIns="0" anchor="t">
            <a:spAutoFit/>
          </a:bodyPr>
          <a:lstStyle/>
          <a:p>
            <a:pPr algn="l">
              <a:lnSpc>
                <a:spcPct val="115000"/>
              </a:lnSpc>
              <a:spcAft>
                <a:spcPts val="0"/>
              </a:spcAft>
            </a:pPr>
            <a:r>
              <a:rPr sz="1200" b="1" i="0">
                <a:solidFill>
                  <a:srgbClr val="B4541A"/>
                </a:solidFill>
                <a:latin typeface="Arial"/>
              </a:rPr>
              <a:t>MOTIVATION</a:t>
            </a:r>
          </a:p>
        </p:txBody>
      </p:sp>
      <p:sp>
        <p:nvSpPr>
          <p:cNvPr id="3" name="TextBox 2"/>
          <p:cNvSpPr txBox="1"/>
          <p:nvPr/>
        </p:nvSpPr>
        <p:spPr>
          <a:xfrm>
            <a:off x="812800" y="1016000"/>
            <a:ext cx="10566400" cy="508000"/>
          </a:xfrm>
          <a:prstGeom prst="rect">
            <a:avLst/>
          </a:prstGeom>
          <a:noFill/>
        </p:spPr>
        <p:txBody>
          <a:bodyPr wrap="square" lIns="0" rIns="0" tIns="0" bIns="0" anchor="t">
            <a:spAutoFit/>
          </a:bodyPr>
          <a:lstStyle/>
          <a:p>
            <a:pPr algn="l">
              <a:lnSpc>
                <a:spcPct val="105000"/>
              </a:lnSpc>
              <a:spcAft>
                <a:spcPts val="0"/>
              </a:spcAft>
            </a:pPr>
            <a:r>
              <a:rPr sz="2800" b="1" i="0">
                <a:solidFill>
                  <a:srgbClr val="14213D"/>
                </a:solidFill>
                <a:latin typeface="Georgia"/>
              </a:rPr>
              <a:t>A plan–execute–review team is expensive</a:t>
            </a:r>
          </a:p>
        </p:txBody>
      </p:sp>
      <p:sp>
        <p:nvSpPr>
          <p:cNvPr id="4" name="Rounded Rectangle 3"/>
          <p:cNvSpPr/>
          <p:nvPr/>
        </p:nvSpPr>
        <p:spPr>
          <a:xfrm>
            <a:off x="812800" y="2095500"/>
            <a:ext cx="3384550" cy="1905000"/>
          </a:xfrm>
          <a:prstGeom prst="roundRect">
            <a:avLst>
              <a:gd name="adj" fmla="val 5333"/>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54000" rIns="254000" tIns="254000" bIns="254000"/>
          <a:lstStyle/>
          <a:p>
            <a:pPr algn="l">
              <a:lnSpc>
                <a:spcPct val="100000"/>
              </a:lnSpc>
              <a:spcAft>
                <a:spcPts val="800"/>
              </a:spcAft>
            </a:pPr>
            <a:r>
              <a:rPr sz="4000" b="1" i="0">
                <a:solidFill>
                  <a:srgbClr val="B4541A"/>
                </a:solidFill>
                <a:latin typeface="Georgia"/>
              </a:rPr>
              <a:t>1.3–6.3×</a:t>
            </a:r>
          </a:p>
          <a:p>
            <a:pPr algn="l">
              <a:lnSpc>
                <a:spcPct val="115000"/>
              </a:lnSpc>
              <a:spcAft>
                <a:spcPts val="0"/>
              </a:spcAft>
            </a:pPr>
            <a:r>
              <a:rPr sz="1500" b="0" i="0">
                <a:solidFill>
                  <a:srgbClr val="3A4150"/>
                </a:solidFill>
                <a:latin typeface="Arial"/>
              </a:rPr>
              <a:t>the tokens of a single agent that reasons once</a:t>
            </a:r>
          </a:p>
        </p:txBody>
      </p:sp>
      <p:sp>
        <p:nvSpPr>
          <p:cNvPr id="5" name="Rounded Rectangle 4"/>
          <p:cNvSpPr/>
          <p:nvPr/>
        </p:nvSpPr>
        <p:spPr>
          <a:xfrm>
            <a:off x="4400550" y="2095500"/>
            <a:ext cx="3384550" cy="1905000"/>
          </a:xfrm>
          <a:prstGeom prst="roundRect">
            <a:avLst>
              <a:gd name="adj" fmla="val 5333"/>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54000" rIns="254000" tIns="254000" bIns="254000"/>
          <a:lstStyle/>
          <a:p>
            <a:pPr algn="l">
              <a:lnSpc>
                <a:spcPct val="100000"/>
              </a:lnSpc>
              <a:spcAft>
                <a:spcPts val="800"/>
              </a:spcAft>
            </a:pPr>
            <a:r>
              <a:rPr sz="4000" b="1" i="0">
                <a:solidFill>
                  <a:srgbClr val="B4541A"/>
                </a:solidFill>
                <a:latin typeface="Georgia"/>
              </a:rPr>
              <a:t>5.4k–175k</a:t>
            </a:r>
          </a:p>
          <a:p>
            <a:pPr algn="l">
              <a:lnSpc>
                <a:spcPct val="115000"/>
              </a:lnSpc>
              <a:spcAft>
                <a:spcPts val="0"/>
              </a:spcAft>
            </a:pPr>
            <a:r>
              <a:rPr sz="1500" b="0" i="0">
                <a:solidFill>
                  <a:srgbClr val="3A4150"/>
                </a:solidFill>
                <a:latin typeface="Arial"/>
              </a:rPr>
              <a:t>tokens per task, across three open models and four benchmarks</a:t>
            </a:r>
          </a:p>
        </p:txBody>
      </p:sp>
      <p:sp>
        <p:nvSpPr>
          <p:cNvPr id="6" name="Rounded Rectangle 5"/>
          <p:cNvSpPr/>
          <p:nvPr/>
        </p:nvSpPr>
        <p:spPr>
          <a:xfrm>
            <a:off x="7988300" y="2095500"/>
            <a:ext cx="3384550" cy="1905000"/>
          </a:xfrm>
          <a:prstGeom prst="roundRect">
            <a:avLst>
              <a:gd name="adj" fmla="val 5333"/>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54000" rIns="254000" tIns="254000" bIns="254000"/>
          <a:lstStyle/>
          <a:p>
            <a:pPr algn="l">
              <a:lnSpc>
                <a:spcPct val="100000"/>
              </a:lnSpc>
              <a:spcAft>
                <a:spcPts val="800"/>
              </a:spcAft>
            </a:pPr>
            <a:r>
              <a:rPr sz="4000" b="1" i="0">
                <a:solidFill>
                  <a:srgbClr val="B4541A"/>
                </a:solidFill>
                <a:latin typeface="Georgia"/>
              </a:rPr>
              <a:t>28–57%</a:t>
            </a:r>
          </a:p>
          <a:p>
            <a:pPr algn="l">
              <a:lnSpc>
                <a:spcPct val="115000"/>
              </a:lnSpc>
              <a:spcAft>
                <a:spcPts val="0"/>
              </a:spcAft>
            </a:pPr>
            <a:r>
              <a:rPr sz="1500" b="0" i="0">
                <a:solidFill>
                  <a:srgbClr val="3A4150"/>
                </a:solidFill>
                <a:latin typeface="Arial"/>
              </a:rPr>
              <a:t>of that cost goes to the planner’s and the reviewer’s own calls</a:t>
            </a:r>
          </a:p>
        </p:txBody>
      </p:sp>
      <p:sp>
        <p:nvSpPr>
          <p:cNvPr id="7" name="TextBox 6"/>
          <p:cNvSpPr txBox="1"/>
          <p:nvPr/>
        </p:nvSpPr>
        <p:spPr>
          <a:xfrm>
            <a:off x="812800" y="4381500"/>
            <a:ext cx="10566400" cy="762000"/>
          </a:xfrm>
          <a:prstGeom prst="rect">
            <a:avLst/>
          </a:prstGeom>
          <a:noFill/>
        </p:spPr>
        <p:txBody>
          <a:bodyPr wrap="square" lIns="0" rIns="0" tIns="0" bIns="0" anchor="t">
            <a:spAutoFit/>
          </a:bodyPr>
          <a:lstStyle/>
          <a:p>
            <a:pPr algn="l">
              <a:lnSpc>
                <a:spcPct val="115000"/>
              </a:lnSpc>
              <a:spcAft>
                <a:spcPts val="0"/>
              </a:spcAft>
            </a:pPr>
            <a:r>
              <a:rPr sz="1600" b="0" i="0">
                <a:solidFill>
                  <a:srgbClr val="14213D"/>
                </a:solidFill>
                <a:latin typeface="Arial"/>
              </a:rPr>
              <a:t>A planner writes a plan, an executor answers, a reviewer accepts or rejects, for up to five rounds. Each role adds calls, and on open-book tasks every call re-reads the documents.</a:t>
            </a:r>
          </a:p>
        </p:txBody>
      </p:sp>
      <p:sp>
        <p:nvSpPr>
          <p:cNvPr id="8" name="TextBox 7"/>
          <p:cNvSpPr txBox="1"/>
          <p:nvPr/>
        </p:nvSpPr>
        <p:spPr>
          <a:xfrm>
            <a:off x="812800" y="6350000"/>
            <a:ext cx="10566400" cy="215900"/>
          </a:xfrm>
          <a:prstGeom prst="rect">
            <a:avLst/>
          </a:prstGeom>
          <a:noFill/>
        </p:spPr>
        <p:txBody>
          <a:bodyPr wrap="square" lIns="0" rIns="0" tIns="0" bIns="0" anchor="t">
            <a:spAutoFit/>
          </a:bodyPr>
          <a:lstStyle/>
          <a:p>
            <a:pPr algn="r">
              <a:lnSpc>
                <a:spcPct val="115000"/>
              </a:lnSpc>
              <a:spcAft>
                <a:spcPts val="0"/>
              </a:spcAft>
            </a:pPr>
            <a:r>
              <a:rPr sz="1200" b="0" i="0">
                <a:solidFill>
                  <a:srgbClr val="6B7280"/>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749300"/>
            <a:ext cx="10566400" cy="254000"/>
          </a:xfrm>
          <a:prstGeom prst="rect">
            <a:avLst/>
          </a:prstGeom>
          <a:noFill/>
        </p:spPr>
        <p:txBody>
          <a:bodyPr wrap="square" lIns="0" rIns="0" tIns="0" bIns="0" anchor="t">
            <a:spAutoFit/>
          </a:bodyPr>
          <a:lstStyle/>
          <a:p>
            <a:pPr algn="l">
              <a:lnSpc>
                <a:spcPct val="115000"/>
              </a:lnSpc>
              <a:spcAft>
                <a:spcPts val="0"/>
              </a:spcAft>
            </a:pPr>
            <a:r>
              <a:rPr sz="1200" b="1" i="0">
                <a:solidFill>
                  <a:srgbClr val="B4541A"/>
                </a:solidFill>
                <a:latin typeface="Arial"/>
              </a:rPr>
              <a:t>MOTIVATION</a:t>
            </a:r>
          </a:p>
        </p:txBody>
      </p:sp>
      <p:sp>
        <p:nvSpPr>
          <p:cNvPr id="3" name="TextBox 2"/>
          <p:cNvSpPr txBox="1"/>
          <p:nvPr/>
        </p:nvSpPr>
        <p:spPr>
          <a:xfrm>
            <a:off x="812800" y="1016000"/>
            <a:ext cx="10566400" cy="508000"/>
          </a:xfrm>
          <a:prstGeom prst="rect">
            <a:avLst/>
          </a:prstGeom>
          <a:noFill/>
        </p:spPr>
        <p:txBody>
          <a:bodyPr wrap="square" lIns="0" rIns="0" tIns="0" bIns="0" anchor="t">
            <a:spAutoFit/>
          </a:bodyPr>
          <a:lstStyle/>
          <a:p>
            <a:pPr algn="l">
              <a:lnSpc>
                <a:spcPct val="105000"/>
              </a:lnSpc>
              <a:spcAft>
                <a:spcPts val="0"/>
              </a:spcAft>
            </a:pPr>
            <a:r>
              <a:rPr sz="2800" b="1" i="0">
                <a:solidFill>
                  <a:srgbClr val="14213D"/>
                </a:solidFill>
                <a:latin typeface="Georgia"/>
              </a:rPr>
              <a:t>It rescues some answers and loses others</a:t>
            </a:r>
          </a:p>
        </p:txBody>
      </p:sp>
      <p:pic>
        <p:nvPicPr>
          <p:cNvPr id="4" name="Picture 3" descr="fig_flows.png"/>
          <p:cNvPicPr>
            <a:picLocks noChangeAspect="1"/>
          </p:cNvPicPr>
          <p:nvPr/>
        </p:nvPicPr>
        <p:blipFill>
          <a:blip r:embed="rId3"/>
          <a:stretch>
            <a:fillRect/>
          </a:stretch>
        </p:blipFill>
        <p:spPr>
          <a:xfrm>
            <a:off x="812800" y="2286000"/>
            <a:ext cx="6350000" cy="2463800"/>
          </a:xfrm>
          <a:prstGeom prst="rect">
            <a:avLst/>
          </a:prstGeom>
        </p:spPr>
      </p:pic>
      <p:sp>
        <p:nvSpPr>
          <p:cNvPr id="5" name="TextBox 4"/>
          <p:cNvSpPr txBox="1"/>
          <p:nvPr/>
        </p:nvSpPr>
        <p:spPr>
          <a:xfrm>
            <a:off x="812800" y="4826000"/>
            <a:ext cx="6350000" cy="254000"/>
          </a:xfrm>
          <a:prstGeom prst="rect">
            <a:avLst/>
          </a:prstGeom>
          <a:noFill/>
        </p:spPr>
        <p:txBody>
          <a:bodyPr wrap="square" lIns="0" rIns="0" tIns="0" bIns="0" anchor="t">
            <a:spAutoFit/>
          </a:bodyPr>
          <a:lstStyle/>
          <a:p>
            <a:pPr algn="l">
              <a:lnSpc>
                <a:spcPct val="115000"/>
              </a:lnSpc>
              <a:spcAft>
                <a:spcPts val="0"/>
              </a:spcAft>
            </a:pPr>
            <a:r>
              <a:rPr sz="1200" b="0" i="0">
                <a:solidFill>
                  <a:srgbClr val="6B7280"/>
                </a:solidFill>
                <a:latin typeface="Arial"/>
              </a:rPr>
              <a:t>Team vs. single agent L₁ (% of tasks). M, F, Q, E: MATH, FRAMES, MuSiQue, BBEH.</a:t>
            </a:r>
          </a:p>
        </p:txBody>
      </p:sp>
      <p:sp>
        <p:nvSpPr>
          <p:cNvPr id="6" name="TextBox 5"/>
          <p:cNvSpPr txBox="1"/>
          <p:nvPr/>
        </p:nvSpPr>
        <p:spPr>
          <a:xfrm>
            <a:off x="7518400" y="2159000"/>
            <a:ext cx="3860800" cy="3556000"/>
          </a:xfrm>
          <a:prstGeom prst="rect">
            <a:avLst/>
          </a:prstGeom>
          <a:noFill/>
        </p:spPr>
        <p:txBody>
          <a:bodyPr wrap="square" lIns="0" rIns="0" tIns="0" bIns="0" anchor="t">
            <a:spAutoFit/>
          </a:bodyPr>
          <a:lstStyle/>
          <a:p>
            <a:pPr algn="l">
              <a:lnSpc>
                <a:spcPct val="115000"/>
              </a:lnSpc>
              <a:spcAft>
                <a:spcPts val="1400"/>
              </a:spcAft>
            </a:pPr>
            <a:r>
              <a:rPr sz="1500" b="1" i="0">
                <a:solidFill>
                  <a:srgbClr val="2F6B34"/>
                </a:solidFill>
                <a:latin typeface="Arial"/>
              </a:rPr>
              <a:t>Rescues</a:t>
            </a:r>
            <a:r>
              <a:rPr sz="1500" b="0" i="0">
                <a:solidFill>
                  <a:srgbClr val="3A4150"/>
                </a:solidFill>
                <a:latin typeface="Arial"/>
              </a:rPr>
              <a:t> 1.2–14.9% of tasks that L₁ gets wrong.</a:t>
            </a:r>
          </a:p>
          <a:p>
            <a:pPr algn="l">
              <a:lnSpc>
                <a:spcPct val="115000"/>
              </a:lnSpc>
              <a:spcAft>
                <a:spcPts val="1400"/>
              </a:spcAft>
            </a:pPr>
            <a:r>
              <a:rPr sz="1500" b="1" i="0">
                <a:solidFill>
                  <a:srgbClr val="B03A2E"/>
                </a:solidFill>
                <a:latin typeface="Arial"/>
              </a:rPr>
              <a:t>Loses</a:t>
            </a:r>
            <a:r>
              <a:rPr sz="1500" b="0" i="0">
                <a:solidFill>
                  <a:srgbClr val="3A4150"/>
                </a:solidFill>
                <a:latin typeface="Arial"/>
              </a:rPr>
              <a:t> up to 9.3% that L₁ gets right.</a:t>
            </a:r>
          </a:p>
          <a:p>
            <a:pPr algn="l">
              <a:lnSpc>
                <a:spcPct val="115000"/>
              </a:lnSpc>
              <a:spcAft>
                <a:spcPts val="1400"/>
              </a:spcAft>
            </a:pPr>
            <a:r>
              <a:rPr sz="1500" b="1" i="0">
                <a:solidFill>
                  <a:srgbClr val="3A4150"/>
                </a:solidFill>
                <a:latin typeface="Arial"/>
              </a:rPr>
              <a:t>84%</a:t>
            </a:r>
            <a:r>
              <a:rPr sz="1500" b="0" i="0">
                <a:solidFill>
                  <a:srgbClr val="3A4150"/>
                </a:solidFill>
                <a:latin typeface="Arial"/>
              </a:rPr>
              <a:t> of those losses are wrong in the first draft, and the reviewer does not correct them.</a:t>
            </a:r>
          </a:p>
          <a:p>
            <a:pPr algn="l">
              <a:lnSpc>
                <a:spcPct val="115000"/>
              </a:lnSpc>
              <a:spcAft>
                <a:spcPts val="0"/>
              </a:spcAft>
            </a:pPr>
            <a:r>
              <a:rPr sz="1500" b="0" i="0">
                <a:solidFill>
                  <a:srgbClr val="3A4150"/>
                </a:solidFill>
                <a:latin typeface="Arial"/>
              </a:rPr>
              <a:t>Rerun, the team again loses </a:t>
            </a:r>
            <a:r>
              <a:rPr sz="1500" b="1" i="0">
                <a:solidFill>
                  <a:srgbClr val="3A4150"/>
                </a:solidFill>
                <a:latin typeface="Arial"/>
              </a:rPr>
              <a:t>66 of 142</a:t>
            </a:r>
            <a:r>
              <a:rPr sz="1500" b="0" i="0">
                <a:solidFill>
                  <a:srgbClr val="3A4150"/>
                </a:solidFill>
                <a:latin typeface="Arial"/>
              </a:rPr>
              <a:t> tasks it had lost against L₀.</a:t>
            </a:r>
          </a:p>
        </p:txBody>
      </p:sp>
      <p:sp>
        <p:nvSpPr>
          <p:cNvPr id="7" name="TextBox 6"/>
          <p:cNvSpPr txBox="1"/>
          <p:nvPr/>
        </p:nvSpPr>
        <p:spPr>
          <a:xfrm>
            <a:off x="812800" y="6350000"/>
            <a:ext cx="10566400" cy="215900"/>
          </a:xfrm>
          <a:prstGeom prst="rect">
            <a:avLst/>
          </a:prstGeom>
          <a:noFill/>
        </p:spPr>
        <p:txBody>
          <a:bodyPr wrap="square" lIns="0" rIns="0" tIns="0" bIns="0" anchor="t">
            <a:spAutoFit/>
          </a:bodyPr>
          <a:lstStyle/>
          <a:p>
            <a:pPr algn="r">
              <a:lnSpc>
                <a:spcPct val="115000"/>
              </a:lnSpc>
              <a:spcAft>
                <a:spcPts val="0"/>
              </a:spcAft>
            </a:pPr>
            <a:r>
              <a:rPr sz="1200" b="0" i="0">
                <a:solidFill>
                  <a:srgbClr val="6B7280"/>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749300"/>
            <a:ext cx="10566400" cy="254000"/>
          </a:xfrm>
          <a:prstGeom prst="rect">
            <a:avLst/>
          </a:prstGeom>
          <a:noFill/>
        </p:spPr>
        <p:txBody>
          <a:bodyPr wrap="square" lIns="0" rIns="0" tIns="0" bIns="0" anchor="t">
            <a:spAutoFit/>
          </a:bodyPr>
          <a:lstStyle/>
          <a:p>
            <a:pPr algn="l">
              <a:lnSpc>
                <a:spcPct val="115000"/>
              </a:lnSpc>
              <a:spcAft>
                <a:spcPts val="0"/>
              </a:spcAft>
            </a:pPr>
            <a:r>
              <a:rPr sz="1200" b="1" i="0">
                <a:solidFill>
                  <a:srgbClr val="B4541A"/>
                </a:solidFill>
                <a:latin typeface="Arial"/>
              </a:rPr>
              <a:t>MOTIVATION</a:t>
            </a:r>
          </a:p>
        </p:txBody>
      </p:sp>
      <p:sp>
        <p:nvSpPr>
          <p:cNvPr id="3" name="TextBox 2"/>
          <p:cNvSpPr txBox="1"/>
          <p:nvPr/>
        </p:nvSpPr>
        <p:spPr>
          <a:xfrm>
            <a:off x="812800" y="1016000"/>
            <a:ext cx="10566400" cy="508000"/>
          </a:xfrm>
          <a:prstGeom prst="rect">
            <a:avLst/>
          </a:prstGeom>
          <a:noFill/>
        </p:spPr>
        <p:txBody>
          <a:bodyPr wrap="square" lIns="0" rIns="0" tIns="0" bIns="0" anchor="t">
            <a:spAutoFit/>
          </a:bodyPr>
          <a:lstStyle/>
          <a:p>
            <a:pPr algn="l">
              <a:lnSpc>
                <a:spcPct val="105000"/>
              </a:lnSpc>
              <a:spcAft>
                <a:spcPts val="0"/>
              </a:spcAft>
            </a:pPr>
            <a:r>
              <a:rPr sz="2800" b="1" i="0">
                <a:solidFill>
                  <a:srgbClr val="14213D"/>
                </a:solidFill>
                <a:latin typeface="Georgia"/>
              </a:rPr>
              <a:t>Cheap rungs often suffice, but confidence is weak</a:t>
            </a:r>
          </a:p>
        </p:txBody>
      </p:sp>
      <p:pic>
        <p:nvPicPr>
          <p:cNvPr id="4" name="Picture 3" descr="fig1abc.png"/>
          <p:cNvPicPr>
            <a:picLocks noChangeAspect="1"/>
          </p:cNvPicPr>
          <p:nvPr/>
        </p:nvPicPr>
        <p:blipFill>
          <a:blip r:embed="rId3"/>
          <a:stretch>
            <a:fillRect/>
          </a:stretch>
        </p:blipFill>
        <p:spPr>
          <a:xfrm>
            <a:off x="1809750" y="1841500"/>
            <a:ext cx="8572500" cy="3486150"/>
          </a:xfrm>
          <a:prstGeom prst="rect">
            <a:avLst/>
          </a:prstGeom>
        </p:spPr>
      </p:pic>
      <p:sp>
        <p:nvSpPr>
          <p:cNvPr id="5" name="TextBox 4"/>
          <p:cNvSpPr txBox="1"/>
          <p:nvPr/>
        </p:nvSpPr>
        <p:spPr>
          <a:xfrm>
            <a:off x="812800" y="5461000"/>
            <a:ext cx="10566400" cy="508000"/>
          </a:xfrm>
          <a:prstGeom prst="rect">
            <a:avLst/>
          </a:prstGeom>
          <a:noFill/>
        </p:spPr>
        <p:txBody>
          <a:bodyPr wrap="square" lIns="0" rIns="0" tIns="0" bIns="0" anchor="t">
            <a:spAutoFit/>
          </a:bodyPr>
          <a:lstStyle/>
          <a:p>
            <a:pPr algn="l">
              <a:lnSpc>
                <a:spcPct val="115000"/>
              </a:lnSpc>
              <a:spcAft>
                <a:spcPts val="0"/>
              </a:spcAft>
            </a:pPr>
            <a:r>
              <a:rPr sz="1400" b="0" i="0">
                <a:solidFill>
                  <a:srgbClr val="3A4150"/>
                </a:solidFill>
                <a:latin typeface="Arial"/>
              </a:rPr>
              <a:t>(b) Many tasks the team solves are already solved by L₀ or L₁. (c) L₀’s log-probability AUROC ranges 0.22–0.81 and is inverted on three Gemma settings.</a:t>
            </a:r>
          </a:p>
        </p:txBody>
      </p:sp>
      <p:sp>
        <p:nvSpPr>
          <p:cNvPr id="6" name="TextBox 5"/>
          <p:cNvSpPr txBox="1"/>
          <p:nvPr/>
        </p:nvSpPr>
        <p:spPr>
          <a:xfrm>
            <a:off x="812800" y="6350000"/>
            <a:ext cx="10566400" cy="215900"/>
          </a:xfrm>
          <a:prstGeom prst="rect">
            <a:avLst/>
          </a:prstGeom>
          <a:noFill/>
        </p:spPr>
        <p:txBody>
          <a:bodyPr wrap="square" lIns="0" rIns="0" tIns="0" bIns="0" anchor="t">
            <a:spAutoFit/>
          </a:bodyPr>
          <a:lstStyle/>
          <a:p>
            <a:pPr algn="r">
              <a:lnSpc>
                <a:spcPct val="115000"/>
              </a:lnSpc>
              <a:spcAft>
                <a:spcPts val="0"/>
              </a:spcAft>
            </a:pPr>
            <a:r>
              <a:rPr sz="1200" b="0" i="0">
                <a:solidFill>
                  <a:srgbClr val="6B7280"/>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749300"/>
            <a:ext cx="10566400" cy="254000"/>
          </a:xfrm>
          <a:prstGeom prst="rect">
            <a:avLst/>
          </a:prstGeom>
          <a:noFill/>
        </p:spPr>
        <p:txBody>
          <a:bodyPr wrap="square" lIns="0" rIns="0" tIns="0" bIns="0" anchor="t">
            <a:spAutoFit/>
          </a:bodyPr>
          <a:lstStyle/>
          <a:p>
            <a:pPr algn="l">
              <a:lnSpc>
                <a:spcPct val="115000"/>
              </a:lnSpc>
              <a:spcAft>
                <a:spcPts val="0"/>
              </a:spcAft>
            </a:pPr>
            <a:r>
              <a:rPr sz="1200" b="1" i="0">
                <a:solidFill>
                  <a:srgbClr val="B4541A"/>
                </a:solidFill>
                <a:latin typeface="Arial"/>
              </a:rPr>
              <a:t>MOTIVATION</a:t>
            </a:r>
          </a:p>
        </p:txBody>
      </p:sp>
      <p:sp>
        <p:nvSpPr>
          <p:cNvPr id="3" name="TextBox 2"/>
          <p:cNvSpPr txBox="1"/>
          <p:nvPr/>
        </p:nvSpPr>
        <p:spPr>
          <a:xfrm>
            <a:off x="812800" y="1016000"/>
            <a:ext cx="10566400" cy="508000"/>
          </a:xfrm>
          <a:prstGeom prst="rect">
            <a:avLst/>
          </a:prstGeom>
          <a:noFill/>
        </p:spPr>
        <p:txBody>
          <a:bodyPr wrap="square" lIns="0" rIns="0" tIns="0" bIns="0" anchor="t">
            <a:spAutoFit/>
          </a:bodyPr>
          <a:lstStyle/>
          <a:p>
            <a:pPr algn="l">
              <a:lnSpc>
                <a:spcPct val="105000"/>
              </a:lnSpc>
              <a:spcAft>
                <a:spcPts val="0"/>
              </a:spcAft>
            </a:pPr>
            <a:r>
              <a:rPr sz="2800" b="1" i="0">
                <a:solidFill>
                  <a:srgbClr val="14213D"/>
                </a:solidFill>
                <a:latin typeface="Georgia"/>
              </a:rPr>
              <a:t>Uncertified thresholds can lose a lot</a:t>
            </a:r>
          </a:p>
        </p:txBody>
      </p:sp>
      <p:pic>
        <p:nvPicPr>
          <p:cNvPr id="4" name="Picture 3" descr="fig1d.png"/>
          <p:cNvPicPr>
            <a:picLocks noChangeAspect="1"/>
          </p:cNvPicPr>
          <p:nvPr/>
        </p:nvPicPr>
        <p:blipFill>
          <a:blip r:embed="rId3"/>
          <a:stretch>
            <a:fillRect/>
          </a:stretch>
        </p:blipFill>
        <p:spPr>
          <a:xfrm>
            <a:off x="812800" y="1968500"/>
            <a:ext cx="3302000" cy="3924300"/>
          </a:xfrm>
          <a:prstGeom prst="rect">
            <a:avLst/>
          </a:prstGeom>
        </p:spPr>
      </p:pic>
      <p:sp>
        <p:nvSpPr>
          <p:cNvPr id="5" name="TextBox 4"/>
          <p:cNvSpPr txBox="1"/>
          <p:nvPr/>
        </p:nvSpPr>
        <p:spPr>
          <a:xfrm>
            <a:off x="4622800" y="2286000"/>
            <a:ext cx="6756400" cy="3556000"/>
          </a:xfrm>
          <a:prstGeom prst="rect">
            <a:avLst/>
          </a:prstGeom>
          <a:noFill/>
        </p:spPr>
        <p:txBody>
          <a:bodyPr wrap="square" lIns="0" rIns="0" tIns="0" bIns="0" anchor="t">
            <a:spAutoFit/>
          </a:bodyPr>
          <a:lstStyle/>
          <a:p>
            <a:pPr algn="l">
              <a:lnSpc>
                <a:spcPct val="100000"/>
              </a:lnSpc>
              <a:spcAft>
                <a:spcPts val="800"/>
              </a:spcAft>
            </a:pPr>
            <a:r>
              <a:rPr sz="4800" b="1" i="0">
                <a:solidFill>
                  <a:srgbClr val="B03A2E"/>
                </a:solidFill>
                <a:latin typeface="Georgia"/>
              </a:rPr>
              <a:t>up to 16 points</a:t>
            </a:r>
          </a:p>
          <a:p>
            <a:pPr algn="l">
              <a:lnSpc>
                <a:spcPct val="115000"/>
              </a:lnSpc>
              <a:spcAft>
                <a:spcPts val="1400"/>
              </a:spcAft>
            </a:pPr>
            <a:r>
              <a:rPr sz="1600" b="0" i="0">
                <a:solidFill>
                  <a:srgbClr val="3A4150"/>
                </a:solidFill>
                <a:latin typeface="Arial"/>
              </a:rPr>
              <a:t>lost by a fixed confidence threshold that spends as much as CLIMB on average. It loses over 2 points on 7 of 12 settings.</a:t>
            </a:r>
          </a:p>
          <a:p>
            <a:pPr algn="l">
              <a:lnSpc>
                <a:spcPct val="115000"/>
              </a:lnSpc>
              <a:spcAft>
                <a:spcPts val="1400"/>
              </a:spcAft>
            </a:pPr>
            <a:r>
              <a:rPr sz="1600" b="0" i="0">
                <a:solidFill>
                  <a:srgbClr val="3A4150"/>
                </a:solidFill>
                <a:latin typeface="Arial"/>
              </a:rPr>
              <a:t>Always stopping at the single agent loses up to 9.4.</a:t>
            </a:r>
          </a:p>
          <a:p>
            <a:pPr algn="l">
              <a:lnSpc>
                <a:spcPct val="115000"/>
              </a:lnSpc>
              <a:spcAft>
                <a:spcPts val="0"/>
              </a:spcAft>
            </a:pPr>
            <a:r>
              <a:rPr sz="1600" b="1" i="0">
                <a:solidFill>
                  <a:srgbClr val="14213D"/>
                </a:solidFill>
                <a:latin typeface="Arial"/>
              </a:rPr>
              <a:t>Without a bound on the accuracy given up, the savings are hard to trust.</a:t>
            </a:r>
          </a:p>
        </p:txBody>
      </p:sp>
      <p:sp>
        <p:nvSpPr>
          <p:cNvPr id="6" name="TextBox 5"/>
          <p:cNvSpPr txBox="1"/>
          <p:nvPr/>
        </p:nvSpPr>
        <p:spPr>
          <a:xfrm>
            <a:off x="812800" y="6350000"/>
            <a:ext cx="10566400" cy="215900"/>
          </a:xfrm>
          <a:prstGeom prst="rect">
            <a:avLst/>
          </a:prstGeom>
          <a:noFill/>
        </p:spPr>
        <p:txBody>
          <a:bodyPr wrap="square" lIns="0" rIns="0" tIns="0" bIns="0" anchor="t">
            <a:spAutoFit/>
          </a:bodyPr>
          <a:lstStyle/>
          <a:p>
            <a:pPr algn="r">
              <a:lnSpc>
                <a:spcPct val="115000"/>
              </a:lnSpc>
              <a:spcAft>
                <a:spcPts val="0"/>
              </a:spcAft>
            </a:pPr>
            <a:r>
              <a:rPr sz="1200" b="0" i="0">
                <a:solidFill>
                  <a:srgbClr val="6B7280"/>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12800" y="749300"/>
            <a:ext cx="10566400" cy="254000"/>
          </a:xfrm>
          <a:prstGeom prst="rect">
            <a:avLst/>
          </a:prstGeom>
          <a:noFill/>
        </p:spPr>
        <p:txBody>
          <a:bodyPr wrap="square" lIns="0" rIns="0" tIns="0" bIns="0" anchor="t">
            <a:spAutoFit/>
          </a:bodyPr>
          <a:lstStyle/>
          <a:p>
            <a:pPr algn="l">
              <a:lnSpc>
                <a:spcPct val="115000"/>
              </a:lnSpc>
              <a:spcAft>
                <a:spcPts val="0"/>
              </a:spcAft>
            </a:pPr>
            <a:r>
              <a:rPr sz="1200" b="1" i="0">
                <a:solidFill>
                  <a:srgbClr val="F0A66B"/>
                </a:solidFill>
                <a:latin typeface="Arial"/>
              </a:rPr>
              <a:t>THE PROBLEM</a:t>
            </a:r>
          </a:p>
        </p:txBody>
      </p:sp>
      <p:sp>
        <p:nvSpPr>
          <p:cNvPr id="3" name="TextBox 2"/>
          <p:cNvSpPr txBox="1"/>
          <p:nvPr/>
        </p:nvSpPr>
        <p:spPr>
          <a:xfrm>
            <a:off x="812800" y="1016000"/>
            <a:ext cx="10566400" cy="1016000"/>
          </a:xfrm>
          <a:prstGeom prst="rect">
            <a:avLst/>
          </a:prstGeom>
          <a:noFill/>
        </p:spPr>
        <p:txBody>
          <a:bodyPr wrap="square" lIns="0" rIns="0" tIns="0" bIns="0" anchor="t">
            <a:spAutoFit/>
          </a:bodyPr>
          <a:lstStyle/>
          <a:p>
            <a:pPr algn="l">
              <a:lnSpc>
                <a:spcPct val="105000"/>
              </a:lnSpc>
              <a:spcAft>
                <a:spcPts val="0"/>
              </a:spcAft>
            </a:pPr>
            <a:r>
              <a:rPr sz="3600" b="1" i="0">
                <a:solidFill>
                  <a:srgbClr val="F7F6F2"/>
                </a:solidFill>
                <a:latin typeface="Georgia"/>
              </a:rPr>
              <a:t>Minimise cost, subject to a certified bound on the accuracy lost</a:t>
            </a:r>
          </a:p>
        </p:txBody>
      </p:sp>
      <p:sp>
        <p:nvSpPr>
          <p:cNvPr id="4" name="Rounded Rectangle 3"/>
          <p:cNvSpPr/>
          <p:nvPr/>
        </p:nvSpPr>
        <p:spPr>
          <a:xfrm>
            <a:off x="812800" y="2540000"/>
            <a:ext cx="10566400" cy="952500"/>
          </a:xfrm>
          <a:prstGeom prst="roundRect">
            <a:avLst>
              <a:gd name="adj" fmla="val 8000"/>
            </a:avLst>
          </a:prstGeom>
          <a:solidFill>
            <a:srgbClr val="1F2F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55600" rIns="355600" tIns="355600" bIns="355600"/>
          <a:lstStyle/>
          <a:p>
            <a:pPr algn="l">
              <a:lnSpc>
                <a:spcPct val="115000"/>
              </a:lnSpc>
              <a:spcAft>
                <a:spcPts val="0"/>
              </a:spcAft>
            </a:pPr>
            <a:r>
              <a:rPr sz="3000" b="0" i="0">
                <a:solidFill>
                  <a:srgbClr val="F7F6F2"/>
                </a:solidFill>
                <a:latin typeface="Georgia"/>
              </a:rPr>
              <a:t>min J(π)    s.t.    Pr( R(π̂) &gt; ε ) ≤ δ</a:t>
            </a:r>
          </a:p>
        </p:txBody>
      </p:sp>
      <p:sp>
        <p:nvSpPr>
          <p:cNvPr id="5" name="TextBox 4"/>
          <p:cNvSpPr txBox="1"/>
          <p:nvPr/>
        </p:nvSpPr>
        <p:spPr>
          <a:xfrm>
            <a:off x="812800" y="3873500"/>
            <a:ext cx="3321050" cy="762000"/>
          </a:xfrm>
          <a:prstGeom prst="rect">
            <a:avLst/>
          </a:prstGeom>
          <a:noFill/>
        </p:spPr>
        <p:txBody>
          <a:bodyPr wrap="square" lIns="0" rIns="0" tIns="0" bIns="0" anchor="t">
            <a:spAutoFit/>
          </a:bodyPr>
          <a:lstStyle/>
          <a:p>
            <a:pPr algn="l">
              <a:lnSpc>
                <a:spcPct val="115000"/>
              </a:lnSpc>
              <a:spcAft>
                <a:spcPts val="0"/>
              </a:spcAft>
            </a:pPr>
            <a:r>
              <a:rPr sz="1500" b="1" i="0">
                <a:solidFill>
                  <a:srgbClr val="F7F6F2"/>
                </a:solidFill>
                <a:latin typeface="Arial"/>
              </a:rPr>
              <a:t>J</a:t>
            </a:r>
            <a:r>
              <a:rPr sz="1500" b="0" i="0">
                <a:solidFill>
                  <a:srgbClr val="C9D1E0"/>
                </a:solidFill>
                <a:latin typeface="Arial"/>
              </a:rPr>
              <a:t>: expected tokens per task.</a:t>
            </a:r>
          </a:p>
        </p:txBody>
      </p:sp>
      <p:sp>
        <p:nvSpPr>
          <p:cNvPr id="6" name="TextBox 5"/>
          <p:cNvSpPr txBox="1"/>
          <p:nvPr/>
        </p:nvSpPr>
        <p:spPr>
          <a:xfrm>
            <a:off x="4438650" y="3873500"/>
            <a:ext cx="3321050" cy="762000"/>
          </a:xfrm>
          <a:prstGeom prst="rect">
            <a:avLst/>
          </a:prstGeom>
          <a:noFill/>
        </p:spPr>
        <p:txBody>
          <a:bodyPr wrap="square" lIns="0" rIns="0" tIns="0" bIns="0" anchor="t">
            <a:spAutoFit/>
          </a:bodyPr>
          <a:lstStyle/>
          <a:p>
            <a:pPr algn="l">
              <a:lnSpc>
                <a:spcPct val="115000"/>
              </a:lnSpc>
              <a:spcAft>
                <a:spcPts val="0"/>
              </a:spcAft>
            </a:pPr>
            <a:r>
              <a:rPr sz="1500" b="1" i="0">
                <a:solidFill>
                  <a:srgbClr val="F7F6F2"/>
                </a:solidFill>
                <a:latin typeface="Arial"/>
              </a:rPr>
              <a:t>R</a:t>
            </a:r>
            <a:r>
              <a:rPr sz="1500" b="0" i="0">
                <a:solidFill>
                  <a:srgbClr val="C9D1E0"/>
                </a:solidFill>
                <a:latin typeface="Arial"/>
              </a:rPr>
              <a:t>: accuracy lost relative to always running the team.</a:t>
            </a:r>
          </a:p>
        </p:txBody>
      </p:sp>
      <p:sp>
        <p:nvSpPr>
          <p:cNvPr id="7" name="TextBox 6"/>
          <p:cNvSpPr txBox="1"/>
          <p:nvPr/>
        </p:nvSpPr>
        <p:spPr>
          <a:xfrm>
            <a:off x="8064500" y="3873500"/>
            <a:ext cx="3321050" cy="762000"/>
          </a:xfrm>
          <a:prstGeom prst="rect">
            <a:avLst/>
          </a:prstGeom>
          <a:noFill/>
        </p:spPr>
        <p:txBody>
          <a:bodyPr wrap="square" lIns="0" rIns="0" tIns="0" bIns="0" anchor="t">
            <a:spAutoFit/>
          </a:bodyPr>
          <a:lstStyle/>
          <a:p>
            <a:pPr algn="l">
              <a:lnSpc>
                <a:spcPct val="115000"/>
              </a:lnSpc>
              <a:spcAft>
                <a:spcPts val="0"/>
              </a:spcAft>
            </a:pPr>
            <a:r>
              <a:rPr sz="1500" b="1" i="0">
                <a:solidFill>
                  <a:srgbClr val="F7F6F2"/>
                </a:solidFill>
                <a:latin typeface="Arial"/>
              </a:rPr>
              <a:t>ε</a:t>
            </a:r>
            <a:r>
              <a:rPr sz="1500" b="0" i="0">
                <a:solidFill>
                  <a:srgbClr val="C9D1E0"/>
                </a:solidFill>
                <a:latin typeface="Arial"/>
              </a:rPr>
              <a:t>: the user’s tolerance, e.g. 5 points. </a:t>
            </a:r>
            <a:r>
              <a:rPr sz="1500" b="1" i="0">
                <a:solidFill>
                  <a:srgbClr val="F7F6F2"/>
                </a:solidFill>
                <a:latin typeface="Arial"/>
              </a:rPr>
              <a:t>δ</a:t>
            </a:r>
            <a:r>
              <a:rPr sz="1500" b="0" i="0">
                <a:solidFill>
                  <a:srgbClr val="C9D1E0"/>
                </a:solidFill>
                <a:latin typeface="Arial"/>
              </a:rPr>
              <a:t> = 10%.</a:t>
            </a:r>
          </a:p>
        </p:txBody>
      </p:sp>
      <p:sp>
        <p:nvSpPr>
          <p:cNvPr id="8" name="TextBox 7"/>
          <p:cNvSpPr txBox="1"/>
          <p:nvPr/>
        </p:nvSpPr>
        <p:spPr>
          <a:xfrm>
            <a:off x="812800" y="6350000"/>
            <a:ext cx="10566400" cy="215900"/>
          </a:xfrm>
          <a:prstGeom prst="rect">
            <a:avLst/>
          </a:prstGeom>
          <a:noFill/>
        </p:spPr>
        <p:txBody>
          <a:bodyPr wrap="square" lIns="0" rIns="0" tIns="0" bIns="0" anchor="t">
            <a:spAutoFit/>
          </a:bodyPr>
          <a:lstStyle/>
          <a:p>
            <a:pPr algn="r">
              <a:lnSpc>
                <a:spcPct val="115000"/>
              </a:lnSpc>
              <a:spcAft>
                <a:spcPts val="0"/>
              </a:spcAft>
            </a:pPr>
            <a:r>
              <a:rPr sz="1200" b="0" i="0">
                <a:solidFill>
                  <a:srgbClr val="8B97AE"/>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749300"/>
            <a:ext cx="10566400" cy="254000"/>
          </a:xfrm>
          <a:prstGeom prst="rect">
            <a:avLst/>
          </a:prstGeom>
          <a:noFill/>
        </p:spPr>
        <p:txBody>
          <a:bodyPr wrap="square" lIns="0" rIns="0" tIns="0" bIns="0" anchor="t">
            <a:spAutoFit/>
          </a:bodyPr>
          <a:lstStyle/>
          <a:p>
            <a:pPr algn="l">
              <a:lnSpc>
                <a:spcPct val="115000"/>
              </a:lnSpc>
              <a:spcAft>
                <a:spcPts val="0"/>
              </a:spcAft>
            </a:pPr>
            <a:r>
              <a:rPr sz="1200" b="1" i="0">
                <a:solidFill>
                  <a:srgbClr val="B4541A"/>
                </a:solidFill>
                <a:latin typeface="Arial"/>
              </a:rPr>
              <a:t>METHOD</a:t>
            </a:r>
          </a:p>
        </p:txBody>
      </p:sp>
      <p:sp>
        <p:nvSpPr>
          <p:cNvPr id="3" name="TextBox 2"/>
          <p:cNvSpPr txBox="1"/>
          <p:nvPr/>
        </p:nvSpPr>
        <p:spPr>
          <a:xfrm>
            <a:off x="812800" y="1016000"/>
            <a:ext cx="10566400" cy="508000"/>
          </a:xfrm>
          <a:prstGeom prst="rect">
            <a:avLst/>
          </a:prstGeom>
          <a:noFill/>
        </p:spPr>
        <p:txBody>
          <a:bodyPr wrap="square" lIns="0" rIns="0" tIns="0" bIns="0" anchor="t">
            <a:spAutoFit/>
          </a:bodyPr>
          <a:lstStyle/>
          <a:p>
            <a:pPr algn="l">
              <a:lnSpc>
                <a:spcPct val="105000"/>
              </a:lnSpc>
              <a:spcAft>
                <a:spcPts val="0"/>
              </a:spcAft>
            </a:pPr>
            <a:r>
              <a:rPr sz="2800" b="1" i="0">
                <a:solidFill>
                  <a:srgbClr val="14213D"/>
                </a:solidFill>
                <a:latin typeface="Georgia"/>
              </a:rPr>
              <a:t>CLIMB: a ladder of cheaper configurations</a:t>
            </a:r>
          </a:p>
        </p:txBody>
      </p:sp>
      <p:pic>
        <p:nvPicPr>
          <p:cNvPr id="4" name="Picture 3" descr="figure_ladder.png"/>
          <p:cNvPicPr>
            <a:picLocks noChangeAspect="1"/>
          </p:cNvPicPr>
          <p:nvPr/>
        </p:nvPicPr>
        <p:blipFill>
          <a:blip r:embed="rId3"/>
          <a:stretch>
            <a:fillRect/>
          </a:stretch>
        </p:blipFill>
        <p:spPr>
          <a:xfrm>
            <a:off x="812800" y="1905000"/>
            <a:ext cx="5080000" cy="3937000"/>
          </a:xfrm>
          <a:prstGeom prst="rect">
            <a:avLst/>
          </a:prstGeom>
        </p:spPr>
      </p:pic>
      <p:sp>
        <p:nvSpPr>
          <p:cNvPr id="5" name="TextBox 4"/>
          <p:cNvSpPr txBox="1"/>
          <p:nvPr/>
        </p:nvSpPr>
        <p:spPr>
          <a:xfrm>
            <a:off x="6286500" y="2159000"/>
            <a:ext cx="5092700" cy="3683000"/>
          </a:xfrm>
          <a:prstGeom prst="rect">
            <a:avLst/>
          </a:prstGeom>
          <a:noFill/>
        </p:spPr>
        <p:txBody>
          <a:bodyPr wrap="square" lIns="0" rIns="0" tIns="0" bIns="0" anchor="t">
            <a:spAutoFit/>
          </a:bodyPr>
          <a:lstStyle/>
          <a:p>
            <a:pPr algn="l">
              <a:lnSpc>
                <a:spcPct val="115000"/>
              </a:lnSpc>
              <a:spcAft>
                <a:spcPts val="1400"/>
              </a:spcAft>
            </a:pPr>
            <a:r>
              <a:rPr sz="1500" b="1" i="0">
                <a:solidFill>
                  <a:srgbClr val="2E5C99"/>
                </a:solidFill>
                <a:latin typeface="Arial"/>
              </a:rPr>
              <a:t>L₀, direct answer</a:t>
            </a:r>
            <a:r>
              <a:rPr sz="1500" b="0" i="0">
                <a:solidFill>
                  <a:srgbClr val="3A4150"/>
                </a:solidFill>
                <a:latin typeface="Arial"/>
              </a:rPr>
              <a:t> at the cheapest reasoning setting, greedy.</a:t>
            </a:r>
          </a:p>
          <a:p>
            <a:pPr algn="l">
              <a:lnSpc>
                <a:spcPct val="115000"/>
              </a:lnSpc>
              <a:spcAft>
                <a:spcPts val="1400"/>
              </a:spcAft>
            </a:pPr>
            <a:r>
              <a:rPr sz="1500" b="1" i="0">
                <a:solidFill>
                  <a:srgbClr val="2E5C99"/>
                </a:solidFill>
                <a:latin typeface="Arial"/>
              </a:rPr>
              <a:t>L₁, single agent</a:t>
            </a:r>
            <a:r>
              <a:rPr sz="1500" b="0" i="0">
                <a:solidFill>
                  <a:srgbClr val="3A4150"/>
                </a:solidFill>
                <a:latin typeface="Arial"/>
              </a:rPr>
              <a:t> at the team’s own setting, from scratch, without L₀’s answer.</a:t>
            </a:r>
          </a:p>
          <a:p>
            <a:pPr algn="l">
              <a:lnSpc>
                <a:spcPct val="115000"/>
              </a:lnSpc>
              <a:spcAft>
                <a:spcPts val="1400"/>
              </a:spcAft>
            </a:pPr>
            <a:r>
              <a:rPr sz="1500" b="1" i="0">
                <a:solidFill>
                  <a:srgbClr val="B4541A"/>
                </a:solidFill>
                <a:latin typeface="Arial"/>
              </a:rPr>
              <a:t>Team</a:t>
            </a:r>
            <a:r>
              <a:rPr sz="1500" b="0" i="0">
                <a:solidFill>
                  <a:srgbClr val="3A4150"/>
                </a:solidFill>
                <a:latin typeface="Arial"/>
              </a:rPr>
              <a:t>: planner, executor, reviewer, up to 5 rounds. The reference.</a:t>
            </a:r>
          </a:p>
          <a:p>
            <a:pPr algn="l">
              <a:lnSpc>
                <a:spcPct val="115000"/>
              </a:lnSpc>
              <a:spcAft>
                <a:spcPts val="0"/>
              </a:spcAft>
            </a:pPr>
            <a:r>
              <a:rPr sz="1500" b="0" i="0">
                <a:solidFill>
                  <a:srgbClr val="3A4150"/>
                </a:solidFill>
                <a:latin typeface="Arial"/>
              </a:rPr>
              <a:t>Scores: S₀ = L₀’s mean token log-probability. S₁ = 10·1[a₀ = a₁] + s̄₁, so agreeing tasks rank first.</a:t>
            </a:r>
          </a:p>
        </p:txBody>
      </p:sp>
      <p:sp>
        <p:nvSpPr>
          <p:cNvPr id="6" name="TextBox 5"/>
          <p:cNvSpPr txBox="1"/>
          <p:nvPr/>
        </p:nvSpPr>
        <p:spPr>
          <a:xfrm>
            <a:off x="812800" y="6350000"/>
            <a:ext cx="10566400" cy="215900"/>
          </a:xfrm>
          <a:prstGeom prst="rect">
            <a:avLst/>
          </a:prstGeom>
          <a:noFill/>
        </p:spPr>
        <p:txBody>
          <a:bodyPr wrap="square" lIns="0" rIns="0" tIns="0" bIns="0" anchor="t">
            <a:spAutoFit/>
          </a:bodyPr>
          <a:lstStyle/>
          <a:p>
            <a:pPr algn="r">
              <a:lnSpc>
                <a:spcPct val="115000"/>
              </a:lnSpc>
              <a:spcAft>
                <a:spcPts val="0"/>
              </a:spcAft>
            </a:pPr>
            <a:r>
              <a:rPr sz="1200" b="0" i="0">
                <a:solidFill>
                  <a:srgbClr val="6B7280"/>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749300"/>
            <a:ext cx="10566400" cy="254000"/>
          </a:xfrm>
          <a:prstGeom prst="rect">
            <a:avLst/>
          </a:prstGeom>
          <a:noFill/>
        </p:spPr>
        <p:txBody>
          <a:bodyPr wrap="square" lIns="0" rIns="0" tIns="0" bIns="0" anchor="t">
            <a:spAutoFit/>
          </a:bodyPr>
          <a:lstStyle/>
          <a:p>
            <a:pPr algn="l">
              <a:lnSpc>
                <a:spcPct val="115000"/>
              </a:lnSpc>
              <a:spcAft>
                <a:spcPts val="0"/>
              </a:spcAft>
            </a:pPr>
            <a:r>
              <a:rPr sz="1200" b="1" i="0">
                <a:solidFill>
                  <a:srgbClr val="B4541A"/>
                </a:solidFill>
                <a:latin typeface="Arial"/>
              </a:rPr>
              <a:t>METHOD</a:t>
            </a:r>
          </a:p>
        </p:txBody>
      </p:sp>
      <p:sp>
        <p:nvSpPr>
          <p:cNvPr id="3" name="TextBox 2"/>
          <p:cNvSpPr txBox="1"/>
          <p:nvPr/>
        </p:nvSpPr>
        <p:spPr>
          <a:xfrm>
            <a:off x="812800" y="1016000"/>
            <a:ext cx="10566400" cy="508000"/>
          </a:xfrm>
          <a:prstGeom prst="rect">
            <a:avLst/>
          </a:prstGeom>
          <a:noFill/>
        </p:spPr>
        <p:txBody>
          <a:bodyPr wrap="square" lIns="0" rIns="0" tIns="0" bIns="0" anchor="t">
            <a:spAutoFit/>
          </a:bodyPr>
          <a:lstStyle/>
          <a:p>
            <a:pPr algn="l">
              <a:lnSpc>
                <a:spcPct val="105000"/>
              </a:lnSpc>
              <a:spcAft>
                <a:spcPts val="0"/>
              </a:spcAft>
            </a:pPr>
            <a:r>
              <a:rPr sz="2800" b="1" i="0">
                <a:solidFill>
                  <a:srgbClr val="14213D"/>
                </a:solidFill>
                <a:latin typeface="Georgia"/>
              </a:rPr>
              <a:t>A signed loss: skipping the team can keep answers</a:t>
            </a:r>
          </a:p>
        </p:txBody>
      </p:sp>
      <p:sp>
        <p:nvSpPr>
          <p:cNvPr id="4" name="TextBox 3"/>
          <p:cNvSpPr txBox="1"/>
          <p:nvPr/>
        </p:nvSpPr>
        <p:spPr>
          <a:xfrm>
            <a:off x="812800" y="1905000"/>
            <a:ext cx="10566400" cy="444500"/>
          </a:xfrm>
          <a:prstGeom prst="rect">
            <a:avLst/>
          </a:prstGeom>
          <a:noFill/>
        </p:spPr>
        <p:txBody>
          <a:bodyPr wrap="square" lIns="0" rIns="0" tIns="0" bIns="0" anchor="t">
            <a:spAutoFit/>
          </a:bodyPr>
          <a:lstStyle/>
          <a:p>
            <a:pPr algn="l">
              <a:lnSpc>
                <a:spcPct val="115000"/>
              </a:lnSpc>
              <a:spcAft>
                <a:spcPts val="0"/>
              </a:spcAft>
            </a:pPr>
            <a:r>
              <a:rPr sz="2400" b="0" i="0">
                <a:solidFill>
                  <a:srgbClr val="14213D"/>
                </a:solidFill>
                <a:latin typeface="Georgia"/>
              </a:rPr>
              <a:t>ℓ  =  Y(team)  −  Y(answer kept)  ∈  {−1, 0, +1}</a:t>
            </a:r>
          </a:p>
        </p:txBody>
      </p:sp>
      <p:sp>
        <p:nvSpPr>
          <p:cNvPr id="5" name="Rounded Rectangle 4"/>
          <p:cNvSpPr/>
          <p:nvPr/>
        </p:nvSpPr>
        <p:spPr>
          <a:xfrm>
            <a:off x="812800" y="2603500"/>
            <a:ext cx="3384550" cy="1841500"/>
          </a:xfrm>
          <a:prstGeom prst="roundRect">
            <a:avLst>
              <a:gd name="adj" fmla="val 5517"/>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54000" rIns="254000" tIns="254000" bIns="254000"/>
          <a:lstStyle/>
          <a:p>
            <a:pPr algn="l">
              <a:lnSpc>
                <a:spcPct val="100000"/>
              </a:lnSpc>
              <a:spcAft>
                <a:spcPts val="800"/>
              </a:spcAft>
            </a:pPr>
            <a:r>
              <a:rPr sz="4000" b="1" i="0">
                <a:solidFill>
                  <a:srgbClr val="B03A2E"/>
                </a:solidFill>
                <a:latin typeface="Georgia"/>
              </a:rPr>
              <a:t>+1</a:t>
            </a:r>
          </a:p>
          <a:p>
            <a:pPr algn="l">
              <a:lnSpc>
                <a:spcPct val="115000"/>
              </a:lnSpc>
              <a:spcAft>
                <a:spcPts val="0"/>
              </a:spcAft>
            </a:pPr>
            <a:r>
              <a:rPr sz="1500" b="1" i="0">
                <a:solidFill>
                  <a:srgbClr val="3A4150"/>
                </a:solidFill>
                <a:latin typeface="Arial"/>
              </a:rPr>
              <a:t>Stopping loses</a:t>
            </a:r>
            <a:r>
              <a:rPr sz="1500" b="0" i="0">
                <a:solidFill>
                  <a:srgbClr val="3A4150"/>
                </a:solidFill>
                <a:latin typeface="Arial"/>
              </a:rPr>
              <a:t>: the cheap answer is wrong, the team’s is right.</a:t>
            </a:r>
          </a:p>
        </p:txBody>
      </p:sp>
      <p:sp>
        <p:nvSpPr>
          <p:cNvPr id="6" name="Rectangle 5"/>
          <p:cNvSpPr/>
          <p:nvPr/>
        </p:nvSpPr>
        <p:spPr>
          <a:xfrm>
            <a:off x="812800" y="2603500"/>
            <a:ext cx="3384550" cy="635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400550" y="2603500"/>
            <a:ext cx="3384550" cy="1841500"/>
          </a:xfrm>
          <a:prstGeom prst="roundRect">
            <a:avLst>
              <a:gd name="adj" fmla="val 5517"/>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54000" rIns="254000" tIns="254000" bIns="254000"/>
          <a:lstStyle/>
          <a:p>
            <a:pPr algn="l">
              <a:lnSpc>
                <a:spcPct val="100000"/>
              </a:lnSpc>
              <a:spcAft>
                <a:spcPts val="800"/>
              </a:spcAft>
            </a:pPr>
            <a:r>
              <a:rPr sz="4000" b="1" i="0">
                <a:solidFill>
                  <a:srgbClr val="5B6170"/>
                </a:solidFill>
                <a:latin typeface="Georgia"/>
              </a:rPr>
              <a:t>0</a:t>
            </a:r>
          </a:p>
          <a:p>
            <a:pPr algn="l">
              <a:lnSpc>
                <a:spcPct val="115000"/>
              </a:lnSpc>
              <a:spcAft>
                <a:spcPts val="0"/>
              </a:spcAft>
            </a:pPr>
            <a:r>
              <a:rPr sz="1500" b="1" i="0">
                <a:solidFill>
                  <a:srgbClr val="3A4150"/>
                </a:solidFill>
                <a:latin typeface="Arial"/>
              </a:rPr>
              <a:t>No change</a:t>
            </a:r>
            <a:r>
              <a:rPr sz="1500" b="0" i="0">
                <a:solidFill>
                  <a:srgbClr val="3A4150"/>
                </a:solidFill>
                <a:latin typeface="Arial"/>
              </a:rPr>
              <a:t>: both right or both wrong. Most stopped tasks.</a:t>
            </a:r>
          </a:p>
        </p:txBody>
      </p:sp>
      <p:sp>
        <p:nvSpPr>
          <p:cNvPr id="8" name="Rectangle 7"/>
          <p:cNvSpPr/>
          <p:nvPr/>
        </p:nvSpPr>
        <p:spPr>
          <a:xfrm>
            <a:off x="4400550" y="2603500"/>
            <a:ext cx="3384550" cy="63500"/>
          </a:xfrm>
          <a:prstGeom prst="rect">
            <a:avLst/>
          </a:prstGeom>
          <a:solidFill>
            <a:srgbClr val="5B61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988300" y="2603500"/>
            <a:ext cx="3384550" cy="1841500"/>
          </a:xfrm>
          <a:prstGeom prst="roundRect">
            <a:avLst>
              <a:gd name="adj" fmla="val 5517"/>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54000" rIns="254000" tIns="254000" bIns="254000"/>
          <a:lstStyle/>
          <a:p>
            <a:pPr algn="l">
              <a:lnSpc>
                <a:spcPct val="100000"/>
              </a:lnSpc>
              <a:spcAft>
                <a:spcPts val="800"/>
              </a:spcAft>
            </a:pPr>
            <a:r>
              <a:rPr sz="4000" b="1" i="0">
                <a:solidFill>
                  <a:srgbClr val="2F6B34"/>
                </a:solidFill>
                <a:latin typeface="Georgia"/>
              </a:rPr>
              <a:t>−1</a:t>
            </a:r>
          </a:p>
          <a:p>
            <a:pPr algn="l">
              <a:lnSpc>
                <a:spcPct val="115000"/>
              </a:lnSpc>
              <a:spcAft>
                <a:spcPts val="0"/>
              </a:spcAft>
            </a:pPr>
            <a:r>
              <a:rPr sz="1500" b="1" i="0">
                <a:solidFill>
                  <a:srgbClr val="3A4150"/>
                </a:solidFill>
                <a:latin typeface="Arial"/>
              </a:rPr>
              <a:t>Stopping saves</a:t>
            </a:r>
            <a:r>
              <a:rPr sz="1500" b="0" i="0">
                <a:solidFill>
                  <a:srgbClr val="3A4150"/>
                </a:solidFill>
                <a:latin typeface="Arial"/>
              </a:rPr>
              <a:t>: the cheap answer is right, the team’s is wrong.</a:t>
            </a:r>
          </a:p>
        </p:txBody>
      </p:sp>
      <p:sp>
        <p:nvSpPr>
          <p:cNvPr id="10" name="Rectangle 9"/>
          <p:cNvSpPr/>
          <p:nvPr/>
        </p:nvSpPr>
        <p:spPr>
          <a:xfrm>
            <a:off x="7988300" y="2603500"/>
            <a:ext cx="3384550" cy="63500"/>
          </a:xfrm>
          <a:prstGeom prst="rect">
            <a:avLst/>
          </a:prstGeom>
          <a:solidFill>
            <a:srgbClr val="2F6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4762500"/>
            <a:ext cx="10566400" cy="762000"/>
          </a:xfrm>
          <a:prstGeom prst="rect">
            <a:avLst/>
          </a:prstGeom>
          <a:noFill/>
        </p:spPr>
        <p:txBody>
          <a:bodyPr wrap="square" lIns="0" rIns="0" tIns="0" bIns="0" anchor="t">
            <a:spAutoFit/>
          </a:bodyPr>
          <a:lstStyle/>
          <a:p>
            <a:pPr algn="l">
              <a:lnSpc>
                <a:spcPct val="115000"/>
              </a:lnSpc>
              <a:spcAft>
                <a:spcPts val="0"/>
              </a:spcAft>
            </a:pPr>
            <a:r>
              <a:rPr sz="1500" b="0" i="0">
                <a:solidFill>
                  <a:srgbClr val="14213D"/>
                </a:solidFill>
                <a:latin typeface="Arial"/>
              </a:rPr>
              <a:t>Clipping the loss at zero ignores the answers stopping saves. Since most losses are zero, a test that adapts to the variance can certify much more.</a:t>
            </a:r>
          </a:p>
        </p:txBody>
      </p:sp>
      <p:sp>
        <p:nvSpPr>
          <p:cNvPr id="12" name="TextBox 11"/>
          <p:cNvSpPr txBox="1"/>
          <p:nvPr/>
        </p:nvSpPr>
        <p:spPr>
          <a:xfrm>
            <a:off x="812800" y="6350000"/>
            <a:ext cx="10566400" cy="215900"/>
          </a:xfrm>
          <a:prstGeom prst="rect">
            <a:avLst/>
          </a:prstGeom>
          <a:noFill/>
        </p:spPr>
        <p:txBody>
          <a:bodyPr wrap="square" lIns="0" rIns="0" tIns="0" bIns="0" anchor="t">
            <a:spAutoFit/>
          </a:bodyPr>
          <a:lstStyle/>
          <a:p>
            <a:pPr algn="r">
              <a:lnSpc>
                <a:spcPct val="115000"/>
              </a:lnSpc>
              <a:spcAft>
                <a:spcPts val="0"/>
              </a:spcAft>
            </a:pPr>
            <a:r>
              <a:rPr sz="1200" b="0" i="0">
                <a:solidFill>
                  <a:srgbClr val="6B7280"/>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749300"/>
            <a:ext cx="10566400" cy="254000"/>
          </a:xfrm>
          <a:prstGeom prst="rect">
            <a:avLst/>
          </a:prstGeom>
          <a:noFill/>
        </p:spPr>
        <p:txBody>
          <a:bodyPr wrap="square" lIns="0" rIns="0" tIns="0" bIns="0" anchor="t">
            <a:spAutoFit/>
          </a:bodyPr>
          <a:lstStyle/>
          <a:p>
            <a:pPr algn="l">
              <a:lnSpc>
                <a:spcPct val="115000"/>
              </a:lnSpc>
              <a:spcAft>
                <a:spcPts val="0"/>
              </a:spcAft>
            </a:pPr>
            <a:r>
              <a:rPr sz="1200" b="1" i="0">
                <a:solidFill>
                  <a:srgbClr val="B4541A"/>
                </a:solidFill>
                <a:latin typeface="Arial"/>
              </a:rPr>
              <a:t>METHOD · STRUCTURE</a:t>
            </a:r>
          </a:p>
        </p:txBody>
      </p:sp>
      <p:sp>
        <p:nvSpPr>
          <p:cNvPr id="3" name="TextBox 2"/>
          <p:cNvSpPr txBox="1"/>
          <p:nvPr/>
        </p:nvSpPr>
        <p:spPr>
          <a:xfrm>
            <a:off x="812800" y="1016000"/>
            <a:ext cx="10566400" cy="508000"/>
          </a:xfrm>
          <a:prstGeom prst="rect">
            <a:avLst/>
          </a:prstGeom>
          <a:noFill/>
        </p:spPr>
        <p:txBody>
          <a:bodyPr wrap="square" lIns="0" rIns="0" tIns="0" bIns="0" anchor="t">
            <a:spAutoFit/>
          </a:bodyPr>
          <a:lstStyle/>
          <a:p>
            <a:pPr algn="l">
              <a:lnSpc>
                <a:spcPct val="105000"/>
              </a:lnSpc>
              <a:spcAft>
                <a:spcPts val="0"/>
              </a:spcAft>
            </a:pPr>
            <a:r>
              <a:rPr sz="2800" b="1" i="0">
                <a:solidFill>
                  <a:srgbClr val="14213D"/>
                </a:solidFill>
                <a:latin typeface="Georgia"/>
              </a:rPr>
              <a:t>When is a confidence threshold optimal?</a:t>
            </a:r>
          </a:p>
        </p:txBody>
      </p:sp>
      <p:sp>
        <p:nvSpPr>
          <p:cNvPr id="4" name="Rounded Rectangle 3"/>
          <p:cNvSpPr/>
          <p:nvPr/>
        </p:nvSpPr>
        <p:spPr>
          <a:xfrm>
            <a:off x="812800" y="2032000"/>
            <a:ext cx="5156200" cy="2540000"/>
          </a:xfrm>
          <a:prstGeom prst="roundRect">
            <a:avLst>
              <a:gd name="adj" fmla="val 4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04800" rIns="304800" tIns="304800" bIns="304800"/>
          <a:lstStyle/>
          <a:p>
            <a:pPr algn="l">
              <a:lnSpc>
                <a:spcPct val="115000"/>
              </a:lnSpc>
              <a:spcAft>
                <a:spcPts val="600"/>
              </a:spcAft>
            </a:pPr>
            <a:r>
              <a:rPr sz="1800" b="1" i="0">
                <a:solidFill>
                  <a:srgbClr val="F0A66B"/>
                </a:solidFill>
                <a:latin typeface="Arial"/>
              </a:rPr>
              <a:t>(M) Monotone gain</a:t>
            </a:r>
          </a:p>
          <a:p>
            <a:pPr algn="l">
              <a:lnSpc>
                <a:spcPct val="115000"/>
              </a:lnSpc>
              <a:spcAft>
                <a:spcPts val="1000"/>
              </a:spcAft>
            </a:pPr>
            <a:r>
              <a:rPr sz="1800" b="0" i="0">
                <a:solidFill>
                  <a:srgbClr val="F7F6F2"/>
                </a:solidFill>
                <a:latin typeface="Georgia"/>
              </a:rPr>
              <a:t>g(s) = E[ Y(team) − Y(cheap) | s ]</a:t>
            </a:r>
          </a:p>
          <a:p>
            <a:pPr algn="l">
              <a:lnSpc>
                <a:spcPct val="115000"/>
              </a:lnSpc>
              <a:spcAft>
                <a:spcPts val="0"/>
              </a:spcAft>
            </a:pPr>
            <a:r>
              <a:rPr sz="1500" b="0" i="0">
                <a:solidFill>
                  <a:srgbClr val="C9D1E0"/>
                </a:solidFill>
                <a:latin typeface="Arial"/>
              </a:rPr>
              <a:t>g(s) and g(s)/c(s) are non-increasing in the score s. Escalation buys less, per token too, the more confident the cheap answer is.</a:t>
            </a:r>
          </a:p>
        </p:txBody>
      </p:sp>
      <p:sp>
        <p:nvSpPr>
          <p:cNvPr id="5" name="Rounded Rectangle 4"/>
          <p:cNvSpPr/>
          <p:nvPr/>
        </p:nvSpPr>
        <p:spPr>
          <a:xfrm>
            <a:off x="6223000" y="2032000"/>
            <a:ext cx="5156200" cy="1174750"/>
          </a:xfrm>
          <a:prstGeom prst="roundRect">
            <a:avLst>
              <a:gd name="adj" fmla="val 8000"/>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03200" bIns="203200"/>
          <a:lstStyle/>
          <a:p>
            <a:pPr algn="l">
              <a:lnSpc>
                <a:spcPct val="115000"/>
              </a:lnSpc>
              <a:spcAft>
                <a:spcPts val="600"/>
              </a:spcAft>
            </a:pPr>
            <a:r>
              <a:rPr sz="1600" b="1" i="0">
                <a:solidFill>
                  <a:srgbClr val="14213D"/>
                </a:solidFill>
                <a:latin typeface="Arial"/>
              </a:rPr>
              <a:t>Threshold optimality</a:t>
            </a:r>
          </a:p>
          <a:p>
            <a:pPr algn="l">
              <a:lnSpc>
                <a:spcPct val="115000"/>
              </a:lnSpc>
              <a:spcAft>
                <a:spcPts val="0"/>
              </a:spcAft>
            </a:pPr>
            <a:r>
              <a:rPr sz="1400" b="0" i="0">
                <a:solidFill>
                  <a:srgbClr val="3A4150"/>
                </a:solidFill>
                <a:latin typeface="Arial"/>
              </a:rPr>
              <a:t>Under (M), the constrained problem is a fractional knapsack solved by a threshold on the score.</a:t>
            </a:r>
          </a:p>
        </p:txBody>
      </p:sp>
      <p:sp>
        <p:nvSpPr>
          <p:cNvPr id="6" name="Rounded Rectangle 5"/>
          <p:cNvSpPr/>
          <p:nvPr/>
        </p:nvSpPr>
        <p:spPr>
          <a:xfrm>
            <a:off x="6223000" y="3397250"/>
            <a:ext cx="5156200" cy="1174750"/>
          </a:xfrm>
          <a:prstGeom prst="roundRect">
            <a:avLst>
              <a:gd name="adj" fmla="val 8000"/>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03200" bIns="203200"/>
          <a:lstStyle/>
          <a:p>
            <a:pPr algn="l">
              <a:lnSpc>
                <a:spcPct val="115000"/>
              </a:lnSpc>
              <a:spcAft>
                <a:spcPts val="600"/>
              </a:spcAft>
            </a:pPr>
            <a:r>
              <a:rPr sz="1600" b="1" i="0">
                <a:solidFill>
                  <a:srgbClr val="14213D"/>
                </a:solidFill>
                <a:latin typeface="Arial"/>
              </a:rPr>
              <a:t>Ordered testing is lossless</a:t>
            </a:r>
          </a:p>
          <a:p>
            <a:pPr algn="l">
              <a:lnSpc>
                <a:spcPct val="115000"/>
              </a:lnSpc>
              <a:spcAft>
                <a:spcPts val="0"/>
              </a:spcAft>
            </a:pPr>
            <a:r>
              <a:rPr sz="1400" b="0" i="0">
                <a:solidFill>
                  <a:srgbClr val="3A4150"/>
                </a:solidFill>
                <a:latin typeface="Arial"/>
              </a:rPr>
              <a:t>The safe thresholds form a prefix of the conservative-to-aggressive sequence, and cost falls along it.</a:t>
            </a:r>
          </a:p>
        </p:txBody>
      </p:sp>
      <p:sp>
        <p:nvSpPr>
          <p:cNvPr id="7" name="TextBox 6"/>
          <p:cNvSpPr txBox="1"/>
          <p:nvPr/>
        </p:nvSpPr>
        <p:spPr>
          <a:xfrm>
            <a:off x="812800" y="4889500"/>
            <a:ext cx="10566400" cy="508000"/>
          </a:xfrm>
          <a:prstGeom prst="rect">
            <a:avLst/>
          </a:prstGeom>
          <a:noFill/>
        </p:spPr>
        <p:txBody>
          <a:bodyPr wrap="square" lIns="0" rIns="0" tIns="0" bIns="0" anchor="t">
            <a:spAutoFit/>
          </a:bodyPr>
          <a:lstStyle/>
          <a:p>
            <a:pPr algn="l">
              <a:lnSpc>
                <a:spcPct val="115000"/>
              </a:lnSpc>
              <a:spcAft>
                <a:spcPts val="0"/>
              </a:spcAft>
            </a:pPr>
            <a:r>
              <a:rPr sz="1500" b="1" i="0">
                <a:solidFill>
                  <a:srgbClr val="14213D"/>
                </a:solidFill>
                <a:latin typeface="Arial"/>
              </a:rPr>
              <a:t>(M) shapes the savings, not the guarantee.</a:t>
            </a:r>
            <a:r>
              <a:rPr sz="1500" b="0" i="0">
                <a:solidFill>
                  <a:srgbClr val="14213D"/>
                </a:solidFill>
                <a:latin typeface="Arial"/>
              </a:rPr>
              <a:t> The risk bound holds whether or not it does.</a:t>
            </a:r>
          </a:p>
        </p:txBody>
      </p:sp>
      <p:sp>
        <p:nvSpPr>
          <p:cNvPr id="8" name="TextBox 7"/>
          <p:cNvSpPr txBox="1"/>
          <p:nvPr/>
        </p:nvSpPr>
        <p:spPr>
          <a:xfrm>
            <a:off x="812800" y="6350000"/>
            <a:ext cx="10566400" cy="215900"/>
          </a:xfrm>
          <a:prstGeom prst="rect">
            <a:avLst/>
          </a:prstGeom>
          <a:noFill/>
        </p:spPr>
        <p:txBody>
          <a:bodyPr wrap="square" lIns="0" rIns="0" tIns="0" bIns="0" anchor="t">
            <a:spAutoFit/>
          </a:bodyPr>
          <a:lstStyle/>
          <a:p>
            <a:pPr algn="r">
              <a:lnSpc>
                <a:spcPct val="115000"/>
              </a:lnSpc>
              <a:spcAft>
                <a:spcPts val="0"/>
              </a:spcAft>
            </a:pPr>
            <a:r>
              <a:rPr sz="1200" b="0" i="0">
                <a:solidFill>
                  <a:srgbClr val="6B7280"/>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749300"/>
            <a:ext cx="10566400" cy="254000"/>
          </a:xfrm>
          <a:prstGeom prst="rect">
            <a:avLst/>
          </a:prstGeom>
          <a:noFill/>
        </p:spPr>
        <p:txBody>
          <a:bodyPr wrap="square" lIns="0" rIns="0" tIns="0" bIns="0" anchor="t">
            <a:spAutoFit/>
          </a:bodyPr>
          <a:lstStyle/>
          <a:p>
            <a:pPr algn="l">
              <a:lnSpc>
                <a:spcPct val="115000"/>
              </a:lnSpc>
              <a:spcAft>
                <a:spcPts val="0"/>
              </a:spcAft>
            </a:pPr>
            <a:r>
              <a:rPr sz="1200" b="1" i="0">
                <a:solidFill>
                  <a:srgbClr val="B4541A"/>
                </a:solidFill>
                <a:latin typeface="Arial"/>
              </a:rPr>
              <a:t>METHOD · CERTIFICATION</a:t>
            </a:r>
          </a:p>
        </p:txBody>
      </p:sp>
      <p:sp>
        <p:nvSpPr>
          <p:cNvPr id="3" name="TextBox 2"/>
          <p:cNvSpPr txBox="1"/>
          <p:nvPr/>
        </p:nvSpPr>
        <p:spPr>
          <a:xfrm>
            <a:off x="812800" y="1016000"/>
            <a:ext cx="10566400" cy="508000"/>
          </a:xfrm>
          <a:prstGeom prst="rect">
            <a:avLst/>
          </a:prstGeom>
          <a:noFill/>
        </p:spPr>
        <p:txBody>
          <a:bodyPr wrap="square" lIns="0" rIns="0" tIns="0" bIns="0" anchor="t">
            <a:spAutoFit/>
          </a:bodyPr>
          <a:lstStyle/>
          <a:p>
            <a:pPr algn="l">
              <a:lnSpc>
                <a:spcPct val="105000"/>
              </a:lnSpc>
              <a:spcAft>
                <a:spcPts val="0"/>
              </a:spcAft>
            </a:pPr>
            <a:r>
              <a:rPr sz="2800" b="1" i="0">
                <a:solidFill>
                  <a:srgbClr val="14213D"/>
                </a:solidFill>
                <a:latin typeface="Georgia"/>
              </a:rPr>
              <a:t>Test thresholds in order with a betting test</a:t>
            </a:r>
          </a:p>
        </p:txBody>
      </p:sp>
      <p:sp>
        <p:nvSpPr>
          <p:cNvPr id="4" name="Rounded Rectangle 3"/>
          <p:cNvSpPr/>
          <p:nvPr/>
        </p:nvSpPr>
        <p:spPr>
          <a:xfrm>
            <a:off x="812800" y="2032000"/>
            <a:ext cx="3384550" cy="2476500"/>
          </a:xfrm>
          <a:prstGeom prst="roundRect">
            <a:avLst>
              <a:gd name="adj" fmla="val 4102"/>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54000" rIns="254000" tIns="254000" bIns="254000"/>
          <a:lstStyle/>
          <a:p>
            <a:pPr algn="l">
              <a:lnSpc>
                <a:spcPct val="100000"/>
              </a:lnSpc>
              <a:spcAft>
                <a:spcPts val="800"/>
              </a:spcAft>
            </a:pPr>
            <a:r>
              <a:rPr sz="3200" b="1" i="0">
                <a:solidFill>
                  <a:srgbClr val="B4541A"/>
                </a:solidFill>
                <a:latin typeface="Georgia"/>
              </a:rPr>
              <a:t>1</a:t>
            </a:r>
          </a:p>
          <a:p>
            <a:pPr algn="l">
              <a:lnSpc>
                <a:spcPct val="115000"/>
              </a:lnSpc>
              <a:spcAft>
                <a:spcPts val="600"/>
              </a:spcAft>
            </a:pPr>
            <a:r>
              <a:rPr sz="1600" b="1" i="0">
                <a:solidFill>
                  <a:srgbClr val="14213D"/>
                </a:solidFill>
                <a:latin typeface="Arial"/>
              </a:rPr>
              <a:t>Candidates</a:t>
            </a:r>
          </a:p>
          <a:p>
            <a:pPr algn="l">
              <a:lnSpc>
                <a:spcPct val="115000"/>
              </a:lnSpc>
              <a:spcAft>
                <a:spcPts val="0"/>
              </a:spcAft>
            </a:pPr>
            <a:r>
              <a:rPr sz="1400" b="0" i="0">
                <a:solidFill>
                  <a:srgbClr val="3A4150"/>
                </a:solidFill>
                <a:latin typeface="Arial"/>
              </a:rPr>
              <a:t>Thresholds t₁ &gt; t₂ &gt; …, fixed before any label, from conservative to aggressive. Each gives a null: its mean loss exceeds ε.</a:t>
            </a:r>
          </a:p>
        </p:txBody>
      </p:sp>
      <p:sp>
        <p:nvSpPr>
          <p:cNvPr id="5" name="Rounded Rectangle 4"/>
          <p:cNvSpPr/>
          <p:nvPr/>
        </p:nvSpPr>
        <p:spPr>
          <a:xfrm>
            <a:off x="4400550" y="2032000"/>
            <a:ext cx="3384550" cy="2476500"/>
          </a:xfrm>
          <a:prstGeom prst="roundRect">
            <a:avLst>
              <a:gd name="adj" fmla="val 4102"/>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54000" rIns="254000" tIns="254000" bIns="254000"/>
          <a:lstStyle/>
          <a:p>
            <a:pPr algn="l">
              <a:lnSpc>
                <a:spcPct val="100000"/>
              </a:lnSpc>
              <a:spcAft>
                <a:spcPts val="800"/>
              </a:spcAft>
            </a:pPr>
            <a:r>
              <a:rPr sz="3200" b="1" i="0">
                <a:solidFill>
                  <a:srgbClr val="B4541A"/>
                </a:solidFill>
                <a:latin typeface="Georgia"/>
              </a:rPr>
              <a:t>2</a:t>
            </a:r>
          </a:p>
          <a:p>
            <a:pPr algn="l">
              <a:lnSpc>
                <a:spcPct val="115000"/>
              </a:lnSpc>
              <a:spcAft>
                <a:spcPts val="600"/>
              </a:spcAft>
            </a:pPr>
            <a:r>
              <a:rPr sz="1600" b="1" i="0">
                <a:solidFill>
                  <a:srgbClr val="14213D"/>
                </a:solidFill>
                <a:latin typeface="Arial"/>
              </a:rPr>
              <a:t>Betting test</a:t>
            </a:r>
          </a:p>
          <a:p>
            <a:pPr algn="l">
              <a:lnSpc>
                <a:spcPct val="115000"/>
              </a:lnSpc>
              <a:spcAft>
                <a:spcPts val="0"/>
              </a:spcAft>
            </a:pPr>
            <a:r>
              <a:rPr sz="1400" b="0" i="0">
                <a:solidFill>
                  <a:srgbClr val="3A4150"/>
                </a:solidFill>
                <a:latin typeface="Arial"/>
              </a:rPr>
              <a:t>Bet that the mean loss is below ε. Wealth is a supermartingale under the null, so p = 1 / max W is valid.</a:t>
            </a:r>
          </a:p>
        </p:txBody>
      </p:sp>
      <p:sp>
        <p:nvSpPr>
          <p:cNvPr id="6" name="Rounded Rectangle 5"/>
          <p:cNvSpPr/>
          <p:nvPr/>
        </p:nvSpPr>
        <p:spPr>
          <a:xfrm>
            <a:off x="7988300" y="2032000"/>
            <a:ext cx="3384550" cy="2476500"/>
          </a:xfrm>
          <a:prstGeom prst="roundRect">
            <a:avLst>
              <a:gd name="adj" fmla="val 4102"/>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54000" rIns="254000" tIns="254000" bIns="254000"/>
          <a:lstStyle/>
          <a:p>
            <a:pPr algn="l">
              <a:lnSpc>
                <a:spcPct val="100000"/>
              </a:lnSpc>
              <a:spcAft>
                <a:spcPts val="800"/>
              </a:spcAft>
            </a:pPr>
            <a:r>
              <a:rPr sz="3200" b="1" i="0">
                <a:solidFill>
                  <a:srgbClr val="B4541A"/>
                </a:solidFill>
                <a:latin typeface="Georgia"/>
              </a:rPr>
              <a:t>3</a:t>
            </a:r>
          </a:p>
          <a:p>
            <a:pPr algn="l">
              <a:lnSpc>
                <a:spcPct val="115000"/>
              </a:lnSpc>
              <a:spcAft>
                <a:spcPts val="600"/>
              </a:spcAft>
            </a:pPr>
            <a:r>
              <a:rPr sz="1600" b="1" i="0">
                <a:solidFill>
                  <a:srgbClr val="14213D"/>
                </a:solidFill>
                <a:latin typeface="Arial"/>
              </a:rPr>
              <a:t>Fixed sequence</a:t>
            </a:r>
          </a:p>
          <a:p>
            <a:pPr algn="l">
              <a:lnSpc>
                <a:spcPct val="115000"/>
              </a:lnSpc>
              <a:spcAft>
                <a:spcPts val="0"/>
              </a:spcAft>
            </a:pPr>
            <a:r>
              <a:rPr sz="1400" b="0" i="0">
                <a:solidFill>
                  <a:srgbClr val="3A4150"/>
                </a:solidFill>
                <a:latin typeface="Arial"/>
              </a:rPr>
              <a:t>Stop at the first threshold not rejected. Deploy the cheapest rejected one. No multiplicity correction needed.</a:t>
            </a:r>
          </a:p>
        </p:txBody>
      </p:sp>
      <p:sp>
        <p:nvSpPr>
          <p:cNvPr id="7" name="Rounded Rectangle 6"/>
          <p:cNvSpPr/>
          <p:nvPr/>
        </p:nvSpPr>
        <p:spPr>
          <a:xfrm>
            <a:off x="812800" y="4762500"/>
            <a:ext cx="10566400" cy="698500"/>
          </a:xfrm>
          <a:prstGeom prst="roundRect">
            <a:avLst>
              <a:gd name="adj" fmla="val 8000"/>
            </a:avLst>
          </a:prstGeom>
          <a:solidFill>
            <a:srgbClr val="ECEA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04800" rIns="304800" tIns="304800" bIns="304800"/>
          <a:lstStyle/>
          <a:p>
            <a:pPr algn="l">
              <a:lnSpc>
                <a:spcPct val="115000"/>
              </a:lnSpc>
              <a:spcAft>
                <a:spcPts val="0"/>
              </a:spcAft>
            </a:pPr>
            <a:r>
              <a:rPr sz="2000" b="0" i="0">
                <a:solidFill>
                  <a:srgbClr val="14213D"/>
                </a:solidFill>
                <a:latin typeface="Georgia"/>
              </a:rPr>
              <a:t>Wⱼ = ∏ ( 1 + λᵢ (ε − ℓᵢ) ) over i ≤ j,   λᵢ set from the running variance of earlier losses</a:t>
            </a:r>
          </a:p>
        </p:txBody>
      </p:sp>
      <p:sp>
        <p:nvSpPr>
          <p:cNvPr id="8" name="TextBox 7"/>
          <p:cNvSpPr txBox="1"/>
          <p:nvPr/>
        </p:nvSpPr>
        <p:spPr>
          <a:xfrm>
            <a:off x="812800" y="6350000"/>
            <a:ext cx="10566400" cy="215900"/>
          </a:xfrm>
          <a:prstGeom prst="rect">
            <a:avLst/>
          </a:prstGeom>
          <a:noFill/>
        </p:spPr>
        <p:txBody>
          <a:bodyPr wrap="square" lIns="0" rIns="0" tIns="0" bIns="0" anchor="t">
            <a:spAutoFit/>
          </a:bodyPr>
          <a:lstStyle/>
          <a:p>
            <a:pPr algn="r">
              <a:lnSpc>
                <a:spcPct val="115000"/>
              </a:lnSpc>
              <a:spcAft>
                <a:spcPts val="0"/>
              </a:spcAft>
            </a:pPr>
            <a:r>
              <a:rPr sz="1200" b="0" i="0">
                <a:solidFill>
                  <a:srgbClr val="6B728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749300"/>
            <a:ext cx="10566400" cy="254000"/>
          </a:xfrm>
          <a:prstGeom prst="rect">
            <a:avLst/>
          </a:prstGeom>
          <a:noFill/>
        </p:spPr>
        <p:txBody>
          <a:bodyPr wrap="square" lIns="0" rIns="0" tIns="0" bIns="0" anchor="t">
            <a:spAutoFit/>
          </a:bodyPr>
          <a:lstStyle/>
          <a:p>
            <a:pPr algn="l">
              <a:lnSpc>
                <a:spcPct val="115000"/>
              </a:lnSpc>
              <a:spcAft>
                <a:spcPts val="0"/>
              </a:spcAft>
            </a:pPr>
            <a:r>
              <a:rPr sz="1200" b="1" i="0">
                <a:solidFill>
                  <a:srgbClr val="B4541A"/>
                </a:solidFill>
                <a:latin typeface="Arial"/>
              </a:rPr>
              <a:t>METHOD · DEPLOYMENT</a:t>
            </a:r>
          </a:p>
        </p:txBody>
      </p:sp>
      <p:sp>
        <p:nvSpPr>
          <p:cNvPr id="3" name="TextBox 2"/>
          <p:cNvSpPr txBox="1"/>
          <p:nvPr/>
        </p:nvSpPr>
        <p:spPr>
          <a:xfrm>
            <a:off x="812800" y="1016000"/>
            <a:ext cx="10566400" cy="508000"/>
          </a:xfrm>
          <a:prstGeom prst="rect">
            <a:avLst/>
          </a:prstGeom>
          <a:noFill/>
        </p:spPr>
        <p:txBody>
          <a:bodyPr wrap="square" lIns="0" rIns="0" tIns="0" bIns="0" anchor="t">
            <a:spAutoFit/>
          </a:bodyPr>
          <a:lstStyle/>
          <a:p>
            <a:pPr algn="l">
              <a:lnSpc>
                <a:spcPct val="105000"/>
              </a:lnSpc>
              <a:spcAft>
                <a:spcPts val="0"/>
              </a:spcAft>
            </a:pPr>
            <a:r>
              <a:rPr sz="2800" b="1" i="0">
                <a:solidFill>
                  <a:srgbClr val="14213D"/>
                </a:solidFill>
                <a:latin typeface="Georgia"/>
              </a:rPr>
              <a:t>Choose the depth, fall back to the team</a:t>
            </a:r>
          </a:p>
        </p:txBody>
      </p:sp>
      <p:sp>
        <p:nvSpPr>
          <p:cNvPr id="4" name="Rounded Rectangle 3"/>
          <p:cNvSpPr/>
          <p:nvPr/>
        </p:nvSpPr>
        <p:spPr>
          <a:xfrm>
            <a:off x="812800" y="2032000"/>
            <a:ext cx="5156200" cy="1117600"/>
          </a:xfrm>
          <a:prstGeom prst="roundRect">
            <a:avLst>
              <a:gd name="adj" fmla="val 8000"/>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03200" bIns="203200"/>
          <a:lstStyle/>
          <a:p>
            <a:pPr algn="l">
              <a:lnSpc>
                <a:spcPct val="115000"/>
              </a:lnSpc>
              <a:spcAft>
                <a:spcPts val="600"/>
              </a:spcAft>
            </a:pPr>
            <a:r>
              <a:rPr sz="1600" b="1" i="0">
                <a:solidFill>
                  <a:srgbClr val="14213D"/>
                </a:solidFill>
                <a:latin typeface="Arial"/>
              </a:rPr>
              <a:t>Depth 0, tested at δ/2</a:t>
            </a:r>
          </a:p>
          <a:p>
            <a:pPr algn="l">
              <a:lnSpc>
                <a:spcPct val="115000"/>
              </a:lnSpc>
              <a:spcAft>
                <a:spcPts val="0"/>
              </a:spcAft>
            </a:pPr>
            <a:r>
              <a:rPr sz="1400" b="0" i="0">
                <a:solidFill>
                  <a:srgbClr val="3A4150"/>
                </a:solidFill>
                <a:latin typeface="Arial"/>
              </a:rPr>
              <a:t>Threshold on S₀: stop at L₀ when it is confident.</a:t>
            </a:r>
          </a:p>
        </p:txBody>
      </p:sp>
      <p:sp>
        <p:nvSpPr>
          <p:cNvPr id="5" name="Rectangle 4"/>
          <p:cNvSpPr/>
          <p:nvPr/>
        </p:nvSpPr>
        <p:spPr>
          <a:xfrm>
            <a:off x="812800" y="2032000"/>
            <a:ext cx="63500" cy="1117600"/>
          </a:xfrm>
          <a:prstGeom prst="rect">
            <a:avLst/>
          </a:prstGeom>
          <a:solidFill>
            <a:srgbClr val="2E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12800" y="3302000"/>
            <a:ext cx="5156200" cy="1117600"/>
          </a:xfrm>
          <a:prstGeom prst="roundRect">
            <a:avLst>
              <a:gd name="adj" fmla="val 8000"/>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03200" bIns="203200"/>
          <a:lstStyle/>
          <a:p>
            <a:pPr algn="l">
              <a:lnSpc>
                <a:spcPct val="115000"/>
              </a:lnSpc>
              <a:spcAft>
                <a:spcPts val="600"/>
              </a:spcAft>
            </a:pPr>
            <a:r>
              <a:rPr sz="1600" b="1" i="0">
                <a:solidFill>
                  <a:srgbClr val="14213D"/>
                </a:solidFill>
                <a:latin typeface="Arial"/>
              </a:rPr>
              <a:t>Depth 1, tested at δ/2</a:t>
            </a:r>
          </a:p>
          <a:p>
            <a:pPr algn="l">
              <a:lnSpc>
                <a:spcPct val="115000"/>
              </a:lnSpc>
              <a:spcAft>
                <a:spcPts val="0"/>
              </a:spcAft>
            </a:pPr>
            <a:r>
              <a:rPr sz="1400" b="0" i="0">
                <a:solidFill>
                  <a:srgbClr val="3A4150"/>
                </a:solidFill>
                <a:latin typeface="Arial"/>
              </a:rPr>
              <a:t>Threshold on S₁ after both rungs: agreement, then L₁’s confidence.</a:t>
            </a:r>
          </a:p>
        </p:txBody>
      </p:sp>
      <p:sp>
        <p:nvSpPr>
          <p:cNvPr id="7" name="Rectangle 6"/>
          <p:cNvSpPr/>
          <p:nvPr/>
        </p:nvSpPr>
        <p:spPr>
          <a:xfrm>
            <a:off x="812800" y="3302000"/>
            <a:ext cx="63500" cy="1117600"/>
          </a:xfrm>
          <a:prstGeom prst="rect">
            <a:avLst/>
          </a:prstGeom>
          <a:solidFill>
            <a:srgbClr val="2E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23000" y="2032000"/>
            <a:ext cx="5156200" cy="1117600"/>
          </a:xfrm>
          <a:prstGeom prst="roundRect">
            <a:avLst>
              <a:gd name="adj" fmla="val 8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03200" bIns="203200"/>
          <a:lstStyle/>
          <a:p>
            <a:pPr algn="l">
              <a:lnSpc>
                <a:spcPct val="115000"/>
              </a:lnSpc>
              <a:spcAft>
                <a:spcPts val="600"/>
              </a:spcAft>
            </a:pPr>
            <a:r>
              <a:rPr sz="1600" b="1" i="0">
                <a:solidFill>
                  <a:srgbClr val="F0A66B"/>
                </a:solidFill>
                <a:latin typeface="Arial"/>
              </a:rPr>
              <a:t>Deploy the cheaper certified policy</a:t>
            </a:r>
          </a:p>
          <a:p>
            <a:pPr algn="l">
              <a:lnSpc>
                <a:spcPct val="115000"/>
              </a:lnSpc>
              <a:spcAft>
                <a:spcPts val="0"/>
              </a:spcAft>
            </a:pPr>
            <a:r>
              <a:rPr sz="1400" b="0" i="0">
                <a:solidFill>
                  <a:srgbClr val="C9D1E0"/>
                </a:solidFill>
                <a:latin typeface="Arial"/>
              </a:rPr>
              <a:t>A union bound keeps both certificates valid at once with probability ≥ 1 − δ.</a:t>
            </a:r>
          </a:p>
        </p:txBody>
      </p:sp>
      <p:sp>
        <p:nvSpPr>
          <p:cNvPr id="9" name="Rounded Rectangle 8"/>
          <p:cNvSpPr/>
          <p:nvPr/>
        </p:nvSpPr>
        <p:spPr>
          <a:xfrm>
            <a:off x="6223000" y="3302000"/>
            <a:ext cx="5156200" cy="1117600"/>
          </a:xfrm>
          <a:prstGeom prst="roundRect">
            <a:avLst>
              <a:gd name="adj" fmla="val 8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03200" bIns="203200"/>
          <a:lstStyle/>
          <a:p>
            <a:pPr algn="l">
              <a:lnSpc>
                <a:spcPct val="115000"/>
              </a:lnSpc>
              <a:spcAft>
                <a:spcPts val="600"/>
              </a:spcAft>
            </a:pPr>
            <a:r>
              <a:rPr sz="1600" b="1" i="0">
                <a:solidFill>
                  <a:srgbClr val="F0A66B"/>
                </a:solidFill>
                <a:latin typeface="Arial"/>
              </a:rPr>
              <a:t>Nothing certified? Run the team</a:t>
            </a:r>
          </a:p>
          <a:p>
            <a:pPr algn="l">
              <a:lnSpc>
                <a:spcPct val="115000"/>
              </a:lnSpc>
              <a:spcAft>
                <a:spcPts val="0"/>
              </a:spcAft>
            </a:pPr>
            <a:r>
              <a:rPr sz="1400" b="0" i="0">
                <a:solidFill>
                  <a:srgbClr val="C9D1E0"/>
                </a:solidFill>
                <a:latin typeface="Arial"/>
              </a:rPr>
              <a:t>Always running the team has zero risk, so it is always admissible.</a:t>
            </a:r>
          </a:p>
        </p:txBody>
      </p:sp>
      <p:sp>
        <p:nvSpPr>
          <p:cNvPr id="10" name="TextBox 9"/>
          <p:cNvSpPr txBox="1"/>
          <p:nvPr/>
        </p:nvSpPr>
        <p:spPr>
          <a:xfrm>
            <a:off x="812800" y="4826000"/>
            <a:ext cx="10566400" cy="762000"/>
          </a:xfrm>
          <a:prstGeom prst="rect">
            <a:avLst/>
          </a:prstGeom>
          <a:noFill/>
        </p:spPr>
        <p:txBody>
          <a:bodyPr wrap="square" lIns="0" rIns="0" tIns="0" bIns="0" anchor="t">
            <a:spAutoFit/>
          </a:bodyPr>
          <a:lstStyle/>
          <a:p>
            <a:pPr algn="l">
              <a:lnSpc>
                <a:spcPct val="115000"/>
              </a:lnSpc>
              <a:spcAft>
                <a:spcPts val="0"/>
              </a:spcAft>
            </a:pPr>
            <a:r>
              <a:rPr sz="1500" b="1" i="0">
                <a:solidFill>
                  <a:srgbClr val="14213D"/>
                </a:solidFill>
                <a:latin typeface="Arial"/>
              </a:rPr>
              <a:t>If tasks and outputs are i.i.d., the deployed policy loses at most ε with probability ≥ 1 − δ.</a:t>
            </a:r>
            <a:r>
              <a:rPr sz="1500" b="0" i="0">
                <a:solidFill>
                  <a:srgbClr val="14213D"/>
                </a:solidFill>
                <a:latin typeface="Arial"/>
              </a:rPr>
              <a:t> A weak or misleading signal tends to cost savings rather than accuracy.</a:t>
            </a:r>
          </a:p>
        </p:txBody>
      </p:sp>
      <p:sp>
        <p:nvSpPr>
          <p:cNvPr id="11" name="TextBox 10"/>
          <p:cNvSpPr txBox="1"/>
          <p:nvPr/>
        </p:nvSpPr>
        <p:spPr>
          <a:xfrm>
            <a:off x="812800" y="6350000"/>
            <a:ext cx="10566400" cy="215900"/>
          </a:xfrm>
          <a:prstGeom prst="rect">
            <a:avLst/>
          </a:prstGeom>
          <a:noFill/>
        </p:spPr>
        <p:txBody>
          <a:bodyPr wrap="square" lIns="0" rIns="0" tIns="0" bIns="0" anchor="t">
            <a:spAutoFit/>
          </a:bodyPr>
          <a:lstStyle/>
          <a:p>
            <a:pPr algn="r">
              <a:lnSpc>
                <a:spcPct val="115000"/>
              </a:lnSpc>
              <a:spcAft>
                <a:spcPts val="0"/>
              </a:spcAft>
            </a:pPr>
            <a:r>
              <a:rPr sz="1200" b="0" i="0">
                <a:solidFill>
                  <a:srgbClr val="6B728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749300"/>
            <a:ext cx="10566400" cy="254000"/>
          </a:xfrm>
          <a:prstGeom prst="rect">
            <a:avLst/>
          </a:prstGeom>
          <a:noFill/>
        </p:spPr>
        <p:txBody>
          <a:bodyPr wrap="square" lIns="0" rIns="0" tIns="0" bIns="0" anchor="t">
            <a:spAutoFit/>
          </a:bodyPr>
          <a:lstStyle/>
          <a:p>
            <a:pPr algn="l">
              <a:lnSpc>
                <a:spcPct val="115000"/>
              </a:lnSpc>
              <a:spcAft>
                <a:spcPts val="0"/>
              </a:spcAft>
            </a:pPr>
            <a:r>
              <a:rPr sz="1200" b="1" i="0">
                <a:solidFill>
                  <a:srgbClr val="B4541A"/>
                </a:solidFill>
                <a:latin typeface="Arial"/>
              </a:rPr>
              <a:t>EXPERIMENTS</a:t>
            </a:r>
          </a:p>
        </p:txBody>
      </p:sp>
      <p:sp>
        <p:nvSpPr>
          <p:cNvPr id="3" name="TextBox 2"/>
          <p:cNvSpPr txBox="1"/>
          <p:nvPr/>
        </p:nvSpPr>
        <p:spPr>
          <a:xfrm>
            <a:off x="812800" y="1016000"/>
            <a:ext cx="10566400" cy="508000"/>
          </a:xfrm>
          <a:prstGeom prst="rect">
            <a:avLst/>
          </a:prstGeom>
          <a:noFill/>
        </p:spPr>
        <p:txBody>
          <a:bodyPr wrap="square" lIns="0" rIns="0" tIns="0" bIns="0" anchor="t">
            <a:spAutoFit/>
          </a:bodyPr>
          <a:lstStyle/>
          <a:p>
            <a:pPr algn="l">
              <a:lnSpc>
                <a:spcPct val="105000"/>
              </a:lnSpc>
              <a:spcAft>
                <a:spcPts val="0"/>
              </a:spcAft>
            </a:pPr>
            <a:r>
              <a:rPr sz="2800" b="1" i="0">
                <a:solidFill>
                  <a:srgbClr val="14213D"/>
                </a:solidFill>
                <a:latin typeface="Georgia"/>
              </a:rPr>
              <a:t>Three open models, four benchmarks, twelve settings</a:t>
            </a:r>
          </a:p>
        </p:txBody>
      </p:sp>
      <p:sp>
        <p:nvSpPr>
          <p:cNvPr id="4" name="Rounded Rectangle 3"/>
          <p:cNvSpPr/>
          <p:nvPr/>
        </p:nvSpPr>
        <p:spPr>
          <a:xfrm>
            <a:off x="812800" y="2032000"/>
            <a:ext cx="3384550" cy="2730500"/>
          </a:xfrm>
          <a:prstGeom prst="roundRect">
            <a:avLst>
              <a:gd name="adj" fmla="val 3720"/>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54000" rIns="254000" tIns="254000" bIns="254000"/>
          <a:lstStyle/>
          <a:p>
            <a:pPr algn="l">
              <a:lnSpc>
                <a:spcPct val="115000"/>
              </a:lnSpc>
              <a:spcAft>
                <a:spcPts val="600"/>
              </a:spcAft>
            </a:pPr>
            <a:r>
              <a:rPr sz="1600" b="1" i="0">
                <a:solidFill>
                  <a:srgbClr val="14213D"/>
                </a:solidFill>
                <a:latin typeface="Arial"/>
              </a:rPr>
              <a:t>Models</a:t>
            </a:r>
          </a:p>
          <a:p>
            <a:pPr algn="l">
              <a:lnSpc>
                <a:spcPct val="115000"/>
              </a:lnSpc>
              <a:spcAft>
                <a:spcPts val="200"/>
              </a:spcAft>
            </a:pPr>
            <a:r>
              <a:rPr sz="1400" b="0" i="0">
                <a:solidFill>
                  <a:srgbClr val="3A4150"/>
                </a:solidFill>
                <a:latin typeface="Arial"/>
              </a:rPr>
              <a:t>gpt-oss-20b</a:t>
            </a:r>
          </a:p>
          <a:p>
            <a:pPr algn="l">
              <a:lnSpc>
                <a:spcPct val="115000"/>
              </a:lnSpc>
              <a:spcAft>
                <a:spcPts val="200"/>
              </a:spcAft>
            </a:pPr>
            <a:r>
              <a:rPr sz="1400" b="0" i="0">
                <a:solidFill>
                  <a:srgbClr val="3A4150"/>
                </a:solidFill>
                <a:latin typeface="Arial"/>
              </a:rPr>
              <a:t>gpt-oss-120b</a:t>
            </a:r>
          </a:p>
          <a:p>
            <a:pPr algn="l">
              <a:lnSpc>
                <a:spcPct val="115000"/>
              </a:lnSpc>
              <a:spcAft>
                <a:spcPts val="1400"/>
              </a:spcAft>
            </a:pPr>
            <a:r>
              <a:rPr sz="1400" b="0" i="0">
                <a:solidFill>
                  <a:srgbClr val="3A4150"/>
                </a:solidFill>
                <a:latin typeface="Arial"/>
              </a:rPr>
              <a:t>Gemma-4-26B-A4B-it</a:t>
            </a:r>
          </a:p>
          <a:p>
            <a:pPr algn="l">
              <a:lnSpc>
                <a:spcPct val="115000"/>
              </a:lnSpc>
              <a:spcAft>
                <a:spcPts val="0"/>
              </a:spcAft>
            </a:pPr>
            <a:r>
              <a:rPr sz="1300" b="0" i="0">
                <a:solidFill>
                  <a:srgbClr val="5B6170"/>
                </a:solidFill>
                <a:latin typeface="Arial"/>
              </a:rPr>
              <a:t>L₀ at the cheapest reasoning setting. L₁ and the team at the default.</a:t>
            </a:r>
          </a:p>
        </p:txBody>
      </p:sp>
      <p:sp>
        <p:nvSpPr>
          <p:cNvPr id="5" name="Rounded Rectangle 4"/>
          <p:cNvSpPr/>
          <p:nvPr/>
        </p:nvSpPr>
        <p:spPr>
          <a:xfrm>
            <a:off x="4400550" y="2032000"/>
            <a:ext cx="3384550" cy="2730500"/>
          </a:xfrm>
          <a:prstGeom prst="roundRect">
            <a:avLst>
              <a:gd name="adj" fmla="val 3720"/>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54000" rIns="254000" tIns="254000" bIns="254000"/>
          <a:lstStyle/>
          <a:p>
            <a:pPr algn="l">
              <a:lnSpc>
                <a:spcPct val="115000"/>
              </a:lnSpc>
              <a:spcAft>
                <a:spcPts val="600"/>
              </a:spcAft>
            </a:pPr>
            <a:r>
              <a:rPr sz="1600" b="1" i="0">
                <a:solidFill>
                  <a:srgbClr val="14213D"/>
                </a:solidFill>
                <a:latin typeface="Arial"/>
              </a:rPr>
              <a:t>Benchmarks</a:t>
            </a:r>
          </a:p>
          <a:p>
            <a:pPr algn="l">
              <a:lnSpc>
                <a:spcPct val="115000"/>
              </a:lnSpc>
              <a:spcAft>
                <a:spcPts val="200"/>
              </a:spcAft>
            </a:pPr>
            <a:r>
              <a:rPr sz="1400" b="0" i="0">
                <a:solidFill>
                  <a:srgbClr val="3A4150"/>
                </a:solidFill>
                <a:latin typeface="Arial"/>
              </a:rPr>
              <a:t>MATH-500 (400)</a:t>
            </a:r>
          </a:p>
          <a:p>
            <a:pPr algn="l">
              <a:lnSpc>
                <a:spcPct val="115000"/>
              </a:lnSpc>
              <a:spcAft>
                <a:spcPts val="200"/>
              </a:spcAft>
            </a:pPr>
            <a:r>
              <a:rPr sz="1400" b="0" i="0">
                <a:solidFill>
                  <a:srgbClr val="3A4150"/>
                </a:solidFill>
                <a:latin typeface="Arial"/>
              </a:rPr>
              <a:t>FRAMES (660, open-book)</a:t>
            </a:r>
          </a:p>
          <a:p>
            <a:pPr algn="l">
              <a:lnSpc>
                <a:spcPct val="115000"/>
              </a:lnSpc>
              <a:spcAft>
                <a:spcPts val="200"/>
              </a:spcAft>
            </a:pPr>
            <a:r>
              <a:rPr sz="1400" b="0" i="0">
                <a:solidFill>
                  <a:srgbClr val="3A4150"/>
                </a:solidFill>
                <a:latin typeface="Arial"/>
              </a:rPr>
              <a:t>MuSiQue (1,934, open-book)</a:t>
            </a:r>
          </a:p>
          <a:p>
            <a:pPr algn="l">
              <a:lnSpc>
                <a:spcPct val="115000"/>
              </a:lnSpc>
              <a:spcAft>
                <a:spcPts val="1400"/>
              </a:spcAft>
            </a:pPr>
            <a:r>
              <a:rPr sz="1400" b="0" i="0">
                <a:solidFill>
                  <a:srgbClr val="3A4150"/>
                </a:solidFill>
                <a:latin typeface="Arial"/>
              </a:rPr>
              <a:t>BBEH (874)</a:t>
            </a:r>
          </a:p>
          <a:p>
            <a:pPr algn="l">
              <a:lnSpc>
                <a:spcPct val="115000"/>
              </a:lnSpc>
              <a:spcAft>
                <a:spcPts val="0"/>
              </a:spcAft>
            </a:pPr>
            <a:r>
              <a:rPr sz="1300" b="0" i="0">
                <a:solidFill>
                  <a:srgbClr val="5B6170"/>
                </a:solidFill>
                <a:latin typeface="Arial"/>
              </a:rPr>
              <a:t>Cost counts all prompt, completion and reasoning tokens.</a:t>
            </a:r>
          </a:p>
        </p:txBody>
      </p:sp>
      <p:sp>
        <p:nvSpPr>
          <p:cNvPr id="6" name="Rounded Rectangle 5"/>
          <p:cNvSpPr/>
          <p:nvPr/>
        </p:nvSpPr>
        <p:spPr>
          <a:xfrm>
            <a:off x="7988300" y="2032000"/>
            <a:ext cx="3384550" cy="2730500"/>
          </a:xfrm>
          <a:prstGeom prst="roundRect">
            <a:avLst>
              <a:gd name="adj" fmla="val 3720"/>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54000" rIns="254000" tIns="254000" bIns="254000"/>
          <a:lstStyle/>
          <a:p>
            <a:pPr algn="l">
              <a:lnSpc>
                <a:spcPct val="115000"/>
              </a:lnSpc>
              <a:spcAft>
                <a:spcPts val="600"/>
              </a:spcAft>
            </a:pPr>
            <a:r>
              <a:rPr sz="1600" b="1" i="0">
                <a:solidFill>
                  <a:srgbClr val="14213D"/>
                </a:solidFill>
                <a:latin typeface="Arial"/>
              </a:rPr>
              <a:t>Replay protocol</a:t>
            </a:r>
          </a:p>
          <a:p>
            <a:pPr algn="l">
              <a:lnSpc>
                <a:spcPct val="115000"/>
              </a:lnSpc>
              <a:spcAft>
                <a:spcPts val="1400"/>
              </a:spcAft>
            </a:pPr>
            <a:r>
              <a:rPr sz="1400" b="0" i="0">
                <a:solidFill>
                  <a:srgbClr val="3A4150"/>
                </a:solidFill>
                <a:latin typeface="Arial"/>
              </a:rPr>
              <a:t>Record every rung and the team on every task. Draw 200 random 50/50 calibration and evaluation splits.</a:t>
            </a:r>
          </a:p>
          <a:p>
            <a:pPr algn="l">
              <a:lnSpc>
                <a:spcPct val="115000"/>
              </a:lnSpc>
              <a:spcAft>
                <a:spcPts val="0"/>
              </a:spcAft>
            </a:pPr>
            <a:r>
              <a:rPr sz="1300" b="0" i="0">
                <a:solidFill>
                  <a:srgbClr val="5B6170"/>
                </a:solidFill>
                <a:latin typeface="Arial"/>
              </a:rPr>
              <a:t>Violation rate: share of splits where the deployed policy loses more than ε on the full pool.</a:t>
            </a:r>
          </a:p>
        </p:txBody>
      </p:sp>
      <p:sp>
        <p:nvSpPr>
          <p:cNvPr id="7" name="TextBox 6"/>
          <p:cNvSpPr txBox="1"/>
          <p:nvPr/>
        </p:nvSpPr>
        <p:spPr>
          <a:xfrm>
            <a:off x="812800" y="6350000"/>
            <a:ext cx="10566400" cy="215900"/>
          </a:xfrm>
          <a:prstGeom prst="rect">
            <a:avLst/>
          </a:prstGeom>
          <a:noFill/>
        </p:spPr>
        <p:txBody>
          <a:bodyPr wrap="square" lIns="0" rIns="0" tIns="0" bIns="0" anchor="t">
            <a:spAutoFit/>
          </a:bodyPr>
          <a:lstStyle/>
          <a:p>
            <a:pPr algn="r">
              <a:lnSpc>
                <a:spcPct val="115000"/>
              </a:lnSpc>
              <a:spcAft>
                <a:spcPts val="0"/>
              </a:spcAft>
            </a:pPr>
            <a:r>
              <a:rPr sz="1200" b="0" i="0">
                <a:solidFill>
                  <a:srgbClr val="6B728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749300"/>
            <a:ext cx="10566400" cy="254000"/>
          </a:xfrm>
          <a:prstGeom prst="rect">
            <a:avLst/>
          </a:prstGeom>
          <a:noFill/>
        </p:spPr>
        <p:txBody>
          <a:bodyPr wrap="square" lIns="0" rIns="0" tIns="0" bIns="0" anchor="t">
            <a:spAutoFit/>
          </a:bodyPr>
          <a:lstStyle/>
          <a:p>
            <a:pPr algn="l">
              <a:lnSpc>
                <a:spcPct val="115000"/>
              </a:lnSpc>
              <a:spcAft>
                <a:spcPts val="0"/>
              </a:spcAft>
            </a:pPr>
            <a:r>
              <a:rPr sz="1200" b="1" i="0">
                <a:solidFill>
                  <a:srgbClr val="B4541A"/>
                </a:solidFill>
                <a:latin typeface="Arial"/>
              </a:rPr>
              <a:t>RESULTS</a:t>
            </a:r>
          </a:p>
        </p:txBody>
      </p:sp>
      <p:sp>
        <p:nvSpPr>
          <p:cNvPr id="3" name="TextBox 2"/>
          <p:cNvSpPr txBox="1"/>
          <p:nvPr/>
        </p:nvSpPr>
        <p:spPr>
          <a:xfrm>
            <a:off x="812800" y="1016000"/>
            <a:ext cx="10566400" cy="508000"/>
          </a:xfrm>
          <a:prstGeom prst="rect">
            <a:avLst/>
          </a:prstGeom>
          <a:noFill/>
        </p:spPr>
        <p:txBody>
          <a:bodyPr wrap="square" lIns="0" rIns="0" tIns="0" bIns="0" anchor="t">
            <a:spAutoFit/>
          </a:bodyPr>
          <a:lstStyle/>
          <a:p>
            <a:pPr algn="l">
              <a:lnSpc>
                <a:spcPct val="105000"/>
              </a:lnSpc>
              <a:spcAft>
                <a:spcPts val="0"/>
              </a:spcAft>
            </a:pPr>
            <a:r>
              <a:rPr sz="2800" b="1" i="0">
                <a:solidFill>
                  <a:srgbClr val="14213D"/>
                </a:solidFill>
                <a:latin typeface="Georgia"/>
              </a:rPr>
              <a:t>The guarantee holds in practice</a:t>
            </a:r>
          </a:p>
        </p:txBody>
      </p:sp>
      <p:sp>
        <p:nvSpPr>
          <p:cNvPr id="4" name="Rounded Rectangle 3"/>
          <p:cNvSpPr/>
          <p:nvPr/>
        </p:nvSpPr>
        <p:spPr>
          <a:xfrm>
            <a:off x="812800" y="2159000"/>
            <a:ext cx="3384550" cy="2413000"/>
          </a:xfrm>
          <a:prstGeom prst="roundRect">
            <a:avLst>
              <a:gd name="adj" fmla="val 4210"/>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54000" rIns="254000" tIns="254000" bIns="254000"/>
          <a:lstStyle/>
          <a:p>
            <a:pPr algn="l">
              <a:lnSpc>
                <a:spcPct val="100000"/>
              </a:lnSpc>
              <a:spcAft>
                <a:spcPts val="800"/>
              </a:spcAft>
            </a:pPr>
            <a:r>
              <a:rPr sz="4800" b="1" i="0">
                <a:solidFill>
                  <a:srgbClr val="2F6B34"/>
                </a:solidFill>
                <a:latin typeface="Georgia"/>
              </a:rPr>
              <a:t>≤ 3.4%</a:t>
            </a:r>
          </a:p>
          <a:p>
            <a:pPr algn="l">
              <a:lnSpc>
                <a:spcPct val="115000"/>
              </a:lnSpc>
              <a:spcAft>
                <a:spcPts val="0"/>
              </a:spcAft>
            </a:pPr>
            <a:r>
              <a:rPr sz="1500" b="0" i="0">
                <a:solidFill>
                  <a:srgbClr val="3A4150"/>
                </a:solidFill>
                <a:latin typeface="Arial"/>
              </a:rPr>
              <a:t>failure rate over 5,000 i.i.d. calibration draws per setting and tolerance, against δ = 10%</a:t>
            </a:r>
          </a:p>
        </p:txBody>
      </p:sp>
      <p:sp>
        <p:nvSpPr>
          <p:cNvPr id="5" name="Rounded Rectangle 4"/>
          <p:cNvSpPr/>
          <p:nvPr/>
        </p:nvSpPr>
        <p:spPr>
          <a:xfrm>
            <a:off x="4400550" y="2159000"/>
            <a:ext cx="3384550" cy="2413000"/>
          </a:xfrm>
          <a:prstGeom prst="roundRect">
            <a:avLst>
              <a:gd name="adj" fmla="val 4210"/>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54000" rIns="254000" tIns="254000" bIns="254000"/>
          <a:lstStyle/>
          <a:p>
            <a:pPr algn="l">
              <a:lnSpc>
                <a:spcPct val="100000"/>
              </a:lnSpc>
              <a:spcAft>
                <a:spcPts val="800"/>
              </a:spcAft>
            </a:pPr>
            <a:r>
              <a:rPr sz="4800" b="1" i="0">
                <a:solidFill>
                  <a:srgbClr val="2F6B34"/>
                </a:solidFill>
                <a:latin typeface="Georgia"/>
              </a:rPr>
              <a:t>≤ 2%</a:t>
            </a:r>
          </a:p>
          <a:p>
            <a:pPr algn="l">
              <a:lnSpc>
                <a:spcPct val="115000"/>
              </a:lnSpc>
              <a:spcAft>
                <a:spcPts val="0"/>
              </a:spcAft>
            </a:pPr>
            <a:r>
              <a:rPr sz="1500" b="0" i="0">
                <a:solidFill>
                  <a:srgbClr val="3A4150"/>
                </a:solidFill>
                <a:latin typeface="Arial"/>
              </a:rPr>
              <a:t>violation rate in the replay at ε = 2, 5 and 10%, and 3% anywhere in the tolerance sweep</a:t>
            </a:r>
          </a:p>
        </p:txBody>
      </p:sp>
      <p:sp>
        <p:nvSpPr>
          <p:cNvPr id="6" name="Rounded Rectangle 5"/>
          <p:cNvSpPr/>
          <p:nvPr/>
        </p:nvSpPr>
        <p:spPr>
          <a:xfrm>
            <a:off x="7988300" y="2159000"/>
            <a:ext cx="3384550" cy="2413000"/>
          </a:xfrm>
          <a:prstGeom prst="roundRect">
            <a:avLst>
              <a:gd name="adj" fmla="val 4210"/>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54000" rIns="254000" tIns="254000" bIns="254000"/>
          <a:lstStyle/>
          <a:p>
            <a:pPr algn="l">
              <a:lnSpc>
                <a:spcPct val="100000"/>
              </a:lnSpc>
              <a:spcAft>
                <a:spcPts val="800"/>
              </a:spcAft>
            </a:pPr>
            <a:r>
              <a:rPr sz="4800" b="1" i="0">
                <a:solidFill>
                  <a:srgbClr val="2F6B34"/>
                </a:solidFill>
                <a:latin typeface="Georgia"/>
              </a:rPr>
              <a:t>12 / 12</a:t>
            </a:r>
          </a:p>
          <a:p>
            <a:pPr algn="l">
              <a:lnSpc>
                <a:spcPct val="115000"/>
              </a:lnSpc>
              <a:spcAft>
                <a:spcPts val="0"/>
              </a:spcAft>
            </a:pPr>
            <a:r>
              <a:rPr sz="1500" b="0" i="0">
                <a:solidFill>
                  <a:srgbClr val="3A4150"/>
                </a:solidFill>
                <a:latin typeface="Arial"/>
              </a:rPr>
              <a:t>settings where the mean loss stays within ε: at most 2.8 points at ε = 5%, 7.2 at 10%</a:t>
            </a:r>
          </a:p>
        </p:txBody>
      </p:sp>
      <p:sp>
        <p:nvSpPr>
          <p:cNvPr id="7" name="TextBox 6"/>
          <p:cNvSpPr txBox="1"/>
          <p:nvPr/>
        </p:nvSpPr>
        <p:spPr>
          <a:xfrm>
            <a:off x="812800" y="6350000"/>
            <a:ext cx="10566400" cy="215900"/>
          </a:xfrm>
          <a:prstGeom prst="rect">
            <a:avLst/>
          </a:prstGeom>
          <a:noFill/>
        </p:spPr>
        <p:txBody>
          <a:bodyPr wrap="square" lIns="0" rIns="0" tIns="0" bIns="0" anchor="t">
            <a:spAutoFit/>
          </a:bodyPr>
          <a:lstStyle/>
          <a:p>
            <a:pPr algn="r">
              <a:lnSpc>
                <a:spcPct val="115000"/>
              </a:lnSpc>
              <a:spcAft>
                <a:spcPts val="0"/>
              </a:spcAft>
            </a:pPr>
            <a:r>
              <a:rPr sz="1200" b="0" i="0">
                <a:solidFill>
                  <a:srgbClr val="6B728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749300"/>
            <a:ext cx="10566400" cy="254000"/>
          </a:xfrm>
          <a:prstGeom prst="rect">
            <a:avLst/>
          </a:prstGeom>
          <a:noFill/>
        </p:spPr>
        <p:txBody>
          <a:bodyPr wrap="square" lIns="0" rIns="0" tIns="0" bIns="0" anchor="t">
            <a:spAutoFit/>
          </a:bodyPr>
          <a:lstStyle/>
          <a:p>
            <a:pPr algn="l">
              <a:lnSpc>
                <a:spcPct val="115000"/>
              </a:lnSpc>
              <a:spcAft>
                <a:spcPts val="0"/>
              </a:spcAft>
            </a:pPr>
            <a:r>
              <a:rPr sz="1200" b="1" i="0">
                <a:solidFill>
                  <a:srgbClr val="B4541A"/>
                </a:solidFill>
                <a:latin typeface="Arial"/>
              </a:rPr>
              <a:t>RESULTS</a:t>
            </a:r>
          </a:p>
        </p:txBody>
      </p:sp>
      <p:sp>
        <p:nvSpPr>
          <p:cNvPr id="3" name="TextBox 2"/>
          <p:cNvSpPr txBox="1"/>
          <p:nvPr/>
        </p:nvSpPr>
        <p:spPr>
          <a:xfrm>
            <a:off x="812800" y="1016000"/>
            <a:ext cx="10566400" cy="508000"/>
          </a:xfrm>
          <a:prstGeom prst="rect">
            <a:avLst/>
          </a:prstGeom>
          <a:noFill/>
        </p:spPr>
        <p:txBody>
          <a:bodyPr wrap="square" lIns="0" rIns="0" tIns="0" bIns="0" anchor="t">
            <a:spAutoFit/>
          </a:bodyPr>
          <a:lstStyle/>
          <a:p>
            <a:pPr algn="l">
              <a:lnSpc>
                <a:spcPct val="105000"/>
              </a:lnSpc>
              <a:spcAft>
                <a:spcPts val="0"/>
              </a:spcAft>
            </a:pPr>
            <a:r>
              <a:rPr sz="2800" b="1" i="0">
                <a:solidFill>
                  <a:srgbClr val="14213D"/>
                </a:solidFill>
                <a:latin typeface="Georgia"/>
              </a:rPr>
              <a:t>The tolerance sets the price of the savings</a:t>
            </a:r>
          </a:p>
        </p:txBody>
      </p:sp>
      <p:pic>
        <p:nvPicPr>
          <p:cNvPr id="4" name="Picture 3" descr="tradeoff_a.png"/>
          <p:cNvPicPr>
            <a:picLocks noChangeAspect="1"/>
          </p:cNvPicPr>
          <p:nvPr/>
        </p:nvPicPr>
        <p:blipFill>
          <a:blip r:embed="rId3"/>
          <a:stretch>
            <a:fillRect/>
          </a:stretch>
        </p:blipFill>
        <p:spPr>
          <a:xfrm>
            <a:off x="812800" y="1968500"/>
            <a:ext cx="6286500" cy="3810000"/>
          </a:xfrm>
          <a:prstGeom prst="rect">
            <a:avLst/>
          </a:prstGeom>
        </p:spPr>
      </p:pic>
      <p:sp>
        <p:nvSpPr>
          <p:cNvPr id="5" name="TextBox 4"/>
          <p:cNvSpPr txBox="1"/>
          <p:nvPr/>
        </p:nvSpPr>
        <p:spPr>
          <a:xfrm>
            <a:off x="7493000" y="2159000"/>
            <a:ext cx="3886200" cy="1016000"/>
          </a:xfrm>
          <a:prstGeom prst="rect">
            <a:avLst/>
          </a:prstGeom>
          <a:noFill/>
        </p:spPr>
        <p:txBody>
          <a:bodyPr wrap="square" lIns="0" rIns="0" tIns="0" bIns="0" anchor="t">
            <a:spAutoFit/>
          </a:bodyPr>
          <a:lstStyle/>
          <a:p>
            <a:pPr algn="l">
              <a:lnSpc>
                <a:spcPct val="115000"/>
              </a:lnSpc>
              <a:spcAft>
                <a:spcPts val="400"/>
              </a:spcAft>
            </a:pPr>
            <a:r>
              <a:rPr sz="1400" b="0" i="0">
                <a:solidFill>
                  <a:srgbClr val="5B6170"/>
                </a:solidFill>
                <a:latin typeface="Arial"/>
              </a:rPr>
              <a:t>ε = 2%</a:t>
            </a:r>
          </a:p>
          <a:p>
            <a:pPr algn="l">
              <a:lnSpc>
                <a:spcPct val="100000"/>
              </a:lnSpc>
              <a:spcAft>
                <a:spcPts val="800"/>
              </a:spcAft>
            </a:pPr>
            <a:r>
              <a:rPr sz="2800" b="1" i="0">
                <a:solidFill>
                  <a:srgbClr val="14213D"/>
                </a:solidFill>
                <a:latin typeface="Georgia"/>
              </a:rPr>
              <a:t>97% of tokens</a:t>
            </a:r>
          </a:p>
        </p:txBody>
      </p:sp>
      <p:sp>
        <p:nvSpPr>
          <p:cNvPr id="6" name="Rectangle 5"/>
          <p:cNvSpPr/>
          <p:nvPr/>
        </p:nvSpPr>
        <p:spPr>
          <a:xfrm>
            <a:off x="7493000" y="3175000"/>
            <a:ext cx="3886200" cy="12700"/>
          </a:xfrm>
          <a:prstGeom prst="rect">
            <a:avLst/>
          </a:prstGeom>
          <a:solidFill>
            <a:srgbClr val="DDD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3000" y="3365500"/>
            <a:ext cx="3886200" cy="1016000"/>
          </a:xfrm>
          <a:prstGeom prst="rect">
            <a:avLst/>
          </a:prstGeom>
          <a:noFill/>
        </p:spPr>
        <p:txBody>
          <a:bodyPr wrap="square" lIns="0" rIns="0" tIns="0" bIns="0" anchor="t">
            <a:spAutoFit/>
          </a:bodyPr>
          <a:lstStyle/>
          <a:p>
            <a:pPr algn="l">
              <a:lnSpc>
                <a:spcPct val="115000"/>
              </a:lnSpc>
              <a:spcAft>
                <a:spcPts val="400"/>
              </a:spcAft>
            </a:pPr>
            <a:r>
              <a:rPr sz="1400" b="0" i="0">
                <a:solidFill>
                  <a:srgbClr val="5B6170"/>
                </a:solidFill>
                <a:latin typeface="Arial"/>
              </a:rPr>
              <a:t>ε = 5%, range 31–96%</a:t>
            </a:r>
          </a:p>
          <a:p>
            <a:pPr algn="l">
              <a:lnSpc>
                <a:spcPct val="100000"/>
              </a:lnSpc>
              <a:spcAft>
                <a:spcPts val="800"/>
              </a:spcAft>
            </a:pPr>
            <a:r>
              <a:rPr sz="2800" b="1" i="0">
                <a:solidFill>
                  <a:srgbClr val="B4541A"/>
                </a:solidFill>
                <a:latin typeface="Georgia"/>
              </a:rPr>
              <a:t>62% · saves 38%</a:t>
            </a:r>
          </a:p>
        </p:txBody>
      </p:sp>
      <p:sp>
        <p:nvSpPr>
          <p:cNvPr id="8" name="Rectangle 7"/>
          <p:cNvSpPr/>
          <p:nvPr/>
        </p:nvSpPr>
        <p:spPr>
          <a:xfrm>
            <a:off x="7493000" y="4381500"/>
            <a:ext cx="3886200" cy="12700"/>
          </a:xfrm>
          <a:prstGeom prst="rect">
            <a:avLst/>
          </a:prstGeom>
          <a:solidFill>
            <a:srgbClr val="DDD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3000" y="4572000"/>
            <a:ext cx="3886200" cy="1016000"/>
          </a:xfrm>
          <a:prstGeom prst="rect">
            <a:avLst/>
          </a:prstGeom>
          <a:noFill/>
        </p:spPr>
        <p:txBody>
          <a:bodyPr wrap="square" lIns="0" rIns="0" tIns="0" bIns="0" anchor="t">
            <a:spAutoFit/>
          </a:bodyPr>
          <a:lstStyle/>
          <a:p>
            <a:pPr algn="l">
              <a:lnSpc>
                <a:spcPct val="115000"/>
              </a:lnSpc>
              <a:spcAft>
                <a:spcPts val="400"/>
              </a:spcAft>
            </a:pPr>
            <a:r>
              <a:rPr sz="1400" b="0" i="0">
                <a:solidFill>
                  <a:srgbClr val="5B6170"/>
                </a:solidFill>
                <a:latin typeface="Arial"/>
              </a:rPr>
              <a:t>ε = 10%, range 18–62%</a:t>
            </a:r>
          </a:p>
          <a:p>
            <a:pPr algn="l">
              <a:lnSpc>
                <a:spcPct val="100000"/>
              </a:lnSpc>
              <a:spcAft>
                <a:spcPts val="800"/>
              </a:spcAft>
            </a:pPr>
            <a:r>
              <a:rPr sz="2800" b="1" i="0">
                <a:solidFill>
                  <a:srgbClr val="B4541A"/>
                </a:solidFill>
                <a:latin typeface="Georgia"/>
              </a:rPr>
              <a:t>35% · saves 65%</a:t>
            </a:r>
          </a:p>
        </p:txBody>
      </p:sp>
      <p:sp>
        <p:nvSpPr>
          <p:cNvPr id="10" name="TextBox 9"/>
          <p:cNvSpPr txBox="1"/>
          <p:nvPr/>
        </p:nvSpPr>
        <p:spPr>
          <a:xfrm>
            <a:off x="812800" y="6350000"/>
            <a:ext cx="10566400" cy="215900"/>
          </a:xfrm>
          <a:prstGeom prst="rect">
            <a:avLst/>
          </a:prstGeom>
          <a:noFill/>
        </p:spPr>
        <p:txBody>
          <a:bodyPr wrap="square" lIns="0" rIns="0" tIns="0" bIns="0" anchor="t">
            <a:spAutoFit/>
          </a:bodyPr>
          <a:lstStyle/>
          <a:p>
            <a:pPr algn="r">
              <a:lnSpc>
                <a:spcPct val="115000"/>
              </a:lnSpc>
              <a:spcAft>
                <a:spcPts val="0"/>
              </a:spcAft>
            </a:pPr>
            <a:r>
              <a:rPr sz="1200" b="0" i="0">
                <a:solidFill>
                  <a:srgbClr val="6B728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749300"/>
            <a:ext cx="10566400" cy="254000"/>
          </a:xfrm>
          <a:prstGeom prst="rect">
            <a:avLst/>
          </a:prstGeom>
          <a:noFill/>
        </p:spPr>
        <p:txBody>
          <a:bodyPr wrap="square" lIns="0" rIns="0" tIns="0" bIns="0" anchor="t">
            <a:spAutoFit/>
          </a:bodyPr>
          <a:lstStyle/>
          <a:p>
            <a:pPr algn="l">
              <a:lnSpc>
                <a:spcPct val="115000"/>
              </a:lnSpc>
              <a:spcAft>
                <a:spcPts val="0"/>
              </a:spcAft>
            </a:pPr>
            <a:r>
              <a:rPr sz="1200" b="1" i="0">
                <a:solidFill>
                  <a:srgbClr val="B4541A"/>
                </a:solidFill>
                <a:latin typeface="Arial"/>
              </a:rPr>
              <a:t>RESULTS</a:t>
            </a:r>
          </a:p>
        </p:txBody>
      </p:sp>
      <p:sp>
        <p:nvSpPr>
          <p:cNvPr id="3" name="TextBox 2"/>
          <p:cNvSpPr txBox="1"/>
          <p:nvPr/>
        </p:nvSpPr>
        <p:spPr>
          <a:xfrm>
            <a:off x="812800" y="1016000"/>
            <a:ext cx="10566400" cy="508000"/>
          </a:xfrm>
          <a:prstGeom prst="rect">
            <a:avLst/>
          </a:prstGeom>
          <a:noFill/>
        </p:spPr>
        <p:txBody>
          <a:bodyPr wrap="square" lIns="0" rIns="0" tIns="0" bIns="0" anchor="t">
            <a:spAutoFit/>
          </a:bodyPr>
          <a:lstStyle/>
          <a:p>
            <a:pPr algn="l">
              <a:lnSpc>
                <a:spcPct val="105000"/>
              </a:lnSpc>
              <a:spcAft>
                <a:spcPts val="0"/>
              </a:spcAft>
            </a:pPr>
            <a:r>
              <a:rPr sz="2800" b="1" i="0">
                <a:solidFill>
                  <a:srgbClr val="14213D"/>
                </a:solidFill>
                <a:latin typeface="Georgia"/>
              </a:rPr>
              <a:t>Per-setting results</a:t>
            </a:r>
          </a:p>
        </p:txBody>
      </p:sp>
      <p:graphicFrame>
        <p:nvGraphicFramePr>
          <p:cNvPr id="4" name="Table 3"/>
          <p:cNvGraphicFramePr>
            <a:graphicFrameLocks noGrp="1"/>
          </p:cNvGraphicFramePr>
          <p:nvPr/>
        </p:nvGraphicFramePr>
        <p:xfrm>
          <a:off x="812800" y="1714500"/>
          <a:ext cx="10566400" cy="4127500"/>
        </p:xfrm>
        <a:graphic>
          <a:graphicData uri="http://schemas.openxmlformats.org/drawingml/2006/table">
            <a:tbl>
              <a:tblPr firstRow="1" bandRow="1">
                <a:tableStyleId>{5C22544A-7EE6-4342-B048-85BDC9FD1C3A}</a:tableStyleId>
              </a:tblPr>
              <a:tblGrid>
                <a:gridCol w="2324608"/>
                <a:gridCol w="1479296"/>
                <a:gridCol w="2007616"/>
                <a:gridCol w="1796288"/>
                <a:gridCol w="1796288"/>
                <a:gridCol w="1162304"/>
              </a:tblGrid>
              <a:tr h="317500">
                <a:tc>
                  <a:txBody>
                    <a:bodyPr wrap="square" lIns="88900" rIns="88900" tIns="0" bIns="0"/>
                    <a:lstStyle/>
                    <a:p>
                      <a:pPr algn="l">
                        <a:lnSpc>
                          <a:spcPct val="115000"/>
                        </a:lnSpc>
                        <a:spcAft>
                          <a:spcPts val="0"/>
                        </a:spcAft>
                      </a:pPr>
                      <a:r>
                        <a:rPr sz="1300" b="1" i="0">
                          <a:solidFill>
                            <a:srgbClr val="F7F6F2"/>
                          </a:solidFill>
                          <a:latin typeface="Arial"/>
                        </a:rPr>
                        <a:t>Model</a:t>
                      </a:r>
                    </a:p>
                  </a:txBody>
                  <a:tcPr marL="88900" marR="88900" marT="25400" marB="25400" anchor="ctr">
                    <a:solidFill>
                      <a:srgbClr val="14213D"/>
                    </a:solidFill>
                  </a:tcPr>
                </a:tc>
                <a:tc>
                  <a:txBody>
                    <a:bodyPr wrap="square" lIns="88900" rIns="88900" tIns="0" bIns="0"/>
                    <a:lstStyle/>
                    <a:p>
                      <a:pPr algn="l">
                        <a:lnSpc>
                          <a:spcPct val="115000"/>
                        </a:lnSpc>
                        <a:spcAft>
                          <a:spcPts val="0"/>
                        </a:spcAft>
                      </a:pPr>
                      <a:r>
                        <a:rPr sz="1300" b="1" i="0">
                          <a:solidFill>
                            <a:srgbClr val="F7F6F2"/>
                          </a:solidFill>
                          <a:latin typeface="Arial"/>
                        </a:rPr>
                        <a:t>Benchmark</a:t>
                      </a:r>
                    </a:p>
                  </a:txBody>
                  <a:tcPr marL="88900" marR="88900" marT="25400" marB="25400" anchor="ctr">
                    <a:solidFill>
                      <a:srgbClr val="14213D"/>
                    </a:solidFill>
                  </a:tcPr>
                </a:tc>
                <a:tc>
                  <a:txBody>
                    <a:bodyPr wrap="square" lIns="88900" rIns="88900" tIns="0" bIns="0"/>
                    <a:lstStyle/>
                    <a:p>
                      <a:pPr algn="r">
                        <a:lnSpc>
                          <a:spcPct val="115000"/>
                        </a:lnSpc>
                        <a:spcAft>
                          <a:spcPts val="0"/>
                        </a:spcAft>
                      </a:pPr>
                      <a:r>
                        <a:rPr sz="1300" b="1" i="0">
                          <a:solidFill>
                            <a:srgbClr val="F7F6F2"/>
                          </a:solidFill>
                          <a:latin typeface="Arial"/>
                        </a:rPr>
                        <a:t>Team (acc / tokens)</a:t>
                      </a:r>
                    </a:p>
                  </a:txBody>
                  <a:tcPr marL="88900" marR="88900" marT="25400" marB="25400" anchor="ctr">
                    <a:solidFill>
                      <a:srgbClr val="14213D"/>
                    </a:solidFill>
                  </a:tcPr>
                </a:tc>
                <a:tc>
                  <a:txBody>
                    <a:bodyPr wrap="square" lIns="88900" rIns="88900" tIns="0" bIns="0"/>
                    <a:lstStyle/>
                    <a:p>
                      <a:pPr algn="r">
                        <a:lnSpc>
                          <a:spcPct val="115000"/>
                        </a:lnSpc>
                        <a:spcAft>
                          <a:spcPts val="0"/>
                        </a:spcAft>
                      </a:pPr>
                      <a:r>
                        <a:rPr sz="1300" b="1" i="0">
                          <a:solidFill>
                            <a:srgbClr val="F7F6F2"/>
                          </a:solidFill>
                          <a:latin typeface="Arial"/>
                        </a:rPr>
                        <a:t>ε = 5%</a:t>
                      </a:r>
                    </a:p>
                  </a:txBody>
                  <a:tcPr marL="88900" marR="88900" marT="25400" marB="25400" anchor="ctr">
                    <a:solidFill>
                      <a:srgbClr val="14213D"/>
                    </a:solidFill>
                  </a:tcPr>
                </a:tc>
                <a:tc>
                  <a:txBody>
                    <a:bodyPr wrap="square" lIns="88900" rIns="88900" tIns="0" bIns="0"/>
                    <a:lstStyle/>
                    <a:p>
                      <a:pPr algn="r">
                        <a:lnSpc>
                          <a:spcPct val="115000"/>
                        </a:lnSpc>
                        <a:spcAft>
                          <a:spcPts val="0"/>
                        </a:spcAft>
                      </a:pPr>
                      <a:r>
                        <a:rPr sz="1300" b="1" i="0">
                          <a:solidFill>
                            <a:srgbClr val="F7F6F2"/>
                          </a:solidFill>
                          <a:latin typeface="Arial"/>
                        </a:rPr>
                        <a:t>ε = 10%</a:t>
                      </a:r>
                    </a:p>
                  </a:txBody>
                  <a:tcPr marL="88900" marR="88900" marT="25400" marB="25400" anchor="ctr">
                    <a:solidFill>
                      <a:srgbClr val="14213D"/>
                    </a:solidFill>
                  </a:tcPr>
                </a:tc>
                <a:tc>
                  <a:txBody>
                    <a:bodyPr wrap="square" lIns="88900" rIns="88900" tIns="0" bIns="0"/>
                    <a:lstStyle/>
                    <a:p>
                      <a:pPr algn="r">
                        <a:lnSpc>
                          <a:spcPct val="115000"/>
                        </a:lnSpc>
                        <a:spcAft>
                          <a:spcPts val="0"/>
                        </a:spcAft>
                      </a:pPr>
                      <a:r>
                        <a:rPr sz="1300" b="1" i="0">
                          <a:solidFill>
                            <a:srgbClr val="F7F6F2"/>
                          </a:solidFill>
                          <a:latin typeface="Arial"/>
                        </a:rPr>
                        <a:t>Viol.</a:t>
                      </a:r>
                    </a:p>
                  </a:txBody>
                  <a:tcPr marL="88900" marR="88900" marT="25400" marB="25400" anchor="ctr">
                    <a:solidFill>
                      <a:srgbClr val="14213D"/>
                    </a:solidFill>
                  </a:tcPr>
                </a:tc>
              </a:tr>
              <a:tr h="317500">
                <a:tc>
                  <a:txBody>
                    <a:bodyPr wrap="square" lIns="88900" rIns="88900" tIns="0" bIns="0"/>
                    <a:lstStyle/>
                    <a:p>
                      <a:pPr algn="l">
                        <a:lnSpc>
                          <a:spcPct val="115000"/>
                        </a:lnSpc>
                        <a:spcAft>
                          <a:spcPts val="0"/>
                        </a:spcAft>
                      </a:pPr>
                      <a:r>
                        <a:rPr sz="1300" b="0" i="0">
                          <a:solidFill>
                            <a:srgbClr val="3A4150"/>
                          </a:solidFill>
                          <a:latin typeface="Arial"/>
                        </a:rPr>
                        <a:t>gpt-oss-20b</a:t>
                      </a:r>
                    </a:p>
                  </a:txBody>
                  <a:tcPr marL="88900" marR="88900" marT="25400" marB="25400" anchor="ctr">
                    <a:solidFill>
                      <a:srgbClr val="FDFCF9"/>
                    </a:solidFill>
                  </a:tcPr>
                </a:tc>
                <a:tc>
                  <a:txBody>
                    <a:bodyPr wrap="square" lIns="88900" rIns="88900" tIns="0" bIns="0"/>
                    <a:lstStyle/>
                    <a:p>
                      <a:pPr algn="l">
                        <a:lnSpc>
                          <a:spcPct val="115000"/>
                        </a:lnSpc>
                        <a:spcAft>
                          <a:spcPts val="0"/>
                        </a:spcAft>
                      </a:pPr>
                      <a:r>
                        <a:rPr sz="1300" b="0" i="0">
                          <a:solidFill>
                            <a:srgbClr val="3A4150"/>
                          </a:solidFill>
                          <a:latin typeface="Arial"/>
                        </a:rPr>
                        <a:t>MATH</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94.8 / 6.1k</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92.9 / 62%</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89.6 / 33%</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0.0%</a:t>
                      </a:r>
                    </a:p>
                  </a:txBody>
                  <a:tcPr marL="88900" marR="88900" marT="25400" marB="25400" anchor="ctr">
                    <a:solidFill>
                      <a:srgbClr val="FDFCF9"/>
                    </a:solidFill>
                  </a:tcPr>
                </a:tc>
              </a:tr>
              <a:tr h="317500">
                <a:tc>
                  <a:txBody>
                    <a:bodyPr wrap="square" lIns="88900" rIns="88900" tIns="0" bIns="0"/>
                    <a:lstStyle/>
                    <a:p>
                      <a:pPr algn="l">
                        <a:lnSpc>
                          <a:spcPct val="115000"/>
                        </a:lnSpc>
                        <a:spcAft>
                          <a:spcPts val="0"/>
                        </a:spcAft>
                      </a:pPr>
                    </a:p>
                  </a:txBody>
                  <a:tcPr marL="88900" marR="88900" marT="25400" marB="25400" anchor="ctr">
                    <a:solidFill>
                      <a:srgbClr val="ECEAE3"/>
                    </a:solidFill>
                  </a:tcPr>
                </a:tc>
                <a:tc>
                  <a:txBody>
                    <a:bodyPr wrap="square" lIns="88900" rIns="88900" tIns="0" bIns="0"/>
                    <a:lstStyle/>
                    <a:p>
                      <a:pPr algn="l">
                        <a:lnSpc>
                          <a:spcPct val="115000"/>
                        </a:lnSpc>
                        <a:spcAft>
                          <a:spcPts val="0"/>
                        </a:spcAft>
                      </a:pPr>
                      <a:r>
                        <a:rPr sz="1300" b="0" i="0">
                          <a:solidFill>
                            <a:srgbClr val="3A4150"/>
                          </a:solidFill>
                          <a:latin typeface="Arial"/>
                        </a:rPr>
                        <a:t>FRAMES</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76.1 / 93.9k</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73.6 / 66%</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70.8 / 33%</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1.0%</a:t>
                      </a:r>
                    </a:p>
                  </a:txBody>
                  <a:tcPr marL="88900" marR="88900" marT="25400" marB="25400" anchor="ctr">
                    <a:solidFill>
                      <a:srgbClr val="ECEAE3"/>
                    </a:solidFill>
                  </a:tcPr>
                </a:tc>
              </a:tr>
              <a:tr h="317500">
                <a:tc>
                  <a:txBody>
                    <a:bodyPr wrap="square" lIns="88900" rIns="88900" tIns="0" bIns="0"/>
                    <a:lstStyle/>
                    <a:p>
                      <a:pPr algn="l">
                        <a:lnSpc>
                          <a:spcPct val="115000"/>
                        </a:lnSpc>
                        <a:spcAft>
                          <a:spcPts val="0"/>
                        </a:spcAft>
                      </a:pPr>
                    </a:p>
                  </a:txBody>
                  <a:tcPr marL="88900" marR="88900" marT="25400" marB="25400" anchor="ctr">
                    <a:solidFill>
                      <a:srgbClr val="FDFCF9"/>
                    </a:solidFill>
                  </a:tcPr>
                </a:tc>
                <a:tc>
                  <a:txBody>
                    <a:bodyPr wrap="square" lIns="88900" rIns="88900" tIns="0" bIns="0"/>
                    <a:lstStyle/>
                    <a:p>
                      <a:pPr algn="l">
                        <a:lnSpc>
                          <a:spcPct val="115000"/>
                        </a:lnSpc>
                        <a:spcAft>
                          <a:spcPts val="0"/>
                        </a:spcAft>
                      </a:pPr>
                      <a:r>
                        <a:rPr sz="1300" b="0" i="0">
                          <a:solidFill>
                            <a:srgbClr val="3A4150"/>
                          </a:solidFill>
                          <a:latin typeface="Arial"/>
                        </a:rPr>
                        <a:t>MuSiQue</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64.9 / 15.0k</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63.0 / 44%</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58.1 / 31%</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1.0%</a:t>
                      </a:r>
                    </a:p>
                  </a:txBody>
                  <a:tcPr marL="88900" marR="88900" marT="25400" marB="25400" anchor="ctr">
                    <a:solidFill>
                      <a:srgbClr val="FDFCF9"/>
                    </a:solidFill>
                  </a:tcPr>
                </a:tc>
              </a:tr>
              <a:tr h="317500">
                <a:tc>
                  <a:txBody>
                    <a:bodyPr wrap="square" lIns="88900" rIns="88900" tIns="0" bIns="0"/>
                    <a:lstStyle/>
                    <a:p>
                      <a:pPr algn="l">
                        <a:lnSpc>
                          <a:spcPct val="115000"/>
                        </a:lnSpc>
                        <a:spcAft>
                          <a:spcPts val="0"/>
                        </a:spcAft>
                      </a:pPr>
                    </a:p>
                  </a:txBody>
                  <a:tcPr marL="88900" marR="88900" marT="25400" marB="25400" anchor="ctr">
                    <a:solidFill>
                      <a:srgbClr val="ECEAE3"/>
                    </a:solidFill>
                  </a:tcPr>
                </a:tc>
                <a:tc>
                  <a:txBody>
                    <a:bodyPr wrap="square" lIns="88900" rIns="88900" tIns="0" bIns="0"/>
                    <a:lstStyle/>
                    <a:p>
                      <a:pPr algn="l">
                        <a:lnSpc>
                          <a:spcPct val="115000"/>
                        </a:lnSpc>
                        <a:spcAft>
                          <a:spcPts val="0"/>
                        </a:spcAft>
                      </a:pPr>
                      <a:r>
                        <a:rPr sz="1300" b="0" i="0">
                          <a:solidFill>
                            <a:srgbClr val="3A4150"/>
                          </a:solidFill>
                          <a:latin typeface="Arial"/>
                        </a:rPr>
                        <a:t>BBEH</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28.0 / 59.7k</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26.2 / 63%</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24.7 / 22%</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2.0%</a:t>
                      </a:r>
                    </a:p>
                  </a:txBody>
                  <a:tcPr marL="88900" marR="88900" marT="25400" marB="25400" anchor="ctr">
                    <a:solidFill>
                      <a:srgbClr val="ECEAE3"/>
                    </a:solidFill>
                  </a:tcPr>
                </a:tc>
              </a:tr>
              <a:tr h="317500">
                <a:tc>
                  <a:txBody>
                    <a:bodyPr wrap="square" lIns="88900" rIns="88900" tIns="0" bIns="0"/>
                    <a:lstStyle/>
                    <a:p>
                      <a:pPr algn="l">
                        <a:lnSpc>
                          <a:spcPct val="115000"/>
                        </a:lnSpc>
                        <a:spcAft>
                          <a:spcPts val="0"/>
                        </a:spcAft>
                      </a:pPr>
                      <a:r>
                        <a:rPr sz="1300" b="0" i="0">
                          <a:solidFill>
                            <a:srgbClr val="3A4150"/>
                          </a:solidFill>
                          <a:latin typeface="Arial"/>
                        </a:rPr>
                        <a:t>gpt-oss-120b</a:t>
                      </a:r>
                    </a:p>
                  </a:txBody>
                  <a:tcPr marL="88900" marR="88900" marT="25400" marB="25400" anchor="ctr">
                    <a:solidFill>
                      <a:srgbClr val="FDFCF9"/>
                    </a:solidFill>
                  </a:tcPr>
                </a:tc>
                <a:tc>
                  <a:txBody>
                    <a:bodyPr wrap="square" lIns="88900" rIns="88900" tIns="0" bIns="0"/>
                    <a:lstStyle/>
                    <a:p>
                      <a:pPr algn="l">
                        <a:lnSpc>
                          <a:spcPct val="115000"/>
                        </a:lnSpc>
                        <a:spcAft>
                          <a:spcPts val="0"/>
                        </a:spcAft>
                      </a:pPr>
                      <a:r>
                        <a:rPr sz="1300" b="0" i="0">
                          <a:solidFill>
                            <a:srgbClr val="3A4150"/>
                          </a:solidFill>
                          <a:latin typeface="Arial"/>
                        </a:rPr>
                        <a:t>MATH</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97.0 / 5.4k</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95.3 / 41%</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92.7 / 18%</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0.0%</a:t>
                      </a:r>
                    </a:p>
                  </a:txBody>
                  <a:tcPr marL="88900" marR="88900" marT="25400" marB="25400" anchor="ctr">
                    <a:solidFill>
                      <a:srgbClr val="FDFCF9"/>
                    </a:solidFill>
                  </a:tcPr>
                </a:tc>
              </a:tr>
              <a:tr h="317500">
                <a:tc>
                  <a:txBody>
                    <a:bodyPr wrap="square" lIns="88900" rIns="88900" tIns="0" bIns="0"/>
                    <a:lstStyle/>
                    <a:p>
                      <a:pPr algn="l">
                        <a:lnSpc>
                          <a:spcPct val="115000"/>
                        </a:lnSpc>
                        <a:spcAft>
                          <a:spcPts val="0"/>
                        </a:spcAft>
                      </a:pPr>
                    </a:p>
                  </a:txBody>
                  <a:tcPr marL="88900" marR="88900" marT="25400" marB="25400" anchor="ctr">
                    <a:solidFill>
                      <a:srgbClr val="ECEAE3"/>
                    </a:solidFill>
                  </a:tcPr>
                </a:tc>
                <a:tc>
                  <a:txBody>
                    <a:bodyPr wrap="square" lIns="88900" rIns="88900" tIns="0" bIns="0"/>
                    <a:lstStyle/>
                    <a:p>
                      <a:pPr algn="l">
                        <a:lnSpc>
                          <a:spcPct val="115000"/>
                        </a:lnSpc>
                        <a:spcAft>
                          <a:spcPts val="0"/>
                        </a:spcAft>
                      </a:pPr>
                      <a:r>
                        <a:rPr sz="1300" b="0" i="0">
                          <a:solidFill>
                            <a:srgbClr val="3A4150"/>
                          </a:solidFill>
                          <a:latin typeface="Arial"/>
                        </a:rPr>
                        <a:t>FRAMES</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79.8 / 84.8k</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78.4 / 63%</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75.1 / 32%</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1.0%</a:t>
                      </a:r>
                    </a:p>
                  </a:txBody>
                  <a:tcPr marL="88900" marR="88900" marT="25400" marB="25400" anchor="ctr">
                    <a:solidFill>
                      <a:srgbClr val="ECEAE3"/>
                    </a:solidFill>
                  </a:tcPr>
                </a:tc>
              </a:tr>
              <a:tr h="317500">
                <a:tc>
                  <a:txBody>
                    <a:bodyPr wrap="square" lIns="88900" rIns="88900" tIns="0" bIns="0"/>
                    <a:lstStyle/>
                    <a:p>
                      <a:pPr algn="l">
                        <a:lnSpc>
                          <a:spcPct val="115000"/>
                        </a:lnSpc>
                        <a:spcAft>
                          <a:spcPts val="0"/>
                        </a:spcAft>
                      </a:pPr>
                    </a:p>
                  </a:txBody>
                  <a:tcPr marL="88900" marR="88900" marT="25400" marB="25400" anchor="ctr">
                    <a:solidFill>
                      <a:srgbClr val="FDFCF9"/>
                    </a:solidFill>
                  </a:tcPr>
                </a:tc>
                <a:tc>
                  <a:txBody>
                    <a:bodyPr wrap="square" lIns="88900" rIns="88900" tIns="0" bIns="0"/>
                    <a:lstStyle/>
                    <a:p>
                      <a:pPr algn="l">
                        <a:lnSpc>
                          <a:spcPct val="115000"/>
                        </a:lnSpc>
                        <a:spcAft>
                          <a:spcPts val="0"/>
                        </a:spcAft>
                      </a:pPr>
                      <a:r>
                        <a:rPr sz="1300" b="0" i="0">
                          <a:solidFill>
                            <a:srgbClr val="3A4150"/>
                          </a:solidFill>
                          <a:latin typeface="Arial"/>
                        </a:rPr>
                        <a:t>MuSiQue</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71.1 / 12.4k</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70.0 / 46%</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64.0 / 29%</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2.0%</a:t>
                      </a:r>
                    </a:p>
                  </a:txBody>
                  <a:tcPr marL="88900" marR="88900" marT="25400" marB="25400" anchor="ctr">
                    <a:solidFill>
                      <a:srgbClr val="FDFCF9"/>
                    </a:solidFill>
                  </a:tcPr>
                </a:tc>
              </a:tr>
              <a:tr h="317500">
                <a:tc>
                  <a:txBody>
                    <a:bodyPr wrap="square" lIns="88900" rIns="88900" tIns="0" bIns="0"/>
                    <a:lstStyle/>
                    <a:p>
                      <a:pPr algn="l">
                        <a:lnSpc>
                          <a:spcPct val="115000"/>
                        </a:lnSpc>
                        <a:spcAft>
                          <a:spcPts val="0"/>
                        </a:spcAft>
                      </a:pPr>
                    </a:p>
                  </a:txBody>
                  <a:tcPr marL="88900" marR="88900" marT="25400" marB="25400" anchor="ctr">
                    <a:solidFill>
                      <a:srgbClr val="ECEAE3"/>
                    </a:solidFill>
                  </a:tcPr>
                </a:tc>
                <a:tc>
                  <a:txBody>
                    <a:bodyPr wrap="square" lIns="88900" rIns="88900" tIns="0" bIns="0"/>
                    <a:lstStyle/>
                    <a:p>
                      <a:pPr algn="l">
                        <a:lnSpc>
                          <a:spcPct val="115000"/>
                        </a:lnSpc>
                        <a:spcAft>
                          <a:spcPts val="0"/>
                        </a:spcAft>
                      </a:pPr>
                      <a:r>
                        <a:rPr sz="1300" b="0" i="0">
                          <a:solidFill>
                            <a:srgbClr val="3A4150"/>
                          </a:solidFill>
                          <a:latin typeface="Arial"/>
                        </a:rPr>
                        <a:t>BBEH</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45.1 / 53.3k</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42.8 / 75%</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39.5 / 40%</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0.5%</a:t>
                      </a:r>
                    </a:p>
                  </a:txBody>
                  <a:tcPr marL="88900" marR="88900" marT="25400" marB="25400" anchor="ctr">
                    <a:solidFill>
                      <a:srgbClr val="ECEAE3"/>
                    </a:solidFill>
                  </a:tcPr>
                </a:tc>
              </a:tr>
              <a:tr h="317500">
                <a:tc>
                  <a:txBody>
                    <a:bodyPr wrap="square" lIns="88900" rIns="88900" tIns="0" bIns="0"/>
                    <a:lstStyle/>
                    <a:p>
                      <a:pPr algn="l">
                        <a:lnSpc>
                          <a:spcPct val="115000"/>
                        </a:lnSpc>
                        <a:spcAft>
                          <a:spcPts val="0"/>
                        </a:spcAft>
                      </a:pPr>
                      <a:r>
                        <a:rPr sz="1300" b="0" i="0">
                          <a:solidFill>
                            <a:srgbClr val="3A4150"/>
                          </a:solidFill>
                          <a:latin typeface="Arial"/>
                        </a:rPr>
                        <a:t>Gemma-4-26B-A4B-it</a:t>
                      </a:r>
                    </a:p>
                  </a:txBody>
                  <a:tcPr marL="88900" marR="88900" marT="25400" marB="25400" anchor="ctr">
                    <a:solidFill>
                      <a:srgbClr val="FDFCF9"/>
                    </a:solidFill>
                  </a:tcPr>
                </a:tc>
                <a:tc>
                  <a:txBody>
                    <a:bodyPr wrap="square" lIns="88900" rIns="88900" tIns="0" bIns="0"/>
                    <a:lstStyle/>
                    <a:p>
                      <a:pPr algn="l">
                        <a:lnSpc>
                          <a:spcPct val="115000"/>
                        </a:lnSpc>
                        <a:spcAft>
                          <a:spcPts val="0"/>
                        </a:spcAft>
                      </a:pPr>
                      <a:r>
                        <a:rPr sz="1300" b="0" i="0">
                          <a:solidFill>
                            <a:srgbClr val="3A4150"/>
                          </a:solidFill>
                          <a:latin typeface="Arial"/>
                        </a:rPr>
                        <a:t>MATH</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99.8 / 10.4k</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98.1 / 31%</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98.0 / 20%</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0.0%</a:t>
                      </a:r>
                    </a:p>
                  </a:txBody>
                  <a:tcPr marL="88900" marR="88900" marT="25400" marB="25400" anchor="ctr">
                    <a:solidFill>
                      <a:srgbClr val="FDFCF9"/>
                    </a:solidFill>
                  </a:tcPr>
                </a:tc>
              </a:tr>
              <a:tr h="317500">
                <a:tc>
                  <a:txBody>
                    <a:bodyPr wrap="square" lIns="88900" rIns="88900" tIns="0" bIns="0"/>
                    <a:lstStyle/>
                    <a:p>
                      <a:pPr algn="l">
                        <a:lnSpc>
                          <a:spcPct val="115000"/>
                        </a:lnSpc>
                        <a:spcAft>
                          <a:spcPts val="0"/>
                        </a:spcAft>
                      </a:pPr>
                    </a:p>
                  </a:txBody>
                  <a:tcPr marL="88900" marR="88900" marT="25400" marB="25400" anchor="ctr">
                    <a:solidFill>
                      <a:srgbClr val="ECEAE3"/>
                    </a:solidFill>
                  </a:tcPr>
                </a:tc>
                <a:tc>
                  <a:txBody>
                    <a:bodyPr wrap="square" lIns="88900" rIns="88900" tIns="0" bIns="0"/>
                    <a:lstStyle/>
                    <a:p>
                      <a:pPr algn="l">
                        <a:lnSpc>
                          <a:spcPct val="115000"/>
                        </a:lnSpc>
                        <a:spcAft>
                          <a:spcPts val="0"/>
                        </a:spcAft>
                      </a:pPr>
                      <a:r>
                        <a:rPr sz="1300" b="0" i="0">
                          <a:solidFill>
                            <a:srgbClr val="3A4150"/>
                          </a:solidFill>
                          <a:latin typeface="Arial"/>
                        </a:rPr>
                        <a:t>FRAMES</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67.9 / 174.6k</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66.4 / 86%</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62.8 / 62%</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1.0%</a:t>
                      </a:r>
                    </a:p>
                  </a:txBody>
                  <a:tcPr marL="88900" marR="88900" marT="25400" marB="25400" anchor="ctr">
                    <a:solidFill>
                      <a:srgbClr val="ECEAE3"/>
                    </a:solidFill>
                  </a:tcPr>
                </a:tc>
              </a:tr>
              <a:tr h="317500">
                <a:tc>
                  <a:txBody>
                    <a:bodyPr wrap="square" lIns="88900" rIns="88900" tIns="0" bIns="0"/>
                    <a:lstStyle/>
                    <a:p>
                      <a:pPr algn="l">
                        <a:lnSpc>
                          <a:spcPct val="115000"/>
                        </a:lnSpc>
                        <a:spcAft>
                          <a:spcPts val="0"/>
                        </a:spcAft>
                      </a:pPr>
                    </a:p>
                  </a:txBody>
                  <a:tcPr marL="88900" marR="88900" marT="25400" marB="25400" anchor="ctr">
                    <a:solidFill>
                      <a:srgbClr val="FDFCF9"/>
                    </a:solidFill>
                  </a:tcPr>
                </a:tc>
                <a:tc>
                  <a:txBody>
                    <a:bodyPr wrap="square" lIns="88900" rIns="88900" tIns="0" bIns="0"/>
                    <a:lstStyle/>
                    <a:p>
                      <a:pPr algn="l">
                        <a:lnSpc>
                          <a:spcPct val="115000"/>
                        </a:lnSpc>
                        <a:spcAft>
                          <a:spcPts val="0"/>
                        </a:spcAft>
                      </a:pPr>
                      <a:r>
                        <a:rPr sz="1300" b="0" i="0">
                          <a:solidFill>
                            <a:srgbClr val="3A4150"/>
                          </a:solidFill>
                          <a:latin typeface="Arial"/>
                        </a:rPr>
                        <a:t>MuSiQue</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65.3 / 50.2k</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62.7 / 69%</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61.3 / 33%</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300" b="0" i="0">
                          <a:solidFill>
                            <a:srgbClr val="3A4150"/>
                          </a:solidFill>
                          <a:latin typeface="Arial"/>
                        </a:rPr>
                        <a:t>0.0%</a:t>
                      </a:r>
                    </a:p>
                  </a:txBody>
                  <a:tcPr marL="88900" marR="88900" marT="25400" marB="25400" anchor="ctr">
                    <a:solidFill>
                      <a:srgbClr val="FDFCF9"/>
                    </a:solidFill>
                  </a:tcPr>
                </a:tc>
              </a:tr>
              <a:tr h="317500">
                <a:tc>
                  <a:txBody>
                    <a:bodyPr wrap="square" lIns="88900" rIns="88900" tIns="0" bIns="0"/>
                    <a:lstStyle/>
                    <a:p>
                      <a:pPr algn="l">
                        <a:lnSpc>
                          <a:spcPct val="115000"/>
                        </a:lnSpc>
                        <a:spcAft>
                          <a:spcPts val="0"/>
                        </a:spcAft>
                      </a:pPr>
                    </a:p>
                  </a:txBody>
                  <a:tcPr marL="88900" marR="88900" marT="25400" marB="25400" anchor="ctr">
                    <a:solidFill>
                      <a:srgbClr val="ECEAE3"/>
                    </a:solidFill>
                  </a:tcPr>
                </a:tc>
                <a:tc>
                  <a:txBody>
                    <a:bodyPr wrap="square" lIns="88900" rIns="88900" tIns="0" bIns="0"/>
                    <a:lstStyle/>
                    <a:p>
                      <a:pPr algn="l">
                        <a:lnSpc>
                          <a:spcPct val="115000"/>
                        </a:lnSpc>
                        <a:spcAft>
                          <a:spcPts val="0"/>
                        </a:spcAft>
                      </a:pPr>
                      <a:r>
                        <a:rPr sz="1300" b="0" i="0">
                          <a:solidFill>
                            <a:srgbClr val="3A4150"/>
                          </a:solidFill>
                          <a:latin typeface="Arial"/>
                        </a:rPr>
                        <a:t>BBEH</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36.4 / 120.2k</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33.5 / 96%</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29.2 / 62%</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300" b="0" i="0">
                          <a:solidFill>
                            <a:srgbClr val="3A4150"/>
                          </a:solidFill>
                          <a:latin typeface="Arial"/>
                        </a:rPr>
                        <a:t>1.5%</a:t>
                      </a:r>
                    </a:p>
                  </a:txBody>
                  <a:tcPr marL="88900" marR="88900" marT="25400" marB="25400" anchor="ctr">
                    <a:solidFill>
                      <a:srgbClr val="ECEAE3"/>
                    </a:solidFill>
                  </a:tcPr>
                </a:tc>
              </a:tr>
            </a:tbl>
          </a:graphicData>
        </a:graphic>
      </p:graphicFrame>
      <p:sp>
        <p:nvSpPr>
          <p:cNvPr id="5" name="TextBox 4"/>
          <p:cNvSpPr txBox="1"/>
          <p:nvPr/>
        </p:nvSpPr>
        <p:spPr>
          <a:xfrm>
            <a:off x="812800" y="5969000"/>
            <a:ext cx="10566400" cy="254000"/>
          </a:xfrm>
          <a:prstGeom prst="rect">
            <a:avLst/>
          </a:prstGeom>
          <a:noFill/>
        </p:spPr>
        <p:txBody>
          <a:bodyPr wrap="square" lIns="0" rIns="0" tIns="0" bIns="0" anchor="t">
            <a:spAutoFit/>
          </a:bodyPr>
          <a:lstStyle/>
          <a:p>
            <a:pPr algn="l">
              <a:lnSpc>
                <a:spcPct val="115000"/>
              </a:lnSpc>
              <a:spcAft>
                <a:spcPts val="0"/>
              </a:spcAft>
            </a:pPr>
            <a:r>
              <a:rPr sz="1200" b="0" i="0">
                <a:solidFill>
                  <a:srgbClr val="6B7280"/>
                </a:solidFill>
                <a:latin typeface="Arial"/>
              </a:rPr>
              <a:t>Accuracy / tokens as a share of the team’s, means over 200 splits. Viol.: largest violation rate over ε = 2, 5, 10%.</a:t>
            </a:r>
          </a:p>
        </p:txBody>
      </p:sp>
      <p:sp>
        <p:nvSpPr>
          <p:cNvPr id="6" name="TextBox 5"/>
          <p:cNvSpPr txBox="1"/>
          <p:nvPr/>
        </p:nvSpPr>
        <p:spPr>
          <a:xfrm>
            <a:off x="812800" y="6350000"/>
            <a:ext cx="10566400" cy="215900"/>
          </a:xfrm>
          <a:prstGeom prst="rect">
            <a:avLst/>
          </a:prstGeom>
          <a:noFill/>
        </p:spPr>
        <p:txBody>
          <a:bodyPr wrap="square" lIns="0" rIns="0" tIns="0" bIns="0" anchor="t">
            <a:spAutoFit/>
          </a:bodyPr>
          <a:lstStyle/>
          <a:p>
            <a:pPr algn="r">
              <a:lnSpc>
                <a:spcPct val="115000"/>
              </a:lnSpc>
              <a:spcAft>
                <a:spcPts val="0"/>
              </a:spcAft>
            </a:pPr>
            <a:r>
              <a:rPr sz="1200" b="0" i="0">
                <a:solidFill>
                  <a:srgbClr val="6B728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749300"/>
            <a:ext cx="10566400" cy="254000"/>
          </a:xfrm>
          <a:prstGeom prst="rect">
            <a:avLst/>
          </a:prstGeom>
          <a:noFill/>
        </p:spPr>
        <p:txBody>
          <a:bodyPr wrap="square" lIns="0" rIns="0" tIns="0" bIns="0" anchor="t">
            <a:spAutoFit/>
          </a:bodyPr>
          <a:lstStyle/>
          <a:p>
            <a:pPr algn="l">
              <a:lnSpc>
                <a:spcPct val="115000"/>
              </a:lnSpc>
              <a:spcAft>
                <a:spcPts val="0"/>
              </a:spcAft>
            </a:pPr>
            <a:r>
              <a:rPr sz="1200" b="1" i="0">
                <a:solidFill>
                  <a:srgbClr val="B4541A"/>
                </a:solidFill>
                <a:latin typeface="Arial"/>
              </a:rPr>
              <a:t>RESULTS</a:t>
            </a:r>
          </a:p>
        </p:txBody>
      </p:sp>
      <p:sp>
        <p:nvSpPr>
          <p:cNvPr id="3" name="TextBox 2"/>
          <p:cNvSpPr txBox="1"/>
          <p:nvPr/>
        </p:nvSpPr>
        <p:spPr>
          <a:xfrm>
            <a:off x="812800" y="1016000"/>
            <a:ext cx="10566400" cy="508000"/>
          </a:xfrm>
          <a:prstGeom prst="rect">
            <a:avLst/>
          </a:prstGeom>
          <a:noFill/>
        </p:spPr>
        <p:txBody>
          <a:bodyPr wrap="square" lIns="0" rIns="0" tIns="0" bIns="0" anchor="t">
            <a:spAutoFit/>
          </a:bodyPr>
          <a:lstStyle/>
          <a:p>
            <a:pPr algn="l">
              <a:lnSpc>
                <a:spcPct val="105000"/>
              </a:lnSpc>
              <a:spcAft>
                <a:spcPts val="0"/>
              </a:spcAft>
            </a:pPr>
            <a:r>
              <a:rPr sz="2800" b="1" i="0">
                <a:solidFill>
                  <a:srgbClr val="14213D"/>
                </a:solidFill>
                <a:latin typeface="Georgia"/>
              </a:rPr>
              <a:t>Uncertified rules vs. CLIMB</a:t>
            </a:r>
          </a:p>
        </p:txBody>
      </p:sp>
      <p:graphicFrame>
        <p:nvGraphicFramePr>
          <p:cNvPr id="4" name="Table 3"/>
          <p:cNvGraphicFramePr>
            <a:graphicFrameLocks noGrp="1"/>
          </p:cNvGraphicFramePr>
          <p:nvPr/>
        </p:nvGraphicFramePr>
        <p:xfrm>
          <a:off x="812800" y="2032000"/>
          <a:ext cx="6350000" cy="2933700"/>
        </p:xfrm>
        <a:graphic>
          <a:graphicData uri="http://schemas.openxmlformats.org/drawingml/2006/table">
            <a:tbl>
              <a:tblPr firstRow="1" bandRow="1">
                <a:tableStyleId>{5C22544A-7EE6-4342-B048-85BDC9FD1C3A}</a:tableStyleId>
              </a:tblPr>
              <a:tblGrid>
                <a:gridCol w="2921000"/>
                <a:gridCol w="1143000"/>
                <a:gridCol w="1143000"/>
                <a:gridCol w="1143000"/>
              </a:tblGrid>
              <a:tr h="419100">
                <a:tc>
                  <a:txBody>
                    <a:bodyPr wrap="square" lIns="88900" rIns="88900" tIns="0" bIns="0"/>
                    <a:lstStyle/>
                    <a:p>
                      <a:pPr algn="l">
                        <a:lnSpc>
                          <a:spcPct val="115000"/>
                        </a:lnSpc>
                        <a:spcAft>
                          <a:spcPts val="0"/>
                        </a:spcAft>
                      </a:pPr>
                      <a:r>
                        <a:rPr sz="1500" b="1" i="0">
                          <a:solidFill>
                            <a:srgbClr val="F7F6F2"/>
                          </a:solidFill>
                          <a:latin typeface="Arial"/>
                        </a:rPr>
                        <a:t>Policy</a:t>
                      </a:r>
                    </a:p>
                  </a:txBody>
                  <a:tcPr marL="88900" marR="88900" marT="25400" marB="25400" anchor="ctr">
                    <a:solidFill>
                      <a:srgbClr val="14213D"/>
                    </a:solidFill>
                  </a:tcPr>
                </a:tc>
                <a:tc>
                  <a:txBody>
                    <a:bodyPr wrap="square" lIns="88900" rIns="88900" tIns="0" bIns="0"/>
                    <a:lstStyle/>
                    <a:p>
                      <a:pPr algn="r">
                        <a:lnSpc>
                          <a:spcPct val="115000"/>
                        </a:lnSpc>
                        <a:spcAft>
                          <a:spcPts val="0"/>
                        </a:spcAft>
                      </a:pPr>
                      <a:r>
                        <a:rPr sz="1500" b="1" i="0">
                          <a:solidFill>
                            <a:srgbClr val="F7F6F2"/>
                          </a:solidFill>
                          <a:latin typeface="Arial"/>
                        </a:rPr>
                        <a:t>Tokens</a:t>
                      </a:r>
                    </a:p>
                  </a:txBody>
                  <a:tcPr marL="88900" marR="88900" marT="25400" marB="25400" anchor="ctr">
                    <a:solidFill>
                      <a:srgbClr val="14213D"/>
                    </a:solidFill>
                  </a:tcPr>
                </a:tc>
                <a:tc>
                  <a:txBody>
                    <a:bodyPr wrap="square" lIns="88900" rIns="88900" tIns="0" bIns="0"/>
                    <a:lstStyle/>
                    <a:p>
                      <a:pPr algn="r">
                        <a:lnSpc>
                          <a:spcPct val="115000"/>
                        </a:lnSpc>
                        <a:spcAft>
                          <a:spcPts val="0"/>
                        </a:spcAft>
                      </a:pPr>
                      <a:r>
                        <a:rPr sz="1500" b="1" i="0">
                          <a:solidFill>
                            <a:srgbClr val="F7F6F2"/>
                          </a:solidFill>
                          <a:latin typeface="Arial"/>
                        </a:rPr>
                        <a:t>Mean loss</a:t>
                      </a:r>
                    </a:p>
                  </a:txBody>
                  <a:tcPr marL="88900" marR="88900" marT="25400" marB="25400" anchor="ctr">
                    <a:solidFill>
                      <a:srgbClr val="14213D"/>
                    </a:solidFill>
                  </a:tcPr>
                </a:tc>
                <a:tc>
                  <a:txBody>
                    <a:bodyPr wrap="square" lIns="88900" rIns="88900" tIns="0" bIns="0"/>
                    <a:lstStyle/>
                    <a:p>
                      <a:pPr algn="r">
                        <a:lnSpc>
                          <a:spcPct val="115000"/>
                        </a:lnSpc>
                        <a:spcAft>
                          <a:spcPts val="0"/>
                        </a:spcAft>
                      </a:pPr>
                      <a:r>
                        <a:rPr sz="1500" b="1" i="0">
                          <a:solidFill>
                            <a:srgbClr val="F7F6F2"/>
                          </a:solidFill>
                          <a:latin typeface="Arial"/>
                        </a:rPr>
                        <a:t>Max loss</a:t>
                      </a:r>
                    </a:p>
                  </a:txBody>
                  <a:tcPr marL="88900" marR="88900" marT="25400" marB="25400" anchor="ctr">
                    <a:solidFill>
                      <a:srgbClr val="14213D"/>
                    </a:solidFill>
                  </a:tcPr>
                </a:tc>
              </a:tr>
              <a:tr h="419100">
                <a:tc>
                  <a:txBody>
                    <a:bodyPr wrap="square" lIns="88900" rIns="88900" tIns="0" bIns="0"/>
                    <a:lstStyle/>
                    <a:p>
                      <a:pPr algn="l">
                        <a:lnSpc>
                          <a:spcPct val="115000"/>
                        </a:lnSpc>
                        <a:spcAft>
                          <a:spcPts val="0"/>
                        </a:spcAft>
                      </a:pPr>
                      <a:r>
                        <a:rPr sz="1500" b="0" i="0">
                          <a:solidFill>
                            <a:srgbClr val="3A4150"/>
                          </a:solidFill>
                          <a:latin typeface="Arial"/>
                        </a:rPr>
                        <a:t>Always L₀</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500" b="0" i="0">
                          <a:solidFill>
                            <a:srgbClr val="3A4150"/>
                          </a:solidFill>
                          <a:latin typeface="Arial"/>
                        </a:rPr>
                        <a:t>15%</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500" b="0" i="0">
                          <a:solidFill>
                            <a:srgbClr val="3A4150"/>
                          </a:solidFill>
                          <a:latin typeface="Arial"/>
                        </a:rPr>
                        <a:t>8.7</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500" b="0" i="0">
                          <a:solidFill>
                            <a:srgbClr val="3A4150"/>
                          </a:solidFill>
                          <a:latin typeface="Arial"/>
                        </a:rPr>
                        <a:t>20.6</a:t>
                      </a:r>
                    </a:p>
                  </a:txBody>
                  <a:tcPr marL="88900" marR="88900" marT="25400" marB="25400" anchor="ctr">
                    <a:solidFill>
                      <a:srgbClr val="FDFCF9"/>
                    </a:solidFill>
                  </a:tcPr>
                </a:tc>
              </a:tr>
              <a:tr h="419100">
                <a:tc>
                  <a:txBody>
                    <a:bodyPr wrap="square" lIns="88900" rIns="88900" tIns="0" bIns="0"/>
                    <a:lstStyle/>
                    <a:p>
                      <a:pPr algn="l">
                        <a:lnSpc>
                          <a:spcPct val="115000"/>
                        </a:lnSpc>
                        <a:spcAft>
                          <a:spcPts val="0"/>
                        </a:spcAft>
                      </a:pPr>
                      <a:r>
                        <a:rPr sz="1500" b="0" i="0">
                          <a:solidFill>
                            <a:srgbClr val="3A4150"/>
                          </a:solidFill>
                          <a:latin typeface="Arial"/>
                        </a:rPr>
                        <a:t>Always L₁</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500" b="0" i="0">
                          <a:solidFill>
                            <a:srgbClr val="3A4150"/>
                          </a:solidFill>
                          <a:latin typeface="Arial"/>
                        </a:rPr>
                        <a:t>43%</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500" b="0" i="0">
                          <a:solidFill>
                            <a:srgbClr val="3A4150"/>
                          </a:solidFill>
                          <a:latin typeface="Arial"/>
                        </a:rPr>
                        <a:t>3.3</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500" b="0" i="0">
                          <a:solidFill>
                            <a:srgbClr val="3A4150"/>
                          </a:solidFill>
                          <a:latin typeface="Arial"/>
                        </a:rPr>
                        <a:t>9.4</a:t>
                      </a:r>
                    </a:p>
                  </a:txBody>
                  <a:tcPr marL="88900" marR="88900" marT="25400" marB="25400" anchor="ctr">
                    <a:solidFill>
                      <a:srgbClr val="ECEAE3"/>
                    </a:solidFill>
                  </a:tcPr>
                </a:tc>
              </a:tr>
              <a:tr h="419100">
                <a:tc>
                  <a:txBody>
                    <a:bodyPr wrap="square" lIns="88900" rIns="88900" tIns="0" bIns="0"/>
                    <a:lstStyle/>
                    <a:p>
                      <a:pPr algn="l">
                        <a:lnSpc>
                          <a:spcPct val="115000"/>
                        </a:lnSpc>
                        <a:spcAft>
                          <a:spcPts val="0"/>
                        </a:spcAft>
                      </a:pPr>
                      <a:r>
                        <a:rPr sz="1500" b="0" i="0">
                          <a:solidFill>
                            <a:srgbClr val="3A4150"/>
                          </a:solidFill>
                          <a:latin typeface="Arial"/>
                        </a:rPr>
                        <a:t>Threshold, same cost</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500" b="0" i="0">
                          <a:solidFill>
                            <a:srgbClr val="3A4150"/>
                          </a:solidFill>
                          <a:latin typeface="Arial"/>
                        </a:rPr>
                        <a:t>61%</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500" b="0" i="0">
                          <a:solidFill>
                            <a:srgbClr val="3A4150"/>
                          </a:solidFill>
                          <a:latin typeface="Arial"/>
                        </a:rPr>
                        <a:t>5.0</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500" b="0" i="0">
                          <a:solidFill>
                            <a:srgbClr val="3A4150"/>
                          </a:solidFill>
                          <a:latin typeface="Arial"/>
                        </a:rPr>
                        <a:t>15.9</a:t>
                      </a:r>
                    </a:p>
                  </a:txBody>
                  <a:tcPr marL="88900" marR="88900" marT="25400" marB="25400" anchor="ctr">
                    <a:solidFill>
                      <a:srgbClr val="FDFCF9"/>
                    </a:solidFill>
                  </a:tcPr>
                </a:tc>
              </a:tr>
              <a:tr h="419100">
                <a:tc>
                  <a:txBody>
                    <a:bodyPr wrap="square" lIns="88900" rIns="88900" tIns="0" bIns="0"/>
                    <a:lstStyle/>
                    <a:p>
                      <a:pPr algn="l">
                        <a:lnSpc>
                          <a:spcPct val="115000"/>
                        </a:lnSpc>
                        <a:spcAft>
                          <a:spcPts val="0"/>
                        </a:spcAft>
                      </a:pPr>
                      <a:r>
                        <a:rPr sz="1500" b="1" i="0">
                          <a:solidFill>
                            <a:srgbClr val="3A4150"/>
                          </a:solidFill>
                          <a:latin typeface="Arial"/>
                        </a:rPr>
                        <a:t>CLIMB, ε = 5% (certified)</a:t>
                      </a:r>
                    </a:p>
                  </a:txBody>
                  <a:tcPr marL="88900" marR="88900" marT="25400" marB="25400" anchor="ctr">
                    <a:solidFill>
                      <a:srgbClr val="E3ECE2"/>
                    </a:solidFill>
                  </a:tcPr>
                </a:tc>
                <a:tc>
                  <a:txBody>
                    <a:bodyPr wrap="square" lIns="88900" rIns="88900" tIns="0" bIns="0"/>
                    <a:lstStyle/>
                    <a:p>
                      <a:pPr algn="r">
                        <a:lnSpc>
                          <a:spcPct val="115000"/>
                        </a:lnSpc>
                        <a:spcAft>
                          <a:spcPts val="0"/>
                        </a:spcAft>
                      </a:pPr>
                      <a:r>
                        <a:rPr sz="1500" b="1" i="0">
                          <a:solidFill>
                            <a:srgbClr val="3A4150"/>
                          </a:solidFill>
                          <a:latin typeface="Arial"/>
                        </a:rPr>
                        <a:t>62%</a:t>
                      </a:r>
                    </a:p>
                  </a:txBody>
                  <a:tcPr marL="88900" marR="88900" marT="25400" marB="25400" anchor="ctr">
                    <a:solidFill>
                      <a:srgbClr val="E3ECE2"/>
                    </a:solidFill>
                  </a:tcPr>
                </a:tc>
                <a:tc>
                  <a:txBody>
                    <a:bodyPr wrap="square" lIns="88900" rIns="88900" tIns="0" bIns="0"/>
                    <a:lstStyle/>
                    <a:p>
                      <a:pPr algn="r">
                        <a:lnSpc>
                          <a:spcPct val="115000"/>
                        </a:lnSpc>
                        <a:spcAft>
                          <a:spcPts val="0"/>
                        </a:spcAft>
                      </a:pPr>
                      <a:r>
                        <a:rPr sz="1500" b="1" i="0">
                          <a:solidFill>
                            <a:srgbClr val="3A4150"/>
                          </a:solidFill>
                          <a:latin typeface="Arial"/>
                        </a:rPr>
                        <a:t>1.9</a:t>
                      </a:r>
                    </a:p>
                  </a:txBody>
                  <a:tcPr marL="88900" marR="88900" marT="25400" marB="25400" anchor="ctr">
                    <a:solidFill>
                      <a:srgbClr val="E3ECE2"/>
                    </a:solidFill>
                  </a:tcPr>
                </a:tc>
                <a:tc>
                  <a:txBody>
                    <a:bodyPr wrap="square" lIns="88900" rIns="88900" tIns="0" bIns="0"/>
                    <a:lstStyle/>
                    <a:p>
                      <a:pPr algn="r">
                        <a:lnSpc>
                          <a:spcPct val="115000"/>
                        </a:lnSpc>
                        <a:spcAft>
                          <a:spcPts val="0"/>
                        </a:spcAft>
                      </a:pPr>
                      <a:r>
                        <a:rPr sz="1500" b="1" i="0">
                          <a:solidFill>
                            <a:srgbClr val="3A4150"/>
                          </a:solidFill>
                          <a:latin typeface="Arial"/>
                        </a:rPr>
                        <a:t>2.8</a:t>
                      </a:r>
                    </a:p>
                  </a:txBody>
                  <a:tcPr marL="88900" marR="88900" marT="25400" marB="25400" anchor="ctr">
                    <a:solidFill>
                      <a:srgbClr val="E3ECE2"/>
                    </a:solidFill>
                  </a:tcPr>
                </a:tc>
              </a:tr>
              <a:tr h="419100">
                <a:tc>
                  <a:txBody>
                    <a:bodyPr wrap="square" lIns="88900" rIns="88900" tIns="0" bIns="0"/>
                    <a:lstStyle/>
                    <a:p>
                      <a:pPr algn="l">
                        <a:lnSpc>
                          <a:spcPct val="115000"/>
                        </a:lnSpc>
                        <a:spcAft>
                          <a:spcPts val="0"/>
                        </a:spcAft>
                      </a:pPr>
                      <a:r>
                        <a:rPr sz="1500" b="1" i="0">
                          <a:solidFill>
                            <a:srgbClr val="3A4150"/>
                          </a:solidFill>
                          <a:latin typeface="Arial"/>
                        </a:rPr>
                        <a:t>CLIMB, ε = 10% (certified)</a:t>
                      </a:r>
                    </a:p>
                  </a:txBody>
                  <a:tcPr marL="88900" marR="88900" marT="25400" marB="25400" anchor="ctr">
                    <a:solidFill>
                      <a:srgbClr val="E3ECE2"/>
                    </a:solidFill>
                  </a:tcPr>
                </a:tc>
                <a:tc>
                  <a:txBody>
                    <a:bodyPr wrap="square" lIns="88900" rIns="88900" tIns="0" bIns="0"/>
                    <a:lstStyle/>
                    <a:p>
                      <a:pPr algn="r">
                        <a:lnSpc>
                          <a:spcPct val="115000"/>
                        </a:lnSpc>
                        <a:spcAft>
                          <a:spcPts val="0"/>
                        </a:spcAft>
                      </a:pPr>
                      <a:r>
                        <a:rPr sz="1500" b="1" i="0">
                          <a:solidFill>
                            <a:srgbClr val="3A4150"/>
                          </a:solidFill>
                          <a:latin typeface="Arial"/>
                        </a:rPr>
                        <a:t>35%</a:t>
                      </a:r>
                    </a:p>
                  </a:txBody>
                  <a:tcPr marL="88900" marR="88900" marT="25400" marB="25400" anchor="ctr">
                    <a:solidFill>
                      <a:srgbClr val="E3ECE2"/>
                    </a:solidFill>
                  </a:tcPr>
                </a:tc>
                <a:tc>
                  <a:txBody>
                    <a:bodyPr wrap="square" lIns="88900" rIns="88900" tIns="0" bIns="0"/>
                    <a:lstStyle/>
                    <a:p>
                      <a:pPr algn="r">
                        <a:lnSpc>
                          <a:spcPct val="115000"/>
                        </a:lnSpc>
                        <a:spcAft>
                          <a:spcPts val="0"/>
                        </a:spcAft>
                      </a:pPr>
                      <a:r>
                        <a:rPr sz="1500" b="1" i="0">
                          <a:solidFill>
                            <a:srgbClr val="3A4150"/>
                          </a:solidFill>
                          <a:latin typeface="Arial"/>
                        </a:rPr>
                        <a:t>5.0</a:t>
                      </a:r>
                    </a:p>
                  </a:txBody>
                  <a:tcPr marL="88900" marR="88900" marT="25400" marB="25400" anchor="ctr">
                    <a:solidFill>
                      <a:srgbClr val="E3ECE2"/>
                    </a:solidFill>
                  </a:tcPr>
                </a:tc>
                <a:tc>
                  <a:txBody>
                    <a:bodyPr wrap="square" lIns="88900" rIns="88900" tIns="0" bIns="0"/>
                    <a:lstStyle/>
                    <a:p>
                      <a:pPr algn="r">
                        <a:lnSpc>
                          <a:spcPct val="115000"/>
                        </a:lnSpc>
                        <a:spcAft>
                          <a:spcPts val="0"/>
                        </a:spcAft>
                      </a:pPr>
                      <a:r>
                        <a:rPr sz="1500" b="1" i="0">
                          <a:solidFill>
                            <a:srgbClr val="3A4150"/>
                          </a:solidFill>
                          <a:latin typeface="Arial"/>
                        </a:rPr>
                        <a:t>7.2</a:t>
                      </a:r>
                    </a:p>
                  </a:txBody>
                  <a:tcPr marL="88900" marR="88900" marT="25400" marB="25400" anchor="ctr">
                    <a:solidFill>
                      <a:srgbClr val="E3ECE2"/>
                    </a:solidFill>
                  </a:tcPr>
                </a:tc>
              </a:tr>
              <a:tr h="419100">
                <a:tc>
                  <a:txBody>
                    <a:bodyPr wrap="square" lIns="88900" rIns="88900" tIns="0" bIns="0"/>
                    <a:lstStyle/>
                    <a:p>
                      <a:pPr algn="l">
                        <a:lnSpc>
                          <a:spcPct val="115000"/>
                        </a:lnSpc>
                        <a:spcAft>
                          <a:spcPts val="0"/>
                        </a:spcAft>
                      </a:pPr>
                      <a:r>
                        <a:rPr sz="1500" b="0" i="0">
                          <a:solidFill>
                            <a:srgbClr val="3A4150"/>
                          </a:solidFill>
                          <a:latin typeface="Arial"/>
                        </a:rPr>
                        <a:t>Oracle (not deployable)</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500" b="0" i="0">
                          <a:solidFill>
                            <a:srgbClr val="3A4150"/>
                          </a:solidFill>
                          <a:latin typeface="Arial"/>
                        </a:rPr>
                        <a:t>65%</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500" b="0" i="0">
                          <a:solidFill>
                            <a:srgbClr val="3A4150"/>
                          </a:solidFill>
                          <a:latin typeface="Arial"/>
                        </a:rPr>
                        <a:t>−7.2</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500" b="0" i="0">
                          <a:solidFill>
                            <a:srgbClr val="3A4150"/>
                          </a:solidFill>
                          <a:latin typeface="Arial"/>
                        </a:rPr>
                        <a:t>0.0</a:t>
                      </a:r>
                    </a:p>
                  </a:txBody>
                  <a:tcPr marL="88900" marR="88900" marT="25400" marB="25400" anchor="ctr">
                    <a:solidFill>
                      <a:srgbClr val="ECEAE3"/>
                    </a:solidFill>
                  </a:tcPr>
                </a:tc>
              </a:tr>
            </a:tbl>
          </a:graphicData>
        </a:graphic>
      </p:graphicFrame>
      <p:sp>
        <p:nvSpPr>
          <p:cNvPr id="5" name="TextBox 4"/>
          <p:cNvSpPr txBox="1"/>
          <p:nvPr/>
        </p:nvSpPr>
        <p:spPr>
          <a:xfrm>
            <a:off x="812800" y="5080000"/>
            <a:ext cx="6350000" cy="254000"/>
          </a:xfrm>
          <a:prstGeom prst="rect">
            <a:avLst/>
          </a:prstGeom>
          <a:noFill/>
        </p:spPr>
        <p:txBody>
          <a:bodyPr wrap="square" lIns="0" rIns="0" tIns="0" bIns="0" anchor="t">
            <a:spAutoFit/>
          </a:bodyPr>
          <a:lstStyle/>
          <a:p>
            <a:pPr algn="l">
              <a:lnSpc>
                <a:spcPct val="115000"/>
              </a:lnSpc>
              <a:spcAft>
                <a:spcPts val="0"/>
              </a:spcAft>
            </a:pPr>
            <a:r>
              <a:rPr sz="1200" b="0" i="0">
                <a:solidFill>
                  <a:srgbClr val="6B7280"/>
                </a:solidFill>
                <a:latin typeface="Arial"/>
              </a:rPr>
              <a:t>Means over the twelve settings. Loss in accuracy points against the team.</a:t>
            </a:r>
          </a:p>
        </p:txBody>
      </p:sp>
      <p:sp>
        <p:nvSpPr>
          <p:cNvPr id="6" name="Rounded Rectangle 5"/>
          <p:cNvSpPr/>
          <p:nvPr/>
        </p:nvSpPr>
        <p:spPr>
          <a:xfrm>
            <a:off x="7467600" y="2032000"/>
            <a:ext cx="3911600" cy="3302000"/>
          </a:xfrm>
          <a:prstGeom prst="roundRect">
            <a:avLst>
              <a:gd name="adj" fmla="val 3076"/>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9400" rIns="279400" tIns="279400" bIns="279400"/>
          <a:lstStyle/>
          <a:p>
            <a:pPr algn="l">
              <a:lnSpc>
                <a:spcPct val="115000"/>
              </a:lnSpc>
              <a:spcAft>
                <a:spcPts val="600"/>
              </a:spcAft>
            </a:pPr>
            <a:r>
              <a:rPr sz="1600" b="1" i="0">
                <a:solidFill>
                  <a:srgbClr val="F0A66B"/>
                </a:solidFill>
                <a:latin typeface="Arial"/>
              </a:rPr>
              <a:t>Tuned per setting, without certification</a:t>
            </a:r>
          </a:p>
          <a:p>
            <a:pPr algn="l">
              <a:lnSpc>
                <a:spcPct val="100000"/>
              </a:lnSpc>
              <a:spcAft>
                <a:spcPts val="800"/>
              </a:spcAft>
            </a:pPr>
            <a:r>
              <a:rPr sz="4000" b="1" i="0">
                <a:solidFill>
                  <a:srgbClr val="F7F6F2"/>
                </a:solidFill>
                <a:latin typeface="Georgia"/>
              </a:rPr>
              <a:t>31%</a:t>
            </a:r>
          </a:p>
          <a:p>
            <a:pPr algn="l">
              <a:lnSpc>
                <a:spcPct val="115000"/>
              </a:lnSpc>
              <a:spcAft>
                <a:spcPts val="1200"/>
              </a:spcAft>
            </a:pPr>
            <a:r>
              <a:rPr sz="1400" b="0" i="0">
                <a:solidFill>
                  <a:srgbClr val="C9D1E0"/>
                </a:solidFill>
                <a:latin typeface="Arial"/>
              </a:rPr>
              <a:t>of splits exceed ε = 5% on average, above δ on 9 of 12 settings. CLIMB: at most 2%.</a:t>
            </a:r>
          </a:p>
          <a:p>
            <a:pPr algn="l">
              <a:lnSpc>
                <a:spcPct val="115000"/>
              </a:lnSpc>
              <a:spcAft>
                <a:spcPts val="0"/>
              </a:spcAft>
            </a:pPr>
            <a:r>
              <a:rPr sz="1400" b="0" i="0">
                <a:solidFill>
                  <a:srgbClr val="C9D1E0"/>
                </a:solidFill>
                <a:latin typeface="Arial"/>
              </a:rPr>
              <a:t>The extra tokens CLIMB spends are largely the price of the guarantee.</a:t>
            </a:r>
          </a:p>
        </p:txBody>
      </p:sp>
      <p:sp>
        <p:nvSpPr>
          <p:cNvPr id="7" name="TextBox 6"/>
          <p:cNvSpPr txBox="1"/>
          <p:nvPr/>
        </p:nvSpPr>
        <p:spPr>
          <a:xfrm>
            <a:off x="812800" y="6350000"/>
            <a:ext cx="10566400" cy="215900"/>
          </a:xfrm>
          <a:prstGeom prst="rect">
            <a:avLst/>
          </a:prstGeom>
          <a:noFill/>
        </p:spPr>
        <p:txBody>
          <a:bodyPr wrap="square" lIns="0" rIns="0" tIns="0" bIns="0" anchor="t">
            <a:spAutoFit/>
          </a:bodyPr>
          <a:lstStyle/>
          <a:p>
            <a:pPr algn="r">
              <a:lnSpc>
                <a:spcPct val="115000"/>
              </a:lnSpc>
              <a:spcAft>
                <a:spcPts val="0"/>
              </a:spcAft>
            </a:pPr>
            <a:r>
              <a:rPr sz="1200" b="0" i="0">
                <a:solidFill>
                  <a:srgbClr val="6B728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749300"/>
            <a:ext cx="10566400" cy="254000"/>
          </a:xfrm>
          <a:prstGeom prst="rect">
            <a:avLst/>
          </a:prstGeom>
          <a:noFill/>
        </p:spPr>
        <p:txBody>
          <a:bodyPr wrap="square" lIns="0" rIns="0" tIns="0" bIns="0" anchor="t">
            <a:spAutoFit/>
          </a:bodyPr>
          <a:lstStyle/>
          <a:p>
            <a:pPr algn="l">
              <a:lnSpc>
                <a:spcPct val="115000"/>
              </a:lnSpc>
              <a:spcAft>
                <a:spcPts val="0"/>
              </a:spcAft>
            </a:pPr>
            <a:r>
              <a:rPr sz="1200" b="1" i="0">
                <a:solidFill>
                  <a:srgbClr val="B4541A"/>
                </a:solidFill>
                <a:latin typeface="Arial"/>
              </a:rPr>
              <a:t>RESULTS · ABLATION</a:t>
            </a:r>
          </a:p>
        </p:txBody>
      </p:sp>
      <p:sp>
        <p:nvSpPr>
          <p:cNvPr id="3" name="TextBox 2"/>
          <p:cNvSpPr txBox="1"/>
          <p:nvPr/>
        </p:nvSpPr>
        <p:spPr>
          <a:xfrm>
            <a:off x="812800" y="1016000"/>
            <a:ext cx="10566400" cy="508000"/>
          </a:xfrm>
          <a:prstGeom prst="rect">
            <a:avLst/>
          </a:prstGeom>
          <a:noFill/>
        </p:spPr>
        <p:txBody>
          <a:bodyPr wrap="square" lIns="0" rIns="0" tIns="0" bIns="0" anchor="t">
            <a:spAutoFit/>
          </a:bodyPr>
          <a:lstStyle/>
          <a:p>
            <a:pPr algn="l">
              <a:lnSpc>
                <a:spcPct val="105000"/>
              </a:lnSpc>
              <a:spcAft>
                <a:spcPts val="0"/>
              </a:spcAft>
            </a:pPr>
            <a:r>
              <a:rPr sz="2800" b="1" i="0">
                <a:solidFill>
                  <a:srgbClr val="14213D"/>
                </a:solidFill>
                <a:latin typeface="Georgia"/>
              </a:rPr>
              <a:t>The choice of test matters as much as the signal</a:t>
            </a:r>
          </a:p>
        </p:txBody>
      </p:sp>
      <p:graphicFrame>
        <p:nvGraphicFramePr>
          <p:cNvPr id="4" name="Table 3"/>
          <p:cNvGraphicFramePr>
            <a:graphicFrameLocks noGrp="1"/>
          </p:cNvGraphicFramePr>
          <p:nvPr/>
        </p:nvGraphicFramePr>
        <p:xfrm>
          <a:off x="812800" y="2032000"/>
          <a:ext cx="6350000" cy="2667000"/>
        </p:xfrm>
        <a:graphic>
          <a:graphicData uri="http://schemas.openxmlformats.org/drawingml/2006/table">
            <a:tbl>
              <a:tblPr firstRow="1" bandRow="1">
                <a:tableStyleId>{5C22544A-7EE6-4342-B048-85BDC9FD1C3A}</a:tableStyleId>
              </a:tblPr>
              <a:tblGrid>
                <a:gridCol w="2540000"/>
                <a:gridCol w="889000"/>
                <a:gridCol w="889000"/>
                <a:gridCol w="1016000"/>
                <a:gridCol w="1016000"/>
              </a:tblGrid>
              <a:tr h="444500">
                <a:tc>
                  <a:txBody>
                    <a:bodyPr wrap="square" lIns="88900" rIns="88900" tIns="0" bIns="0"/>
                    <a:lstStyle/>
                    <a:p>
                      <a:pPr algn="l">
                        <a:lnSpc>
                          <a:spcPct val="115000"/>
                        </a:lnSpc>
                        <a:spcAft>
                          <a:spcPts val="0"/>
                        </a:spcAft>
                      </a:pPr>
                      <a:r>
                        <a:rPr sz="1500" b="1" i="0">
                          <a:solidFill>
                            <a:srgbClr val="F7F6F2"/>
                          </a:solidFill>
                          <a:latin typeface="Arial"/>
                        </a:rPr>
                        <a:t>Test (ε = 5%)</a:t>
                      </a:r>
                    </a:p>
                  </a:txBody>
                  <a:tcPr marL="88900" marR="88900" marT="25400" marB="25400" anchor="ctr">
                    <a:solidFill>
                      <a:srgbClr val="14213D"/>
                    </a:solidFill>
                  </a:tcPr>
                </a:tc>
                <a:tc>
                  <a:txBody>
                    <a:bodyPr wrap="square" lIns="88900" rIns="88900" tIns="0" bIns="0"/>
                    <a:lstStyle/>
                    <a:p>
                      <a:pPr algn="r">
                        <a:lnSpc>
                          <a:spcPct val="115000"/>
                        </a:lnSpc>
                        <a:spcAft>
                          <a:spcPts val="0"/>
                        </a:spcAft>
                      </a:pPr>
                      <a:r>
                        <a:rPr sz="1500" b="1" i="0">
                          <a:solidFill>
                            <a:srgbClr val="F7F6F2"/>
                          </a:solidFill>
                          <a:latin typeface="Arial"/>
                        </a:rPr>
                        <a:t>20b</a:t>
                      </a:r>
                    </a:p>
                  </a:txBody>
                  <a:tcPr marL="88900" marR="88900" marT="25400" marB="25400" anchor="ctr">
                    <a:solidFill>
                      <a:srgbClr val="14213D"/>
                    </a:solidFill>
                  </a:tcPr>
                </a:tc>
                <a:tc>
                  <a:txBody>
                    <a:bodyPr wrap="square" lIns="88900" rIns="88900" tIns="0" bIns="0"/>
                    <a:lstStyle/>
                    <a:p>
                      <a:pPr algn="r">
                        <a:lnSpc>
                          <a:spcPct val="115000"/>
                        </a:lnSpc>
                        <a:spcAft>
                          <a:spcPts val="0"/>
                        </a:spcAft>
                      </a:pPr>
                      <a:r>
                        <a:rPr sz="1500" b="1" i="0">
                          <a:solidFill>
                            <a:srgbClr val="F7F6F2"/>
                          </a:solidFill>
                          <a:latin typeface="Arial"/>
                        </a:rPr>
                        <a:t>120b</a:t>
                      </a:r>
                    </a:p>
                  </a:txBody>
                  <a:tcPr marL="88900" marR="88900" marT="25400" marB="25400" anchor="ctr">
                    <a:solidFill>
                      <a:srgbClr val="14213D"/>
                    </a:solidFill>
                  </a:tcPr>
                </a:tc>
                <a:tc>
                  <a:txBody>
                    <a:bodyPr wrap="square" lIns="88900" rIns="88900" tIns="0" bIns="0"/>
                    <a:lstStyle/>
                    <a:p>
                      <a:pPr algn="r">
                        <a:lnSpc>
                          <a:spcPct val="115000"/>
                        </a:lnSpc>
                        <a:spcAft>
                          <a:spcPts val="0"/>
                        </a:spcAft>
                      </a:pPr>
                      <a:r>
                        <a:rPr sz="1500" b="1" i="0">
                          <a:solidFill>
                            <a:srgbClr val="F7F6F2"/>
                          </a:solidFill>
                          <a:latin typeface="Arial"/>
                        </a:rPr>
                        <a:t>Gemma</a:t>
                      </a:r>
                    </a:p>
                  </a:txBody>
                  <a:tcPr marL="88900" marR="88900" marT="25400" marB="25400" anchor="ctr">
                    <a:solidFill>
                      <a:srgbClr val="14213D"/>
                    </a:solidFill>
                  </a:tcPr>
                </a:tc>
                <a:tc>
                  <a:txBody>
                    <a:bodyPr wrap="square" lIns="88900" rIns="88900" tIns="0" bIns="0"/>
                    <a:lstStyle/>
                    <a:p>
                      <a:pPr algn="r">
                        <a:lnSpc>
                          <a:spcPct val="115000"/>
                        </a:lnSpc>
                        <a:spcAft>
                          <a:spcPts val="0"/>
                        </a:spcAft>
                      </a:pPr>
                      <a:r>
                        <a:rPr sz="1500" b="1" i="0">
                          <a:solidFill>
                            <a:srgbClr val="F7F6F2"/>
                          </a:solidFill>
                          <a:latin typeface="Arial"/>
                        </a:rPr>
                        <a:t>Best</a:t>
                      </a:r>
                    </a:p>
                  </a:txBody>
                  <a:tcPr marL="88900" marR="88900" marT="25400" marB="25400" anchor="ctr">
                    <a:solidFill>
                      <a:srgbClr val="14213D"/>
                    </a:solidFill>
                  </a:tcPr>
                </a:tc>
              </a:tr>
              <a:tr h="444500">
                <a:tc>
                  <a:txBody>
                    <a:bodyPr wrap="square" lIns="88900" rIns="88900" tIns="0" bIns="0"/>
                    <a:lstStyle/>
                    <a:p>
                      <a:pPr algn="l">
                        <a:lnSpc>
                          <a:spcPct val="115000"/>
                        </a:lnSpc>
                        <a:spcAft>
                          <a:spcPts val="0"/>
                        </a:spcAft>
                      </a:pPr>
                      <a:r>
                        <a:rPr sz="1500" b="0" i="0">
                          <a:solidFill>
                            <a:srgbClr val="3A4150"/>
                          </a:solidFill>
                          <a:latin typeface="Arial"/>
                        </a:rPr>
                        <a:t>Hoeffding–Bentkus</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500" b="0" i="0">
                          <a:solidFill>
                            <a:srgbClr val="3A4150"/>
                          </a:solidFill>
                          <a:latin typeface="Arial"/>
                        </a:rPr>
                        <a:t>100</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500" b="0" i="0">
                          <a:solidFill>
                            <a:srgbClr val="3A4150"/>
                          </a:solidFill>
                          <a:latin typeface="Arial"/>
                        </a:rPr>
                        <a:t>100</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500" b="0" i="0">
                          <a:solidFill>
                            <a:srgbClr val="3A4150"/>
                          </a:solidFill>
                          <a:latin typeface="Arial"/>
                        </a:rPr>
                        <a:t>100</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500" b="0" i="0">
                          <a:solidFill>
                            <a:srgbClr val="3A4150"/>
                          </a:solidFill>
                          <a:latin typeface="Arial"/>
                        </a:rPr>
                        <a:t>0/12</a:t>
                      </a:r>
                    </a:p>
                  </a:txBody>
                  <a:tcPr marL="88900" marR="88900" marT="25400" marB="25400" anchor="ctr">
                    <a:solidFill>
                      <a:srgbClr val="FDFCF9"/>
                    </a:solidFill>
                  </a:tcPr>
                </a:tc>
              </a:tr>
              <a:tr h="444500">
                <a:tc>
                  <a:txBody>
                    <a:bodyPr wrap="square" lIns="88900" rIns="88900" tIns="0" bIns="0"/>
                    <a:lstStyle/>
                    <a:p>
                      <a:pPr algn="l">
                        <a:lnSpc>
                          <a:spcPct val="115000"/>
                        </a:lnSpc>
                        <a:spcAft>
                          <a:spcPts val="0"/>
                        </a:spcAft>
                      </a:pPr>
                      <a:r>
                        <a:rPr sz="1500" b="0" i="0">
                          <a:solidFill>
                            <a:srgbClr val="3A4150"/>
                          </a:solidFill>
                          <a:latin typeface="Arial"/>
                        </a:rPr>
                        <a:t>Betting, clipped</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500" b="0" i="0">
                          <a:solidFill>
                            <a:srgbClr val="3A4150"/>
                          </a:solidFill>
                          <a:latin typeface="Arial"/>
                        </a:rPr>
                        <a:t>82</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500" b="0" i="0">
                          <a:solidFill>
                            <a:srgbClr val="3A4150"/>
                          </a:solidFill>
                          <a:latin typeface="Arial"/>
                        </a:rPr>
                        <a:t>75</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500" b="0" i="0">
                          <a:solidFill>
                            <a:srgbClr val="3A4150"/>
                          </a:solidFill>
                          <a:latin typeface="Arial"/>
                        </a:rPr>
                        <a:t>80</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500" b="0" i="0">
                          <a:solidFill>
                            <a:srgbClr val="3A4150"/>
                          </a:solidFill>
                          <a:latin typeface="Arial"/>
                        </a:rPr>
                        <a:t>0/12</a:t>
                      </a:r>
                    </a:p>
                  </a:txBody>
                  <a:tcPr marL="88900" marR="88900" marT="25400" marB="25400" anchor="ctr">
                    <a:solidFill>
                      <a:srgbClr val="ECEAE3"/>
                    </a:solidFill>
                  </a:tcPr>
                </a:tc>
              </a:tr>
              <a:tr h="444500">
                <a:tc>
                  <a:txBody>
                    <a:bodyPr wrap="square" lIns="88900" rIns="88900" tIns="0" bIns="0"/>
                    <a:lstStyle/>
                    <a:p>
                      <a:pPr algn="l">
                        <a:lnSpc>
                          <a:spcPct val="115000"/>
                        </a:lnSpc>
                        <a:spcAft>
                          <a:spcPts val="0"/>
                        </a:spcAft>
                      </a:pPr>
                      <a:r>
                        <a:rPr sz="1500" b="0" i="0">
                          <a:solidFill>
                            <a:srgbClr val="3A4150"/>
                          </a:solidFill>
                          <a:latin typeface="Arial"/>
                        </a:rPr>
                        <a:t>Binomial, clipped</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500" b="0" i="0">
                          <a:solidFill>
                            <a:srgbClr val="3A4150"/>
                          </a:solidFill>
                          <a:latin typeface="Arial"/>
                        </a:rPr>
                        <a:t>79</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500" b="0" i="0">
                          <a:solidFill>
                            <a:srgbClr val="3A4150"/>
                          </a:solidFill>
                          <a:latin typeface="Arial"/>
                        </a:rPr>
                        <a:t>73</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500" b="0" i="0">
                          <a:solidFill>
                            <a:srgbClr val="3A4150"/>
                          </a:solidFill>
                          <a:latin typeface="Arial"/>
                        </a:rPr>
                        <a:t>77</a:t>
                      </a:r>
                    </a:p>
                  </a:txBody>
                  <a:tcPr marL="88900" marR="88900" marT="25400" marB="25400" anchor="ctr">
                    <a:solidFill>
                      <a:srgbClr val="FDFCF9"/>
                    </a:solidFill>
                  </a:tcPr>
                </a:tc>
                <a:tc>
                  <a:txBody>
                    <a:bodyPr wrap="square" lIns="88900" rIns="88900" tIns="0" bIns="0"/>
                    <a:lstStyle/>
                    <a:p>
                      <a:pPr algn="r">
                        <a:lnSpc>
                          <a:spcPct val="115000"/>
                        </a:lnSpc>
                        <a:spcAft>
                          <a:spcPts val="0"/>
                        </a:spcAft>
                      </a:pPr>
                      <a:r>
                        <a:rPr sz="1500" b="0" i="0">
                          <a:solidFill>
                            <a:srgbClr val="3A4150"/>
                          </a:solidFill>
                          <a:latin typeface="Arial"/>
                        </a:rPr>
                        <a:t>3/12</a:t>
                      </a:r>
                    </a:p>
                  </a:txBody>
                  <a:tcPr marL="88900" marR="88900" marT="25400" marB="25400" anchor="ctr">
                    <a:solidFill>
                      <a:srgbClr val="FDFCF9"/>
                    </a:solidFill>
                  </a:tcPr>
                </a:tc>
              </a:tr>
              <a:tr h="444500">
                <a:tc>
                  <a:txBody>
                    <a:bodyPr wrap="square" lIns="88900" rIns="88900" tIns="0" bIns="0"/>
                    <a:lstStyle/>
                    <a:p>
                      <a:pPr algn="l">
                        <a:lnSpc>
                          <a:spcPct val="115000"/>
                        </a:lnSpc>
                        <a:spcAft>
                          <a:spcPts val="0"/>
                        </a:spcAft>
                      </a:pPr>
                      <a:r>
                        <a:rPr sz="1500" b="0" i="0">
                          <a:solidFill>
                            <a:srgbClr val="3A4150"/>
                          </a:solidFill>
                          <a:latin typeface="Arial"/>
                        </a:rPr>
                        <a:t>Betting, Bonferroni</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500" b="0" i="0">
                          <a:solidFill>
                            <a:srgbClr val="3A4150"/>
                          </a:solidFill>
                          <a:latin typeface="Arial"/>
                        </a:rPr>
                        <a:t>92</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500" b="0" i="0">
                          <a:solidFill>
                            <a:srgbClr val="3A4150"/>
                          </a:solidFill>
                          <a:latin typeface="Arial"/>
                        </a:rPr>
                        <a:t>90</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500" b="0" i="0">
                          <a:solidFill>
                            <a:srgbClr val="3A4150"/>
                          </a:solidFill>
                          <a:latin typeface="Arial"/>
                        </a:rPr>
                        <a:t>97</a:t>
                      </a:r>
                    </a:p>
                  </a:txBody>
                  <a:tcPr marL="88900" marR="88900" marT="25400" marB="25400" anchor="ctr">
                    <a:solidFill>
                      <a:srgbClr val="ECEAE3"/>
                    </a:solidFill>
                  </a:tcPr>
                </a:tc>
                <a:tc>
                  <a:txBody>
                    <a:bodyPr wrap="square" lIns="88900" rIns="88900" tIns="0" bIns="0"/>
                    <a:lstStyle/>
                    <a:p>
                      <a:pPr algn="r">
                        <a:lnSpc>
                          <a:spcPct val="115000"/>
                        </a:lnSpc>
                        <a:spcAft>
                          <a:spcPts val="0"/>
                        </a:spcAft>
                      </a:pPr>
                      <a:r>
                        <a:rPr sz="1500" b="0" i="0">
                          <a:solidFill>
                            <a:srgbClr val="3A4150"/>
                          </a:solidFill>
                          <a:latin typeface="Arial"/>
                        </a:rPr>
                        <a:t>0/12</a:t>
                      </a:r>
                    </a:p>
                  </a:txBody>
                  <a:tcPr marL="88900" marR="88900" marT="25400" marB="25400" anchor="ctr">
                    <a:solidFill>
                      <a:srgbClr val="ECEAE3"/>
                    </a:solidFill>
                  </a:tcPr>
                </a:tc>
              </a:tr>
              <a:tr h="444500">
                <a:tc>
                  <a:txBody>
                    <a:bodyPr wrap="square" lIns="88900" rIns="88900" tIns="0" bIns="0"/>
                    <a:lstStyle/>
                    <a:p>
                      <a:pPr algn="l">
                        <a:lnSpc>
                          <a:spcPct val="115000"/>
                        </a:lnSpc>
                        <a:spcAft>
                          <a:spcPts val="0"/>
                        </a:spcAft>
                      </a:pPr>
                      <a:r>
                        <a:rPr sz="1500" b="1" i="0">
                          <a:solidFill>
                            <a:srgbClr val="3A4150"/>
                          </a:solidFill>
                          <a:latin typeface="Arial"/>
                        </a:rPr>
                        <a:t>Betting, signed (ours)</a:t>
                      </a:r>
                    </a:p>
                  </a:txBody>
                  <a:tcPr marL="88900" marR="88900" marT="25400" marB="25400" anchor="ctr">
                    <a:solidFill>
                      <a:srgbClr val="E3ECE2"/>
                    </a:solidFill>
                  </a:tcPr>
                </a:tc>
                <a:tc>
                  <a:txBody>
                    <a:bodyPr wrap="square" lIns="88900" rIns="88900" tIns="0" bIns="0"/>
                    <a:lstStyle/>
                    <a:p>
                      <a:pPr algn="r">
                        <a:lnSpc>
                          <a:spcPct val="115000"/>
                        </a:lnSpc>
                        <a:spcAft>
                          <a:spcPts val="0"/>
                        </a:spcAft>
                      </a:pPr>
                      <a:r>
                        <a:rPr sz="1500" b="1" i="0">
                          <a:solidFill>
                            <a:srgbClr val="3A4150"/>
                          </a:solidFill>
                          <a:latin typeface="Arial"/>
                        </a:rPr>
                        <a:t>59</a:t>
                      </a:r>
                    </a:p>
                  </a:txBody>
                  <a:tcPr marL="88900" marR="88900" marT="25400" marB="25400" anchor="ctr">
                    <a:solidFill>
                      <a:srgbClr val="E3ECE2"/>
                    </a:solidFill>
                  </a:tcPr>
                </a:tc>
                <a:tc>
                  <a:txBody>
                    <a:bodyPr wrap="square" lIns="88900" rIns="88900" tIns="0" bIns="0"/>
                    <a:lstStyle/>
                    <a:p>
                      <a:pPr algn="r">
                        <a:lnSpc>
                          <a:spcPct val="115000"/>
                        </a:lnSpc>
                        <a:spcAft>
                          <a:spcPts val="0"/>
                        </a:spcAft>
                      </a:pPr>
                      <a:r>
                        <a:rPr sz="1500" b="1" i="0">
                          <a:solidFill>
                            <a:srgbClr val="3A4150"/>
                          </a:solidFill>
                          <a:latin typeface="Arial"/>
                        </a:rPr>
                        <a:t>56</a:t>
                      </a:r>
                    </a:p>
                  </a:txBody>
                  <a:tcPr marL="88900" marR="88900" marT="25400" marB="25400" anchor="ctr">
                    <a:solidFill>
                      <a:srgbClr val="E3ECE2"/>
                    </a:solidFill>
                  </a:tcPr>
                </a:tc>
                <a:tc>
                  <a:txBody>
                    <a:bodyPr wrap="square" lIns="88900" rIns="88900" tIns="0" bIns="0"/>
                    <a:lstStyle/>
                    <a:p>
                      <a:pPr algn="r">
                        <a:lnSpc>
                          <a:spcPct val="115000"/>
                        </a:lnSpc>
                        <a:spcAft>
                          <a:spcPts val="0"/>
                        </a:spcAft>
                      </a:pPr>
                      <a:r>
                        <a:rPr sz="1500" b="1" i="0">
                          <a:solidFill>
                            <a:srgbClr val="3A4150"/>
                          </a:solidFill>
                          <a:latin typeface="Arial"/>
                        </a:rPr>
                        <a:t>71</a:t>
                      </a:r>
                    </a:p>
                  </a:txBody>
                  <a:tcPr marL="88900" marR="88900" marT="25400" marB="25400" anchor="ctr">
                    <a:solidFill>
                      <a:srgbClr val="E3ECE2"/>
                    </a:solidFill>
                  </a:tcPr>
                </a:tc>
                <a:tc>
                  <a:txBody>
                    <a:bodyPr wrap="square" lIns="88900" rIns="88900" tIns="0" bIns="0"/>
                    <a:lstStyle/>
                    <a:p>
                      <a:pPr algn="r">
                        <a:lnSpc>
                          <a:spcPct val="115000"/>
                        </a:lnSpc>
                        <a:spcAft>
                          <a:spcPts val="0"/>
                        </a:spcAft>
                      </a:pPr>
                      <a:r>
                        <a:rPr sz="1500" b="1" i="0">
                          <a:solidFill>
                            <a:srgbClr val="3A4150"/>
                          </a:solidFill>
                          <a:latin typeface="Arial"/>
                        </a:rPr>
                        <a:t>9/12</a:t>
                      </a:r>
                    </a:p>
                  </a:txBody>
                  <a:tcPr marL="88900" marR="88900" marT="25400" marB="25400" anchor="ctr">
                    <a:solidFill>
                      <a:srgbClr val="E3ECE2"/>
                    </a:solidFill>
                  </a:tcPr>
                </a:tc>
              </a:tr>
            </a:tbl>
          </a:graphicData>
        </a:graphic>
      </p:graphicFrame>
      <p:sp>
        <p:nvSpPr>
          <p:cNvPr id="5" name="TextBox 4"/>
          <p:cNvSpPr txBox="1"/>
          <p:nvPr/>
        </p:nvSpPr>
        <p:spPr>
          <a:xfrm>
            <a:off x="812800" y="4826000"/>
            <a:ext cx="6350000" cy="254000"/>
          </a:xfrm>
          <a:prstGeom prst="rect">
            <a:avLst/>
          </a:prstGeom>
          <a:noFill/>
        </p:spPr>
        <p:txBody>
          <a:bodyPr wrap="square" lIns="0" rIns="0" tIns="0" bIns="0" anchor="t">
            <a:spAutoFit/>
          </a:bodyPr>
          <a:lstStyle/>
          <a:p>
            <a:pPr algn="l">
              <a:lnSpc>
                <a:spcPct val="115000"/>
              </a:lnSpc>
              <a:spcAft>
                <a:spcPts val="0"/>
              </a:spcAft>
            </a:pPr>
            <a:r>
              <a:rPr sz="1200" b="0" i="0">
                <a:solidFill>
                  <a:srgbClr val="6B7280"/>
                </a:solidFill>
                <a:latin typeface="Arial"/>
              </a:rPr>
              <a:t>Tokens certified, % of the team’s. Best: settings where the test is cheapest.</a:t>
            </a:r>
          </a:p>
        </p:txBody>
      </p:sp>
      <p:sp>
        <p:nvSpPr>
          <p:cNvPr id="6" name="Rounded Rectangle 5"/>
          <p:cNvSpPr/>
          <p:nvPr/>
        </p:nvSpPr>
        <p:spPr>
          <a:xfrm>
            <a:off x="7467600" y="2032000"/>
            <a:ext cx="3911600" cy="1333500"/>
          </a:xfrm>
          <a:prstGeom prst="roundRect">
            <a:avLst>
              <a:gd name="adj" fmla="val 7619"/>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03200" bIns="203200"/>
          <a:lstStyle/>
          <a:p>
            <a:pPr algn="l">
              <a:lnSpc>
                <a:spcPct val="115000"/>
              </a:lnSpc>
              <a:spcAft>
                <a:spcPts val="600"/>
              </a:spcAft>
            </a:pPr>
            <a:r>
              <a:rPr sz="1600" b="1" i="0">
                <a:solidFill>
                  <a:srgbClr val="14213D"/>
                </a:solidFill>
                <a:latin typeface="Arial"/>
              </a:rPr>
              <a:t>Adapt to the variance</a:t>
            </a:r>
          </a:p>
          <a:p>
            <a:pPr algn="l">
              <a:lnSpc>
                <a:spcPct val="115000"/>
              </a:lnSpc>
              <a:spcAft>
                <a:spcPts val="0"/>
              </a:spcAft>
            </a:pPr>
            <a:r>
              <a:rPr sz="1400" b="0" i="0">
                <a:solidFill>
                  <a:srgbClr val="3A4150"/>
                </a:solidFill>
                <a:latin typeface="Arial"/>
              </a:rPr>
              <a:t>Most losses are zero. A worst-variance bound certifies nothing cheaper than the team.</a:t>
            </a:r>
          </a:p>
        </p:txBody>
      </p:sp>
      <p:sp>
        <p:nvSpPr>
          <p:cNvPr id="7" name="Rounded Rectangle 6"/>
          <p:cNvSpPr/>
          <p:nvPr/>
        </p:nvSpPr>
        <p:spPr>
          <a:xfrm>
            <a:off x="7467600" y="3556000"/>
            <a:ext cx="3911600" cy="1333500"/>
          </a:xfrm>
          <a:prstGeom prst="roundRect">
            <a:avLst>
              <a:gd name="adj" fmla="val 7619"/>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03200" bIns="203200"/>
          <a:lstStyle/>
          <a:p>
            <a:pPr algn="l">
              <a:lnSpc>
                <a:spcPct val="115000"/>
              </a:lnSpc>
              <a:spcAft>
                <a:spcPts val="600"/>
              </a:spcAft>
            </a:pPr>
            <a:r>
              <a:rPr sz="1600" b="1" i="0">
                <a:solidFill>
                  <a:srgbClr val="14213D"/>
                </a:solidFill>
                <a:latin typeface="Arial"/>
              </a:rPr>
              <a:t>Keep the sign</a:t>
            </a:r>
          </a:p>
          <a:p>
            <a:pPr algn="l">
              <a:lnSpc>
                <a:spcPct val="115000"/>
              </a:lnSpc>
              <a:spcAft>
                <a:spcPts val="0"/>
              </a:spcAft>
            </a:pPr>
            <a:r>
              <a:rPr sz="1400" b="0" i="0">
                <a:solidFill>
                  <a:srgbClr val="3A4150"/>
                </a:solidFill>
                <a:latin typeface="Arial"/>
              </a:rPr>
              <a:t>Clipping certifies much less where the team often loses answers: 83 vs. 44% on 20b MuSiQue.</a:t>
            </a:r>
          </a:p>
        </p:txBody>
      </p:sp>
      <p:sp>
        <p:nvSpPr>
          <p:cNvPr id="8" name="TextBox 7"/>
          <p:cNvSpPr txBox="1"/>
          <p:nvPr/>
        </p:nvSpPr>
        <p:spPr>
          <a:xfrm>
            <a:off x="812800" y="6350000"/>
            <a:ext cx="10566400" cy="215900"/>
          </a:xfrm>
          <a:prstGeom prst="rect">
            <a:avLst/>
          </a:prstGeom>
          <a:noFill/>
        </p:spPr>
        <p:txBody>
          <a:bodyPr wrap="square" lIns="0" rIns="0" tIns="0" bIns="0" anchor="t">
            <a:spAutoFit/>
          </a:bodyPr>
          <a:lstStyle/>
          <a:p>
            <a:pPr algn="r">
              <a:lnSpc>
                <a:spcPct val="115000"/>
              </a:lnSpc>
              <a:spcAft>
                <a:spcPts val="0"/>
              </a:spcAft>
            </a:pPr>
            <a:r>
              <a:rPr sz="1200" b="0" i="0">
                <a:solidFill>
                  <a:srgbClr val="6B728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749300"/>
            <a:ext cx="10566400" cy="254000"/>
          </a:xfrm>
          <a:prstGeom prst="rect">
            <a:avLst/>
          </a:prstGeom>
          <a:noFill/>
        </p:spPr>
        <p:txBody>
          <a:bodyPr wrap="square" lIns="0" rIns="0" tIns="0" bIns="0" anchor="t">
            <a:spAutoFit/>
          </a:bodyPr>
          <a:lstStyle/>
          <a:p>
            <a:pPr algn="l">
              <a:lnSpc>
                <a:spcPct val="115000"/>
              </a:lnSpc>
              <a:spcAft>
                <a:spcPts val="0"/>
              </a:spcAft>
            </a:pPr>
            <a:r>
              <a:rPr sz="1200" b="1" i="0">
                <a:solidFill>
                  <a:srgbClr val="B4541A"/>
                </a:solidFill>
                <a:latin typeface="Arial"/>
              </a:rPr>
              <a:t>RESULTS · ANALYSIS</a:t>
            </a:r>
          </a:p>
        </p:txBody>
      </p:sp>
      <p:sp>
        <p:nvSpPr>
          <p:cNvPr id="3" name="TextBox 2"/>
          <p:cNvSpPr txBox="1"/>
          <p:nvPr/>
        </p:nvSpPr>
        <p:spPr>
          <a:xfrm>
            <a:off x="812800" y="1016000"/>
            <a:ext cx="10566400" cy="508000"/>
          </a:xfrm>
          <a:prstGeom prst="rect">
            <a:avLst/>
          </a:prstGeom>
          <a:noFill/>
        </p:spPr>
        <p:txBody>
          <a:bodyPr wrap="square" lIns="0" rIns="0" tIns="0" bIns="0" anchor="t">
            <a:spAutoFit/>
          </a:bodyPr>
          <a:lstStyle/>
          <a:p>
            <a:pPr algn="l">
              <a:lnSpc>
                <a:spcPct val="105000"/>
              </a:lnSpc>
              <a:spcAft>
                <a:spcPts val="0"/>
              </a:spcAft>
            </a:pPr>
            <a:r>
              <a:rPr sz="2800" b="1" i="0">
                <a:solidFill>
                  <a:srgbClr val="14213D"/>
                </a:solidFill>
                <a:latin typeface="Georgia"/>
              </a:rPr>
              <a:t>What limits the savings, never the guarantee</a:t>
            </a:r>
          </a:p>
        </p:txBody>
      </p:sp>
      <p:sp>
        <p:nvSpPr>
          <p:cNvPr id="4" name="Rounded Rectangle 3"/>
          <p:cNvSpPr/>
          <p:nvPr/>
        </p:nvSpPr>
        <p:spPr>
          <a:xfrm>
            <a:off x="812800" y="2032000"/>
            <a:ext cx="3384550" cy="2667000"/>
          </a:xfrm>
          <a:prstGeom prst="roundRect">
            <a:avLst>
              <a:gd name="adj" fmla="val 3809"/>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54000" rIns="254000" tIns="254000" bIns="254000"/>
          <a:lstStyle/>
          <a:p>
            <a:pPr algn="l">
              <a:lnSpc>
                <a:spcPct val="115000"/>
              </a:lnSpc>
              <a:spcAft>
                <a:spcPts val="600"/>
              </a:spcAft>
            </a:pPr>
            <a:r>
              <a:rPr sz="1700" b="1" i="0">
                <a:solidFill>
                  <a:srgbClr val="14213D"/>
                </a:solidFill>
                <a:latin typeface="Arial"/>
              </a:rPr>
              <a:t>The signal</a:t>
            </a:r>
          </a:p>
          <a:p>
            <a:pPr algn="l">
              <a:lnSpc>
                <a:spcPct val="115000"/>
              </a:lnSpc>
              <a:spcAft>
                <a:spcPts val="1200"/>
              </a:spcAft>
            </a:pPr>
            <a:r>
              <a:rPr sz="1400" b="0" i="0">
                <a:solidFill>
                  <a:srgbClr val="3A4150"/>
                </a:solidFill>
                <a:latin typeface="Arial"/>
              </a:rPr>
              <a:t>Where L₀’s confidence ranks well, the gain falls from 21.6 points in the least confident tenth to 4–7. Where it is inverted, CLIMB relies on agreement or the team.</a:t>
            </a:r>
          </a:p>
          <a:p>
            <a:pPr algn="l">
              <a:lnSpc>
                <a:spcPct val="115000"/>
              </a:lnSpc>
              <a:spcAft>
                <a:spcPts val="1200"/>
              </a:spcAft>
            </a:pPr>
            <a:r>
              <a:rPr sz="1400" b="0" i="0">
                <a:solidFill>
                  <a:srgbClr val="3A4150"/>
                </a:solidFill>
                <a:latin typeface="Arial"/>
              </a:rPr>
              <a:t>Even a random score keeps the guarantee.</a:t>
            </a:r>
          </a:p>
        </p:txBody>
      </p:sp>
      <p:sp>
        <p:nvSpPr>
          <p:cNvPr id="5" name="Rectangle 4"/>
          <p:cNvSpPr/>
          <p:nvPr/>
        </p:nvSpPr>
        <p:spPr>
          <a:xfrm>
            <a:off x="812800" y="2032000"/>
            <a:ext cx="3384550" cy="63500"/>
          </a:xfrm>
          <a:prstGeom prst="rect">
            <a:avLst/>
          </a:prstGeom>
          <a:solidFill>
            <a:srgbClr val="B45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400550" y="2032000"/>
            <a:ext cx="3384550" cy="2667000"/>
          </a:xfrm>
          <a:prstGeom prst="roundRect">
            <a:avLst>
              <a:gd name="adj" fmla="val 3809"/>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54000" rIns="254000" tIns="254000" bIns="254000"/>
          <a:lstStyle/>
          <a:p>
            <a:pPr algn="l">
              <a:lnSpc>
                <a:spcPct val="115000"/>
              </a:lnSpc>
              <a:spcAft>
                <a:spcPts val="600"/>
              </a:spcAft>
            </a:pPr>
            <a:r>
              <a:rPr sz="1700" b="1" i="0">
                <a:solidFill>
                  <a:srgbClr val="14213D"/>
                </a:solidFill>
                <a:latin typeface="Arial"/>
              </a:rPr>
              <a:t>Calibration data</a:t>
            </a:r>
          </a:p>
          <a:p>
            <a:pPr algn="l">
              <a:lnSpc>
                <a:spcPct val="115000"/>
              </a:lnSpc>
              <a:spcAft>
                <a:spcPts val="1200"/>
              </a:spcAft>
            </a:pPr>
            <a:r>
              <a:rPr sz="1400" b="0" i="0">
                <a:solidFill>
                  <a:srgbClr val="3A4150"/>
                </a:solidFill>
                <a:latin typeface="Arial"/>
              </a:rPr>
              <a:t>50 tasks certify almost nothing. Savings at ε = 5% need a few hundred.</a:t>
            </a:r>
          </a:p>
          <a:p>
            <a:pPr algn="l">
              <a:lnSpc>
                <a:spcPct val="115000"/>
              </a:lnSpc>
              <a:spcAft>
                <a:spcPts val="1200"/>
              </a:spcAft>
            </a:pPr>
            <a:r>
              <a:rPr sz="1400" b="0" i="0">
                <a:solidFill>
                  <a:srgbClr val="3A4150"/>
                </a:solidFill>
                <a:latin typeface="Arial"/>
              </a:rPr>
              <a:t>Recording them is typically repaid within 340–2,000 queries at ε = 10%.</a:t>
            </a:r>
          </a:p>
        </p:txBody>
      </p:sp>
      <p:sp>
        <p:nvSpPr>
          <p:cNvPr id="7" name="Rectangle 6"/>
          <p:cNvSpPr/>
          <p:nvPr/>
        </p:nvSpPr>
        <p:spPr>
          <a:xfrm>
            <a:off x="4400550" y="2032000"/>
            <a:ext cx="3384550" cy="63500"/>
          </a:xfrm>
          <a:prstGeom prst="rect">
            <a:avLst/>
          </a:prstGeom>
          <a:solidFill>
            <a:srgbClr val="B45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988300" y="2032000"/>
            <a:ext cx="3384550" cy="2667000"/>
          </a:xfrm>
          <a:prstGeom prst="roundRect">
            <a:avLst>
              <a:gd name="adj" fmla="val 3809"/>
            </a:avLst>
          </a:prstGeom>
          <a:solidFill>
            <a:srgbClr val="FDFCF9"/>
          </a:solidFill>
          <a:ln w="9525">
            <a:solidFill>
              <a:srgbClr val="DDD8CC"/>
            </a:solidFill>
          </a:ln>
          <a:effectLst/>
        </p:spPr>
        <p:style>
          <a:lnRef idx="1">
            <a:schemeClr val="accent1"/>
          </a:lnRef>
          <a:fillRef idx="3">
            <a:schemeClr val="accent1"/>
          </a:fillRef>
          <a:effectRef idx="2">
            <a:schemeClr val="accent1"/>
          </a:effectRef>
          <a:fontRef idx="minor">
            <a:schemeClr val="lt1"/>
          </a:fontRef>
        </p:style>
        <p:txBody>
          <a:bodyPr rtlCol="0" anchor="t" wrap="square" lIns="254000" rIns="254000" tIns="254000" bIns="254000"/>
          <a:lstStyle/>
          <a:p>
            <a:pPr algn="l">
              <a:lnSpc>
                <a:spcPct val="115000"/>
              </a:lnSpc>
              <a:spcAft>
                <a:spcPts val="600"/>
              </a:spcAft>
            </a:pPr>
            <a:r>
              <a:rPr sz="1700" b="1" i="0">
                <a:solidFill>
                  <a:srgbClr val="14213D"/>
                </a:solidFill>
                <a:latin typeface="Arial"/>
              </a:rPr>
              <a:t>Headroom</a:t>
            </a:r>
          </a:p>
          <a:p>
            <a:pPr algn="l">
              <a:lnSpc>
                <a:spcPct val="115000"/>
              </a:lnSpc>
              <a:spcAft>
                <a:spcPts val="1200"/>
              </a:spcAft>
            </a:pPr>
            <a:r>
              <a:rPr sz="1400" b="0" i="0">
                <a:solidFill>
                  <a:srgbClr val="3A4150"/>
                </a:solidFill>
                <a:latin typeface="Arial"/>
              </a:rPr>
              <a:t>An oracle stopping at the cheapest correct rung beats the team by 7.2 points on average.</a:t>
            </a:r>
          </a:p>
          <a:p>
            <a:pPr algn="l">
              <a:lnSpc>
                <a:spcPct val="115000"/>
              </a:lnSpc>
              <a:spcAft>
                <a:spcPts val="1200"/>
              </a:spcAft>
            </a:pPr>
            <a:r>
              <a:rPr sz="1400" b="0" i="0">
                <a:solidFill>
                  <a:srgbClr val="3A4150"/>
                </a:solidFill>
                <a:latin typeface="Arial"/>
              </a:rPr>
              <a:t>Much of the headroom lies in better signals, which plug in directly.</a:t>
            </a:r>
          </a:p>
        </p:txBody>
      </p:sp>
      <p:sp>
        <p:nvSpPr>
          <p:cNvPr id="9" name="Rectangle 8"/>
          <p:cNvSpPr/>
          <p:nvPr/>
        </p:nvSpPr>
        <p:spPr>
          <a:xfrm>
            <a:off x="7988300" y="2032000"/>
            <a:ext cx="3384550" cy="63500"/>
          </a:xfrm>
          <a:prstGeom prst="rect">
            <a:avLst/>
          </a:prstGeom>
          <a:solidFill>
            <a:srgbClr val="B45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6350000"/>
            <a:ext cx="10566400" cy="215900"/>
          </a:xfrm>
          <a:prstGeom prst="rect">
            <a:avLst/>
          </a:prstGeom>
          <a:noFill/>
        </p:spPr>
        <p:txBody>
          <a:bodyPr wrap="square" lIns="0" rIns="0" tIns="0" bIns="0" anchor="t">
            <a:spAutoFit/>
          </a:bodyPr>
          <a:lstStyle/>
          <a:p>
            <a:pPr algn="r">
              <a:lnSpc>
                <a:spcPct val="115000"/>
              </a:lnSpc>
              <a:spcAft>
                <a:spcPts val="0"/>
              </a:spcAft>
            </a:pPr>
            <a:r>
              <a:rPr sz="1200" b="0" i="0">
                <a:solidFill>
                  <a:srgbClr val="6B728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12800" y="749300"/>
            <a:ext cx="10566400" cy="254000"/>
          </a:xfrm>
          <a:prstGeom prst="rect">
            <a:avLst/>
          </a:prstGeom>
          <a:noFill/>
        </p:spPr>
        <p:txBody>
          <a:bodyPr wrap="square" lIns="0" rIns="0" tIns="0" bIns="0" anchor="t">
            <a:spAutoFit/>
          </a:bodyPr>
          <a:lstStyle/>
          <a:p>
            <a:pPr algn="l">
              <a:lnSpc>
                <a:spcPct val="115000"/>
              </a:lnSpc>
              <a:spcAft>
                <a:spcPts val="0"/>
              </a:spcAft>
            </a:pPr>
            <a:r>
              <a:rPr sz="1200" b="1" i="0">
                <a:solidFill>
                  <a:srgbClr val="F0A66B"/>
                </a:solidFill>
                <a:latin typeface="Arial"/>
              </a:rPr>
              <a:t>TAKEAWAYS</a:t>
            </a:r>
          </a:p>
        </p:txBody>
      </p:sp>
      <p:sp>
        <p:nvSpPr>
          <p:cNvPr id="3" name="TextBox 2"/>
          <p:cNvSpPr txBox="1"/>
          <p:nvPr/>
        </p:nvSpPr>
        <p:spPr>
          <a:xfrm>
            <a:off x="812800" y="1016000"/>
            <a:ext cx="10566400" cy="762000"/>
          </a:xfrm>
          <a:prstGeom prst="rect">
            <a:avLst/>
          </a:prstGeom>
          <a:noFill/>
        </p:spPr>
        <p:txBody>
          <a:bodyPr wrap="square" lIns="0" rIns="0" tIns="0" bIns="0" anchor="t">
            <a:spAutoFit/>
          </a:bodyPr>
          <a:lstStyle/>
          <a:p>
            <a:pPr algn="l">
              <a:lnSpc>
                <a:spcPct val="105000"/>
              </a:lnSpc>
              <a:spcAft>
                <a:spcPts val="0"/>
              </a:spcAft>
            </a:pPr>
            <a:r>
              <a:rPr sz="3200" b="1" i="0">
                <a:solidFill>
                  <a:srgbClr val="F7F6F2"/>
                </a:solidFill>
                <a:latin typeface="Georgia"/>
              </a:rPr>
              <a:t>Call the team only when a cheaper answer is not certified</a:t>
            </a:r>
          </a:p>
        </p:txBody>
      </p:sp>
      <p:sp>
        <p:nvSpPr>
          <p:cNvPr id="4" name="Rectangle 3"/>
          <p:cNvSpPr/>
          <p:nvPr/>
        </p:nvSpPr>
        <p:spPr>
          <a:xfrm>
            <a:off x="812800" y="2413000"/>
            <a:ext cx="3384550" cy="25400"/>
          </a:xfrm>
          <a:prstGeom prst="rect">
            <a:avLst/>
          </a:prstGeom>
          <a:solidFill>
            <a:srgbClr val="F0A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540000"/>
            <a:ext cx="3384550" cy="1270000"/>
          </a:xfrm>
          <a:prstGeom prst="rect">
            <a:avLst/>
          </a:prstGeom>
          <a:noFill/>
        </p:spPr>
        <p:txBody>
          <a:bodyPr wrap="square" lIns="0" rIns="0" tIns="0" bIns="0" anchor="t">
            <a:spAutoFit/>
          </a:bodyPr>
          <a:lstStyle/>
          <a:p>
            <a:pPr algn="l">
              <a:lnSpc>
                <a:spcPct val="115000"/>
              </a:lnSpc>
              <a:spcAft>
                <a:spcPts val="600"/>
              </a:spcAft>
            </a:pPr>
            <a:r>
              <a:rPr sz="1600" b="1" i="0">
                <a:solidFill>
                  <a:srgbClr val="F7F6F2"/>
                </a:solidFill>
                <a:latin typeface="Arial"/>
              </a:rPr>
              <a:t>Teams are not uniformly better</a:t>
            </a:r>
          </a:p>
          <a:p>
            <a:pPr algn="l">
              <a:lnSpc>
                <a:spcPct val="115000"/>
              </a:lnSpc>
              <a:spcAft>
                <a:spcPts val="0"/>
              </a:spcAft>
            </a:pPr>
            <a:r>
              <a:rPr sz="1400" b="0" i="0">
                <a:solidFill>
                  <a:srgbClr val="C9D1E0"/>
                </a:solidFill>
                <a:latin typeface="Arial"/>
              </a:rPr>
              <a:t>They cost several times a single agent and sometimes lose its correct answers.</a:t>
            </a:r>
          </a:p>
        </p:txBody>
      </p:sp>
      <p:sp>
        <p:nvSpPr>
          <p:cNvPr id="6" name="Rectangle 5"/>
          <p:cNvSpPr/>
          <p:nvPr/>
        </p:nvSpPr>
        <p:spPr>
          <a:xfrm>
            <a:off x="4400550" y="2413000"/>
            <a:ext cx="3384550" cy="25400"/>
          </a:xfrm>
          <a:prstGeom prst="rect">
            <a:avLst/>
          </a:prstGeom>
          <a:solidFill>
            <a:srgbClr val="F0A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00550" y="2540000"/>
            <a:ext cx="3384550" cy="1270000"/>
          </a:xfrm>
          <a:prstGeom prst="rect">
            <a:avLst/>
          </a:prstGeom>
          <a:noFill/>
        </p:spPr>
        <p:txBody>
          <a:bodyPr wrap="square" lIns="0" rIns="0" tIns="0" bIns="0" anchor="t">
            <a:spAutoFit/>
          </a:bodyPr>
          <a:lstStyle/>
          <a:p>
            <a:pPr algn="l">
              <a:lnSpc>
                <a:spcPct val="115000"/>
              </a:lnSpc>
              <a:spcAft>
                <a:spcPts val="600"/>
              </a:spcAft>
            </a:pPr>
            <a:r>
              <a:rPr sz="1600" b="1" i="0">
                <a:solidFill>
                  <a:srgbClr val="F7F6F2"/>
                </a:solidFill>
                <a:latin typeface="Arial"/>
              </a:rPr>
              <a:t>Signed loss, adaptive test</a:t>
            </a:r>
          </a:p>
          <a:p>
            <a:pPr algn="l">
              <a:lnSpc>
                <a:spcPct val="115000"/>
              </a:lnSpc>
              <a:spcAft>
                <a:spcPts val="0"/>
              </a:spcAft>
            </a:pPr>
            <a:r>
              <a:rPr sz="1400" b="0" i="0">
                <a:solidFill>
                  <a:srgbClr val="C9D1E0"/>
                </a:solidFill>
                <a:latin typeface="Arial"/>
              </a:rPr>
              <a:t>A betting test in fixed sequence certifies the cheapest safe policy, with the team as fallback.</a:t>
            </a:r>
          </a:p>
        </p:txBody>
      </p:sp>
      <p:sp>
        <p:nvSpPr>
          <p:cNvPr id="8" name="Rectangle 7"/>
          <p:cNvSpPr/>
          <p:nvPr/>
        </p:nvSpPr>
        <p:spPr>
          <a:xfrm>
            <a:off x="7988300" y="2413000"/>
            <a:ext cx="3384550" cy="25400"/>
          </a:xfrm>
          <a:prstGeom prst="rect">
            <a:avLst/>
          </a:prstGeom>
          <a:solidFill>
            <a:srgbClr val="F0A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88300" y="2540000"/>
            <a:ext cx="3384550" cy="1270000"/>
          </a:xfrm>
          <a:prstGeom prst="rect">
            <a:avLst/>
          </a:prstGeom>
          <a:noFill/>
        </p:spPr>
        <p:txBody>
          <a:bodyPr wrap="square" lIns="0" rIns="0" tIns="0" bIns="0" anchor="t">
            <a:spAutoFit/>
          </a:bodyPr>
          <a:lstStyle/>
          <a:p>
            <a:pPr algn="l">
              <a:lnSpc>
                <a:spcPct val="115000"/>
              </a:lnSpc>
              <a:spcAft>
                <a:spcPts val="600"/>
              </a:spcAft>
            </a:pPr>
            <a:r>
              <a:rPr sz="1600" b="1" i="0">
                <a:solidFill>
                  <a:srgbClr val="F7F6F2"/>
                </a:solidFill>
                <a:latin typeface="Arial"/>
              </a:rPr>
              <a:t>Savings within the bound</a:t>
            </a:r>
          </a:p>
          <a:p>
            <a:pPr algn="l">
              <a:lnSpc>
                <a:spcPct val="115000"/>
              </a:lnSpc>
              <a:spcAft>
                <a:spcPts val="0"/>
              </a:spcAft>
            </a:pPr>
            <a:r>
              <a:rPr sz="1400" b="0" i="0">
                <a:solidFill>
                  <a:srgbClr val="C9D1E0"/>
                </a:solidFill>
                <a:latin typeface="Arial"/>
              </a:rPr>
              <a:t>38% of tokens saved at 5 points, 65% at 10, with failure rates at most 3.4%.</a:t>
            </a:r>
          </a:p>
        </p:txBody>
      </p:sp>
      <p:sp>
        <p:nvSpPr>
          <p:cNvPr id="10" name="TextBox 9"/>
          <p:cNvSpPr txBox="1"/>
          <p:nvPr/>
        </p:nvSpPr>
        <p:spPr>
          <a:xfrm>
            <a:off x="812800" y="4064000"/>
            <a:ext cx="10566400" cy="698500"/>
          </a:xfrm>
          <a:prstGeom prst="rect">
            <a:avLst/>
          </a:prstGeom>
          <a:noFill/>
        </p:spPr>
        <p:txBody>
          <a:bodyPr wrap="square" lIns="0" rIns="0" tIns="0" bIns="0" anchor="t">
            <a:spAutoFit/>
          </a:bodyPr>
          <a:lstStyle/>
          <a:p>
            <a:pPr algn="l">
              <a:lnSpc>
                <a:spcPct val="115000"/>
              </a:lnSpc>
              <a:spcAft>
                <a:spcPts val="0"/>
              </a:spcAft>
            </a:pPr>
            <a:r>
              <a:rPr sz="1400" b="0" i="0">
                <a:solidFill>
                  <a:srgbClr val="C9D1E0"/>
                </a:solidFill>
                <a:latin typeface="Arial"/>
              </a:rPr>
              <a:t>Scope: the guarantee assumes calibration and deployment share one distribution, so thresholds are best calibrated on the target tasks. Recalibration takes under a second once records exist.</a:t>
            </a:r>
          </a:p>
        </p:txBody>
      </p:sp>
      <p:sp>
        <p:nvSpPr>
          <p:cNvPr id="11" name="TextBox 10"/>
          <p:cNvSpPr txBox="1"/>
          <p:nvPr/>
        </p:nvSpPr>
        <p:spPr>
          <a:xfrm>
            <a:off x="812800" y="5080000"/>
            <a:ext cx="10566400" cy="508000"/>
          </a:xfrm>
          <a:prstGeom prst="rect">
            <a:avLst/>
          </a:prstGeom>
          <a:noFill/>
        </p:spPr>
        <p:txBody>
          <a:bodyPr wrap="square" lIns="0" rIns="0" tIns="0" bIns="0" anchor="t">
            <a:spAutoFit/>
          </a:bodyPr>
          <a:lstStyle/>
          <a:p>
            <a:pPr algn="l">
              <a:lnSpc>
                <a:spcPct val="115000"/>
              </a:lnSpc>
              <a:spcAft>
                <a:spcPts val="0"/>
              </a:spcAft>
            </a:pPr>
            <a:r>
              <a:rPr sz="2800" b="1" i="0">
                <a:solidFill>
                  <a:srgbClr val="F0A66B"/>
                </a:solidFill>
                <a:latin typeface="Georgia"/>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