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Teams of LLM agents can be more accurate than one model call, but they cost several times as much. This talk is about when the team is worth calling, and how to skip it safely.</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First, what is an agent team? Instead of asking one model once, we split the work into roles, all played by the same model. A planner writes a step-by-step plan. An executor solves the task following the plan. A reviewer checks the answer. If the reviewer rejects it, the executor revises, for up to five rounds. This plan, execute, review pattern is common in multi-agent frameworks.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use a team? It is more accurate. Grey is a direct answer, blue a single agent that reasons, orange the team. On every one of our twelve settings the team is the most accurate: 2 to 21 points above the direct answer, and up to 9 points above the single agent. The gains are largest on hard reasoning, BBEH.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accuracy comes at a price, in two ways. Left: the team uses 1.3 to 6.3 times the tokens of a single agent, because planner, executor and reviewer each add calls, for up to five rounds. Right: against the single agent, green bars are wrong answers the team fixes, red bars are right answers it breaks, up to 9 percent of tasks. So the team is better on balance, but it is expensive and not uniformly better.</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Where do the broken answers come from? In 84 percent of them the executor's first draft is already wrong, and the reviewer accepts it. Reviewers accept 23 to 58 percent of wrong answers. This is not just noise: rerunning the team reproduces about half of these losses.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Since the team is expensive and not always better, the idea is a ladder. Try the cheapest configuration first, a direct answer. If it looks right, stop. Otherwise try a single agent. Only if that also looks unreliable, call the full team. All three use the same model. The ladder itself is simple. The real question, and the rest of the method, is when a task should climb.</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Deciding when to climb breaks into four questions, and the rest of the method answers them in order. First, a signal: does the cheap answer look right? Second, a rule: where do we draw the line on that signal? Third, a check: how do we know the line is safe? Fourth, how far up the ladder to look before deciding. And if no rule passes the check, we simply always call the team.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one: what tells us a cheap answer is right? The first signal is free: the model's own confidence, its average token probability. Above the dashed line, confident answers are more often right. On three Gemma settings it points the wrong way: the model is confidently wrong. So any rule built on this signal must be checked, not trusted.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signal is also nearly free. The direct answer and the single agent answer independently. When they agree, the single agent is much more often right, for example 99 against 77 percent on gpt-oss-20b MATH. CLIMB combines the two into one score: agreeing tasks rank first, then by confidence.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two: where do we draw the line? A rule stops the task when its score is above a threshold. The natural shortcut is to pick the threshold by hand. Such rules can look fine on average but lose a lot on some settings. A fixed confidence threshold with the same average cost as CLIMB loses up to 16 points. Always using the single agent loses up to 9. CLIMB at a 5 point tolerance loses at most 2.8. And nothing at deployment tells you which setting is the bad one.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three: how do we know a line is safe? CLIMB turns this into a promise. You choose how much accuracy you can give up, say 5 points. CLIMB checks candidate rules on a few hundred labelled tasks and returns the cheapest rule that keeps the promise, with 90 percent probability. If no cheaper rule qualifies, it always calls the team, so the worst case is no savings, not lost accuracy.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check one rule? Imagine a gambler who bets that the rule is safe. He starts with one dollar. We reveal the calibration tasks one by one. If the rule gives the same result as the team, which is most tasks, he wins a little. If it loses an answer the team got right, he loses a lot. If it saves an answer the team broke, he wins a lot. If his money ever reaches 20 dollars, the rule passes. On the chart, the green rule loses half a point and he gets rich quickly. The red one loses 6 points and he goes broke. The bet size follows how much the earlier tasks varied, so a rule that rarely changes anything is bet on hard.</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should reaching 20 convince us? Suppose the rule is actually bad, so it loses more than the tolerance. Then every bet loses money on average, so the gambler's average wealth stays at most one dollar. His money can never go negative. If he reached 20 dollars more than 1 time in 20, those cases alone would push his average above one dollar. That is impossible. So a bad rule passes at most 5 percent of the time. Twenty is just one over five percent. Stopping as soon as he reaches 20 is covered too: freeze the money there and the same argument holds. We check two families of rules, each at 5 percent, so 90 percent overall.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many rules. We order them from safe to risky. Moving right, more tasks stop early: cheaper but riskier. We run the betting test on each, in this order, and stop at the first failure. Then we deploy the cheapest one that passed, the star, at 57 percent of the team's tokens. Because we stop at the first failure, testing many rules adds no extra risk: to pass a bad rule, the first bad rule in the line would have to pass, and that happens at most 5 percent of the time. This is the direct-answer family. The same runs for the two-rung family, and CLIMB keeps the cheaper one.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detail makes the check much sharper. Skipping the team is not only a risk: sometimes the cheap answer is right and the team would have broken it. Usual tests count only the losses. CLIMB's bet counts both sides, so saved answers offset lost ones. On the right, every test is valid, but they certify very different savings: a worst-case bound certifies nothing, ignoring saved answers keeps 79 percent of tokens, CLIMB's test 62.</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four: how far up the ladder should we look before deciding? Option A stops after the direct answer when it is confident. Option B also runs the single agent and stops when the two agree. Which is cheaper depends on the model and the task, so CLIMB checks both on the calibration data and deploys the cheaper one that passes, splitting the error budget between them. If neither passes, it always calls the team.</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test on three open models and four benchmarks: math, two open-book question answering sets, and hard reasoning. We record every rung for every task once, then replay 200 random splits: half to calibrate CLIMB, half to evaluate it.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Does the promise hold? For each setting, the share of splits where CLIMB lost more than its tolerance. The guarantee allows up to 10 percent. We see at most 2 percent. A separate check with 5,000 random calibration draws per setting gives at most 3.4 percent.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much does it save? Each bar is the share of the team's tokens CLIMB uses. At a 5 point tolerance it saves 38 percent on average, at 10 points 65 percent. Savings are smallest where confidence points the wrong way, on Gemma, and the guarantee still holds there: CLIMB just calls the team more often.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Why not just tune the threshold on the same data, without the test? It is cheaper on paper, but it breaks the promise: at 5 points it fails on 31 percent of splits on average, against at most 2 percent for CLIMB. A rule tuned to the edge on one sample tends to cross it on the next. The extra tokens CLIMB spends are the price of the guarantee.</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 up. Agent teams are expensive and sometimes hurt. CLIMB calls them only when cheaper answers cannot be certified, keeps a user-chosen accuracy promise, and saves 38 to 65 percent of tokens. The guarantee assumes calibration tasks look like deployment tasks. Thank you.</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Finally, what this could offer Amex. First, token spend. CLIMB only needs a score and a few hundred labelled tasks, so it can sit in front of any multi-agent workflow. Closed APIs often hide log-probabilities. We can still get them: feed the closed model's answer to an open model and read off each token's log-probability, the way PPO's reference model scores tokens written by another policy. The agreement of two cheap calls needs no log-probabilities at all. The guarantee holds whatever score we plug in: a weaker score saves less, it does not break the promise. We have not tested these proxy log-probabilities yet, so treat that part as a proposal. Second, design insights. More agents is not always better: reviewers pass many wrong drafts and teams break some right answers. Route each task instead of fixing one design for all. Cheap signals such as agreement are strong. And any routing rule, from model cascades to human review, can be given the same kind of guarantee.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2.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7.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8.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1905000"/>
            <a:ext cx="10566400" cy="254000"/>
          </a:xfrm>
          <a:prstGeom prst="rect">
            <a:avLst/>
          </a:prstGeom>
          <a:noFill/>
        </p:spPr>
        <p:txBody>
          <a:bodyPr wrap="square" lIns="0" rIns="0" tIns="0" bIns="0" anchor="t">
            <a:spAutoFit/>
          </a:bodyPr>
          <a:lstStyle/>
          <a:p>
            <a:pPr algn="l">
              <a:lnSpc>
                <a:spcPct val="115000"/>
              </a:lnSpc>
              <a:spcAft>
                <a:spcPts val="0"/>
              </a:spcAft>
            </a:pPr>
            <a:r>
              <a:rPr sz="1600" b="1">
                <a:solidFill>
                  <a:srgbClr val="006FCF"/>
                </a:solidFill>
                <a:latin typeface="Arial"/>
              </a:rPr>
              <a:t>CLIMB</a:t>
            </a:r>
          </a:p>
        </p:txBody>
      </p:sp>
      <p:sp>
        <p:nvSpPr>
          <p:cNvPr id="3" name="TextBox 2"/>
          <p:cNvSpPr txBox="1"/>
          <p:nvPr/>
        </p:nvSpPr>
        <p:spPr>
          <a:xfrm>
            <a:off x="812800" y="2222500"/>
            <a:ext cx="10566400" cy="825500"/>
          </a:xfrm>
          <a:prstGeom prst="rect">
            <a:avLst/>
          </a:prstGeom>
          <a:noFill/>
        </p:spPr>
        <p:txBody>
          <a:bodyPr wrap="square" lIns="0" rIns="0" tIns="0" bIns="0" anchor="t">
            <a:spAutoFit/>
          </a:bodyPr>
          <a:lstStyle/>
          <a:p>
            <a:pPr algn="l">
              <a:lnSpc>
                <a:spcPct val="115000"/>
              </a:lnSpc>
              <a:spcAft>
                <a:spcPts val="0"/>
              </a:spcAft>
            </a:pPr>
            <a:r>
              <a:rPr sz="5600" b="1">
                <a:solidFill>
                  <a:srgbClr val="00175A"/>
                </a:solidFill>
                <a:latin typeface="Georgia"/>
              </a:rPr>
              <a:t>When to Call the Team</a:t>
            </a:r>
          </a:p>
        </p:txBody>
      </p:sp>
      <p:sp>
        <p:nvSpPr>
          <p:cNvPr id="4" name="TextBox 3"/>
          <p:cNvSpPr txBox="1"/>
          <p:nvPr/>
        </p:nvSpPr>
        <p:spPr>
          <a:xfrm>
            <a:off x="812800" y="3143250"/>
            <a:ext cx="10566400" cy="381000"/>
          </a:xfrm>
          <a:prstGeom prst="rect">
            <a:avLst/>
          </a:prstGeom>
          <a:noFill/>
        </p:spPr>
        <p:txBody>
          <a:bodyPr wrap="square" lIns="0" rIns="0" tIns="0" bIns="0" anchor="t">
            <a:spAutoFit/>
          </a:bodyPr>
          <a:lstStyle/>
          <a:p>
            <a:pPr algn="l">
              <a:lnSpc>
                <a:spcPct val="115000"/>
              </a:lnSpc>
              <a:spcAft>
                <a:spcPts val="0"/>
              </a:spcAft>
            </a:pPr>
            <a:r>
              <a:rPr sz="2400" b="0">
                <a:solidFill>
                  <a:srgbClr val="333B47"/>
                </a:solidFill>
                <a:latin typeface="Arial"/>
              </a:rPr>
              <a:t>Save tokens on multi-agent LLM pipelines, with a guarantee on accuracy</a:t>
            </a:r>
          </a:p>
        </p:txBody>
      </p:sp>
      <p:sp>
        <p:nvSpPr>
          <p:cNvPr id="5" name="Rectangle 4"/>
          <p:cNvSpPr/>
          <p:nvPr/>
        </p:nvSpPr>
        <p:spPr>
          <a:xfrm>
            <a:off x="812800" y="3810000"/>
            <a:ext cx="1524000" cy="3175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4064000"/>
            <a:ext cx="10566400" cy="3175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Jianjun Gao, Jinxin Liu, Dongyun Lin, Hongyun Cai, Zheng Ma</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is an agent team?</a:t>
            </a:r>
          </a:p>
        </p:txBody>
      </p:sp>
      <p:sp>
        <p:nvSpPr>
          <p:cNvPr id="5" name="TextBox 4"/>
          <p:cNvSpPr txBox="1"/>
          <p:nvPr/>
        </p:nvSpPr>
        <p:spPr>
          <a:xfrm>
            <a:off x="812800" y="1714500"/>
            <a:ext cx="381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Single agent</a:t>
            </a:r>
          </a:p>
        </p:txBody>
      </p:sp>
      <p:sp>
        <p:nvSpPr>
          <p:cNvPr id="6" name="Rounded Rectangle 5"/>
          <p:cNvSpPr/>
          <p:nvPr/>
        </p:nvSpPr>
        <p:spPr>
          <a:xfrm>
            <a:off x="8128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Question</a:t>
            </a:r>
          </a:p>
        </p:txBody>
      </p:sp>
      <p:sp>
        <p:nvSpPr>
          <p:cNvPr id="7" name="Right Arrow 6"/>
          <p:cNvSpPr/>
          <p:nvPr/>
        </p:nvSpPr>
        <p:spPr>
          <a:xfrm>
            <a:off x="28257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3492500" y="2095500"/>
            <a:ext cx="1905000" cy="825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Model</a:t>
            </a:r>
          </a:p>
          <a:p>
            <a:pPr algn="ctr">
              <a:lnSpc>
                <a:spcPct val="115000"/>
              </a:lnSpc>
              <a:spcAft>
                <a:spcPts val="0"/>
              </a:spcAft>
            </a:pPr>
            <a:r>
              <a:rPr sz="1600" b="0">
                <a:solidFill>
                  <a:srgbClr val="00175A"/>
                </a:solidFill>
                <a:latin typeface="Arial"/>
              </a:rPr>
              <a:t>thinks once</a:t>
            </a:r>
          </a:p>
        </p:txBody>
      </p:sp>
      <p:sp>
        <p:nvSpPr>
          <p:cNvPr id="9" name="Right Arrow 8"/>
          <p:cNvSpPr/>
          <p:nvPr/>
        </p:nvSpPr>
        <p:spPr>
          <a:xfrm>
            <a:off x="5505450" y="2349500"/>
            <a:ext cx="571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172200" y="2095500"/>
            <a:ext cx="1905000" cy="825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200" b="1">
                <a:solidFill>
                  <a:srgbClr val="00175A"/>
                </a:solidFill>
                <a:latin typeface="Arial"/>
              </a:rPr>
              <a:t>Answer</a:t>
            </a:r>
          </a:p>
        </p:txBody>
      </p:sp>
      <p:sp>
        <p:nvSpPr>
          <p:cNvPr id="11" name="TextBox 10"/>
          <p:cNvSpPr txBox="1"/>
          <p:nvPr/>
        </p:nvSpPr>
        <p:spPr>
          <a:xfrm>
            <a:off x="812800" y="3651250"/>
            <a:ext cx="5080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6FCF"/>
                </a:solidFill>
                <a:latin typeface="Arial"/>
              </a:rPr>
              <a:t>Agent team: plan, execute, review</a:t>
            </a:r>
          </a:p>
        </p:txBody>
      </p:sp>
      <p:sp>
        <p:nvSpPr>
          <p:cNvPr id="12" name="Rounded Rectangle 11"/>
          <p:cNvSpPr/>
          <p:nvPr/>
        </p:nvSpPr>
        <p:spPr>
          <a:xfrm>
            <a:off x="812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Question</a:t>
            </a:r>
          </a:p>
        </p:txBody>
      </p:sp>
      <p:sp>
        <p:nvSpPr>
          <p:cNvPr id="13" name="Right Arrow 12"/>
          <p:cNvSpPr/>
          <p:nvPr/>
        </p:nvSpPr>
        <p:spPr>
          <a:xfrm>
            <a:off x="26289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30035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Planner</a:t>
            </a:r>
          </a:p>
          <a:p>
            <a:pPr algn="ctr">
              <a:lnSpc>
                <a:spcPct val="115000"/>
              </a:lnSpc>
              <a:spcAft>
                <a:spcPts val="0"/>
              </a:spcAft>
            </a:pPr>
            <a:r>
              <a:rPr sz="1500" b="0">
                <a:solidFill>
                  <a:srgbClr val="006FCF"/>
                </a:solidFill>
                <a:latin typeface="Arial"/>
              </a:rPr>
              <a:t>writes a plan</a:t>
            </a:r>
          </a:p>
        </p:txBody>
      </p:sp>
      <p:sp>
        <p:nvSpPr>
          <p:cNvPr id="15" name="Right Arrow 14"/>
          <p:cNvSpPr/>
          <p:nvPr/>
        </p:nvSpPr>
        <p:spPr>
          <a:xfrm>
            <a:off x="48196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519430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Executor</a:t>
            </a:r>
          </a:p>
          <a:p>
            <a:pPr algn="ctr">
              <a:lnSpc>
                <a:spcPct val="115000"/>
              </a:lnSpc>
              <a:spcAft>
                <a:spcPts val="0"/>
              </a:spcAft>
            </a:pPr>
            <a:r>
              <a:rPr sz="1500" b="0">
                <a:solidFill>
                  <a:srgbClr val="006FCF"/>
                </a:solidFill>
                <a:latin typeface="Arial"/>
              </a:rPr>
              <a:t>follows the plan</a:t>
            </a:r>
          </a:p>
        </p:txBody>
      </p:sp>
      <p:sp>
        <p:nvSpPr>
          <p:cNvPr id="17" name="Right Arrow 16"/>
          <p:cNvSpPr/>
          <p:nvPr/>
        </p:nvSpPr>
        <p:spPr>
          <a:xfrm>
            <a:off x="701040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7385050" y="4064000"/>
            <a:ext cx="1778000" cy="1079500"/>
          </a:xfrm>
          <a:prstGeom prst="roundRect">
            <a:avLst>
              <a:gd name="adj" fmla="val 10000"/>
            </a:avLst>
          </a:prstGeom>
          <a:solidFill>
            <a:srgbClr val="DDEDFB"/>
          </a:solidFill>
          <a:ln w="2540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Reviewer</a:t>
            </a:r>
          </a:p>
          <a:p>
            <a:pPr algn="ctr">
              <a:lnSpc>
                <a:spcPct val="115000"/>
              </a:lnSpc>
              <a:spcAft>
                <a:spcPts val="0"/>
              </a:spcAft>
            </a:pPr>
            <a:r>
              <a:rPr sz="1500" b="0">
                <a:solidFill>
                  <a:srgbClr val="006FCF"/>
                </a:solidFill>
                <a:latin typeface="Arial"/>
              </a:rPr>
              <a:t>accept or reject</a:t>
            </a:r>
          </a:p>
        </p:txBody>
      </p:sp>
      <p:sp>
        <p:nvSpPr>
          <p:cNvPr id="19" name="Right Arrow 18"/>
          <p:cNvSpPr/>
          <p:nvPr/>
        </p:nvSpPr>
        <p:spPr>
          <a:xfrm>
            <a:off x="9201150" y="4445000"/>
            <a:ext cx="3302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9575800" y="4064000"/>
            <a:ext cx="1778000" cy="1079500"/>
          </a:xfrm>
          <a:prstGeom prst="roundRect">
            <a:avLst>
              <a:gd name="adj" fmla="val 10000"/>
            </a:avLst>
          </a:prstGeom>
          <a:solidFill>
            <a:srgbClr val="FFFFFF"/>
          </a:solidFill>
          <a:ln w="254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400"/>
              </a:spcAft>
            </a:pPr>
            <a:r>
              <a:rPr sz="2100" b="1">
                <a:solidFill>
                  <a:srgbClr val="00175A"/>
                </a:solidFill>
                <a:latin typeface="Arial"/>
              </a:rPr>
              <a:t>Answer</a:t>
            </a:r>
          </a:p>
        </p:txBody>
      </p:sp>
      <p:sp>
        <p:nvSpPr>
          <p:cNvPr id="21" name="Left Arrow 20"/>
          <p:cNvSpPr/>
          <p:nvPr/>
        </p:nvSpPr>
        <p:spPr>
          <a:xfrm>
            <a:off x="5194300" y="5334000"/>
            <a:ext cx="2540000" cy="317500"/>
          </a:xfrm>
          <a:prstGeom prst="leftArrow">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445000" y="5715000"/>
            <a:ext cx="4064000" cy="317500"/>
          </a:xfrm>
          <a:prstGeom prst="rect">
            <a:avLst/>
          </a:prstGeom>
          <a:noFill/>
        </p:spPr>
        <p:txBody>
          <a:bodyPr wrap="square" lIns="0" rIns="0" tIns="0" bIns="0" anchor="t">
            <a:spAutoFit/>
          </a:bodyPr>
          <a:lstStyle/>
          <a:p>
            <a:pPr algn="ctr">
              <a:lnSpc>
                <a:spcPct val="115000"/>
              </a:lnSpc>
              <a:spcAft>
                <a:spcPts val="0"/>
              </a:spcAft>
            </a:pPr>
            <a:r>
              <a:rPr sz="1800" b="1">
                <a:solidFill>
                  <a:srgbClr val="006FCF"/>
                </a:solidFill>
                <a:latin typeface="Arial"/>
              </a:rPr>
              <a:t>rejected? revise, up to 5 rounds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BACKGROUND</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more accurate</a:t>
            </a:r>
          </a:p>
        </p:txBody>
      </p:sp>
      <p:pic>
        <p:nvPicPr>
          <p:cNvPr id="5" name="Picture 4" descr="c_accuracy.png"/>
          <p:cNvPicPr>
            <a:picLocks noChangeAspect="1"/>
          </p:cNvPicPr>
          <p:nvPr/>
        </p:nvPicPr>
        <p:blipFill>
          <a:blip r:embed="rId3"/>
          <a:stretch>
            <a:fillRect/>
          </a:stretch>
        </p:blipFill>
        <p:spPr>
          <a:xfrm>
            <a:off x="812800" y="1922942"/>
            <a:ext cx="7302500" cy="3901114"/>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+2 to +21</a:t>
            </a:r>
          </a:p>
          <a:p>
            <a:pPr algn="l">
              <a:lnSpc>
                <a:spcPct val="115000"/>
              </a:lnSpc>
              <a:spcAft>
                <a:spcPts val="0"/>
              </a:spcAft>
            </a:pPr>
            <a:r>
              <a:rPr sz="1700" b="0">
                <a:solidFill>
                  <a:srgbClr val="333B47"/>
                </a:solidFill>
                <a:latin typeface="Arial"/>
              </a:rPr>
              <a:t>points over a direct answer</a:t>
            </a:r>
          </a:p>
        </p:txBody>
      </p:sp>
      <p:sp>
        <p:nvSpPr>
          <p:cNvPr id="7" name="Rounded Rectangle 6"/>
          <p:cNvSpPr/>
          <p:nvPr/>
        </p:nvSpPr>
        <p:spPr>
          <a:xfrm>
            <a:off x="8445500" y="4000500"/>
            <a:ext cx="2933700" cy="1651000"/>
          </a:xfrm>
          <a:prstGeom prst="roundRect">
            <a:avLst>
              <a:gd name="adj" fmla="val 6923"/>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6FCF"/>
                </a:solidFill>
                <a:latin typeface="Georgia"/>
              </a:rPr>
              <a:t>12 / 12</a:t>
            </a:r>
          </a:p>
          <a:p>
            <a:pPr algn="l">
              <a:lnSpc>
                <a:spcPct val="115000"/>
              </a:lnSpc>
              <a:spcAft>
                <a:spcPts val="0"/>
              </a:spcAft>
            </a:pPr>
            <a:r>
              <a:rPr sz="1700" b="0">
                <a:solidFill>
                  <a:srgbClr val="333B47"/>
                </a:solidFill>
                <a:latin typeface="Arial"/>
              </a:rPr>
              <a:t>settings where the team is best, up to 9 points over a single agent</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CATCH</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Teams are costly, and sometimes harmful</a:t>
            </a:r>
          </a:p>
        </p:txBody>
      </p:sp>
      <p:sp>
        <p:nvSpPr>
          <p:cNvPr id="5" name="TextBox 4"/>
          <p:cNvSpPr txBox="1"/>
          <p:nvPr/>
        </p:nvSpPr>
        <p:spPr>
          <a:xfrm>
            <a:off x="8128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Cost: up to </a:t>
            </a:r>
            <a:r>
              <a:rPr sz="2400" b="1">
                <a:solidFill>
                  <a:srgbClr val="B4541A"/>
                </a:solidFill>
                <a:latin typeface="Arial"/>
              </a:rPr>
              <a:t>6.3×</a:t>
            </a:r>
            <a:r>
              <a:rPr sz="2400" b="1">
                <a:solidFill>
                  <a:srgbClr val="00175A"/>
                </a:solidFill>
                <a:latin typeface="Arial"/>
              </a:rPr>
              <a:t> a single agent</a:t>
            </a:r>
          </a:p>
        </p:txBody>
      </p:sp>
      <p:pic>
        <p:nvPicPr>
          <p:cNvPr id="6" name="Picture 5" descr="c_cost_n.png"/>
          <p:cNvPicPr>
            <a:picLocks noChangeAspect="1"/>
          </p:cNvPicPr>
          <p:nvPr/>
        </p:nvPicPr>
        <p:blipFill>
          <a:blip r:embed="rId3"/>
          <a:stretch>
            <a:fillRect/>
          </a:stretch>
        </p:blipFill>
        <p:spPr>
          <a:xfrm>
            <a:off x="925882" y="2159000"/>
            <a:ext cx="4853835" cy="3937000"/>
          </a:xfrm>
          <a:prstGeom prst="rect">
            <a:avLst/>
          </a:prstGeom>
        </p:spPr>
      </p:pic>
      <p:sp>
        <p:nvSpPr>
          <p:cNvPr id="7" name="TextBox 6"/>
          <p:cNvSpPr txBox="1"/>
          <p:nvPr/>
        </p:nvSpPr>
        <p:spPr>
          <a:xfrm>
            <a:off x="6299200" y="1714500"/>
            <a:ext cx="5080000" cy="317500"/>
          </a:xfrm>
          <a:prstGeom prst="rect">
            <a:avLst/>
          </a:prstGeom>
          <a:noFill/>
        </p:spPr>
        <p:txBody>
          <a:bodyPr wrap="square" lIns="0" rIns="0" tIns="0" bIns="0" anchor="t">
            <a:spAutoFit/>
          </a:bodyPr>
          <a:lstStyle/>
          <a:p>
            <a:pPr algn="l">
              <a:lnSpc>
                <a:spcPct val="115000"/>
              </a:lnSpc>
              <a:spcAft>
                <a:spcPts val="0"/>
              </a:spcAft>
            </a:pPr>
            <a:r>
              <a:rPr sz="2400" b="1">
                <a:solidFill>
                  <a:srgbClr val="00175A"/>
                </a:solidFill>
                <a:latin typeface="Arial"/>
              </a:rPr>
              <a:t>Harm: up to </a:t>
            </a:r>
            <a:r>
              <a:rPr sz="2400" b="1">
                <a:solidFill>
                  <a:srgbClr val="B03A2E"/>
                </a:solidFill>
                <a:latin typeface="Arial"/>
              </a:rPr>
              <a:t>9%</a:t>
            </a:r>
            <a:r>
              <a:rPr sz="2400" b="1">
                <a:solidFill>
                  <a:srgbClr val="00175A"/>
                </a:solidFill>
                <a:latin typeface="Arial"/>
              </a:rPr>
              <a:t> of tasks broken</a:t>
            </a:r>
          </a:p>
        </p:txBody>
      </p:sp>
      <p:pic>
        <p:nvPicPr>
          <p:cNvPr id="8" name="Picture 7" descr="c_flows_n.png"/>
          <p:cNvPicPr>
            <a:picLocks noChangeAspect="1"/>
          </p:cNvPicPr>
          <p:nvPr/>
        </p:nvPicPr>
        <p:blipFill>
          <a:blip r:embed="rId4"/>
          <a:stretch>
            <a:fillRect/>
          </a:stretch>
        </p:blipFill>
        <p:spPr>
          <a:xfrm>
            <a:off x="6299200" y="2168345"/>
            <a:ext cx="5080000" cy="3918309"/>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PROBLEM</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does the team break right answers?</a:t>
            </a:r>
          </a:p>
        </p:txBody>
      </p:sp>
      <p:sp>
        <p:nvSpPr>
          <p:cNvPr id="5" name="Rounded Rectangle 4"/>
          <p:cNvSpPr/>
          <p:nvPr/>
        </p:nvSpPr>
        <p:spPr>
          <a:xfrm>
            <a:off x="812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Planner</a:t>
            </a:r>
          </a:p>
          <a:p>
            <a:pPr algn="ctr">
              <a:lnSpc>
                <a:spcPct val="115000"/>
              </a:lnSpc>
              <a:spcAft>
                <a:spcPts val="0"/>
              </a:spcAft>
            </a:pPr>
            <a:r>
              <a:rPr sz="1700" b="1">
                <a:solidFill>
                  <a:srgbClr val="00175A"/>
                </a:solidFill>
                <a:latin typeface="Arial"/>
              </a:rPr>
              <a:t>writes a plan</a:t>
            </a:r>
          </a:p>
        </p:txBody>
      </p:sp>
      <p:sp>
        <p:nvSpPr>
          <p:cNvPr id="6" name="Right Arrow 5"/>
          <p:cNvSpPr/>
          <p:nvPr/>
        </p:nvSpPr>
        <p:spPr>
          <a:xfrm>
            <a:off x="3048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3543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Executor</a:t>
            </a:r>
          </a:p>
          <a:p>
            <a:pPr algn="ctr">
              <a:lnSpc>
                <a:spcPct val="115000"/>
              </a:lnSpc>
              <a:spcAft>
                <a:spcPts val="0"/>
              </a:spcAft>
            </a:pPr>
            <a:r>
              <a:rPr sz="1700" b="1">
                <a:solidFill>
                  <a:srgbClr val="B03A2E"/>
                </a:solidFill>
                <a:latin typeface="Arial"/>
              </a:rPr>
              <a:t>first draft is WRONG</a:t>
            </a:r>
          </a:p>
        </p:txBody>
      </p:sp>
      <p:sp>
        <p:nvSpPr>
          <p:cNvPr id="8" name="Right Arrow 7"/>
          <p:cNvSpPr/>
          <p:nvPr/>
        </p:nvSpPr>
        <p:spPr>
          <a:xfrm>
            <a:off x="57785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73800" y="2095500"/>
            <a:ext cx="2159000" cy="1397000"/>
          </a:xfrm>
          <a:prstGeom prst="roundRect">
            <a:avLst>
              <a:gd name="adj" fmla="val 8181"/>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Reviewer</a:t>
            </a:r>
          </a:p>
          <a:p>
            <a:pPr algn="ctr">
              <a:lnSpc>
                <a:spcPct val="115000"/>
              </a:lnSpc>
              <a:spcAft>
                <a:spcPts val="0"/>
              </a:spcAft>
            </a:pPr>
            <a:r>
              <a:rPr sz="1700" b="1">
                <a:solidFill>
                  <a:srgbClr val="00175A"/>
                </a:solidFill>
                <a:latin typeface="Arial"/>
              </a:rPr>
              <a:t>“Looks good” ACCEPTED</a:t>
            </a:r>
          </a:p>
        </p:txBody>
      </p:sp>
      <p:sp>
        <p:nvSpPr>
          <p:cNvPr id="10" name="Right Arrow 9"/>
          <p:cNvSpPr/>
          <p:nvPr/>
        </p:nvSpPr>
        <p:spPr>
          <a:xfrm>
            <a:off x="8509000" y="26352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9004300" y="2095500"/>
            <a:ext cx="21590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01600" rIns="101600" tIns="101600" bIns="101600"/>
          <a:lstStyle/>
          <a:p>
            <a:pPr algn="ctr">
              <a:lnSpc>
                <a:spcPct val="115000"/>
              </a:lnSpc>
              <a:spcAft>
                <a:spcPts val="800"/>
              </a:spcAft>
            </a:pPr>
            <a:r>
              <a:rPr sz="2200" b="1">
                <a:solidFill>
                  <a:srgbClr val="00175A"/>
                </a:solidFill>
                <a:latin typeface="Arial"/>
              </a:rPr>
              <a:t>Final answer</a:t>
            </a:r>
          </a:p>
          <a:p>
            <a:pPr algn="ctr">
              <a:lnSpc>
                <a:spcPct val="115000"/>
              </a:lnSpc>
              <a:spcAft>
                <a:spcPts val="0"/>
              </a:spcAft>
            </a:pPr>
            <a:r>
              <a:rPr sz="1700" b="1">
                <a:solidFill>
                  <a:srgbClr val="B03A2E"/>
                </a:solidFill>
                <a:latin typeface="Arial"/>
              </a:rPr>
              <a:t>WRONG</a:t>
            </a:r>
          </a:p>
        </p:txBody>
      </p:sp>
      <p:sp>
        <p:nvSpPr>
          <p:cNvPr id="12" name="Rounded Rectangle 11"/>
          <p:cNvSpPr/>
          <p:nvPr/>
        </p:nvSpPr>
        <p:spPr>
          <a:xfrm>
            <a:off x="8128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84%</a:t>
            </a:r>
          </a:p>
          <a:p>
            <a:pPr algn="l">
              <a:lnSpc>
                <a:spcPct val="115000"/>
              </a:lnSpc>
              <a:spcAft>
                <a:spcPts val="0"/>
              </a:spcAft>
            </a:pPr>
            <a:r>
              <a:rPr sz="1700" b="0">
                <a:solidFill>
                  <a:srgbClr val="333B47"/>
                </a:solidFill>
                <a:latin typeface="Arial"/>
              </a:rPr>
              <a:t>of broken answers start as a wrong first draft the reviewer did not catch</a:t>
            </a:r>
          </a:p>
        </p:txBody>
      </p:sp>
      <p:sp>
        <p:nvSpPr>
          <p:cNvPr id="13" name="Rounded Rectangle 12"/>
          <p:cNvSpPr/>
          <p:nvPr/>
        </p:nvSpPr>
        <p:spPr>
          <a:xfrm>
            <a:off x="6299200" y="4064000"/>
            <a:ext cx="5080000" cy="1587500"/>
          </a:xfrm>
          <a:prstGeom prst="roundRect">
            <a:avLst>
              <a:gd name="adj" fmla="val 7199"/>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23–58%</a:t>
            </a:r>
          </a:p>
          <a:p>
            <a:pPr algn="l">
              <a:lnSpc>
                <a:spcPct val="115000"/>
              </a:lnSpc>
              <a:spcAft>
                <a:spcPts val="0"/>
              </a:spcAft>
            </a:pPr>
            <a:r>
              <a:rPr sz="1700" b="0">
                <a:solidFill>
                  <a:srgbClr val="333B47"/>
                </a:solidFill>
                <a:latin typeface="Arial"/>
              </a:rPr>
              <a:t>of wrong answers are accepted by the reviewer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THE IDEA</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Climb a ladder: call the team only when needed</a:t>
            </a:r>
          </a:p>
        </p:txBody>
      </p:sp>
      <p:sp>
        <p:nvSpPr>
          <p:cNvPr id="5" name="Rounded Rectangle 4"/>
          <p:cNvSpPr/>
          <p:nvPr/>
        </p:nvSpPr>
        <p:spPr>
          <a:xfrm>
            <a:off x="812800" y="1619250"/>
            <a:ext cx="6731000" cy="508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63500" rIns="63500" tIns="63500" bIns="63500"/>
          <a:lstStyle/>
          <a:p>
            <a:pPr algn="l">
              <a:lnSpc>
                <a:spcPct val="115000"/>
              </a:lnSpc>
              <a:spcAft>
                <a:spcPts val="0"/>
              </a:spcAft>
            </a:pPr>
            <a:r>
              <a:rPr sz="2200" b="1">
                <a:solidFill>
                  <a:srgbClr val="66B2F0"/>
                </a:solidFill>
                <a:latin typeface="Arial"/>
              </a:rPr>
              <a:t>The key question: when should a task climb?</a:t>
            </a:r>
          </a:p>
        </p:txBody>
      </p:sp>
      <p:sp>
        <p:nvSpPr>
          <p:cNvPr id="6" name="Rectangle 5"/>
          <p:cNvSpPr/>
          <p:nvPr/>
        </p:nvSpPr>
        <p:spPr>
          <a:xfrm>
            <a:off x="1016000" y="4127500"/>
            <a:ext cx="2540000" cy="1587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Direct answer</a:t>
            </a:r>
          </a:p>
          <a:p>
            <a:pPr algn="ctr">
              <a:lnSpc>
                <a:spcPct val="115000"/>
              </a:lnSpc>
              <a:spcAft>
                <a:spcPts val="0"/>
              </a:spcAft>
            </a:pPr>
            <a:r>
              <a:rPr sz="1800" b="1">
                <a:solidFill>
                  <a:srgbClr val="00175A"/>
                </a:solidFill>
                <a:latin typeface="Arial"/>
              </a:rPr>
              <a:t>cheapest</a:t>
            </a:r>
          </a:p>
        </p:txBody>
      </p:sp>
      <p:sp>
        <p:nvSpPr>
          <p:cNvPr id="7" name="TextBox 6"/>
          <p:cNvSpPr txBox="1"/>
          <p:nvPr/>
        </p:nvSpPr>
        <p:spPr>
          <a:xfrm>
            <a:off x="3556000" y="4064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8" name="Right Arrow 7"/>
          <p:cNvSpPr/>
          <p:nvPr/>
        </p:nvSpPr>
        <p:spPr>
          <a:xfrm>
            <a:off x="3651250" y="4572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0" y="3238500"/>
            <a:ext cx="2540000" cy="2476500"/>
          </a:xfrm>
          <a:prstGeom prst="rect">
            <a:avLst/>
          </a:prstGeom>
          <a:solidFill>
            <a:srgbClr val="E6EBF4"/>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Single agent</a:t>
            </a:r>
          </a:p>
          <a:p>
            <a:pPr algn="ctr">
              <a:lnSpc>
                <a:spcPct val="115000"/>
              </a:lnSpc>
              <a:spcAft>
                <a:spcPts val="0"/>
              </a:spcAft>
            </a:pPr>
            <a:r>
              <a:rPr sz="1800" b="1">
                <a:solidFill>
                  <a:srgbClr val="00175A"/>
                </a:solidFill>
                <a:latin typeface="Arial"/>
              </a:rPr>
              <a:t>medium</a:t>
            </a:r>
          </a:p>
        </p:txBody>
      </p:sp>
      <p:sp>
        <p:nvSpPr>
          <p:cNvPr id="10" name="TextBox 9"/>
          <p:cNvSpPr txBox="1"/>
          <p:nvPr/>
        </p:nvSpPr>
        <p:spPr>
          <a:xfrm>
            <a:off x="7112000" y="3175000"/>
            <a:ext cx="1016000" cy="381000"/>
          </a:xfrm>
          <a:prstGeom prst="rect">
            <a:avLst/>
          </a:prstGeom>
          <a:noFill/>
        </p:spPr>
        <p:txBody>
          <a:bodyPr wrap="square" lIns="0" rIns="0" tIns="0" bIns="0" anchor="t">
            <a:spAutoFit/>
          </a:bodyPr>
          <a:lstStyle/>
          <a:p>
            <a:pPr algn="ctr">
              <a:lnSpc>
                <a:spcPct val="115000"/>
              </a:lnSpc>
              <a:spcAft>
                <a:spcPts val="0"/>
              </a:spcAft>
            </a:pPr>
            <a:r>
              <a:rPr sz="1500" b="1">
                <a:solidFill>
                  <a:srgbClr val="6B7480"/>
                </a:solidFill>
                <a:latin typeface="Arial"/>
              </a:rPr>
              <a:t>not sure?
go up</a:t>
            </a:r>
          </a:p>
        </p:txBody>
      </p:sp>
      <p:sp>
        <p:nvSpPr>
          <p:cNvPr id="11" name="Right Arrow 10"/>
          <p:cNvSpPr/>
          <p:nvPr/>
        </p:nvSpPr>
        <p:spPr>
          <a:xfrm>
            <a:off x="7207250" y="3683000"/>
            <a:ext cx="825500" cy="2794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128000" y="2349500"/>
            <a:ext cx="2540000" cy="3365500"/>
          </a:xfrm>
          <a:prstGeom prst="rect">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400" b="1">
                <a:solidFill>
                  <a:srgbClr val="00175A"/>
                </a:solidFill>
                <a:latin typeface="Arial"/>
              </a:rPr>
              <a:t>Agent team</a:t>
            </a:r>
          </a:p>
          <a:p>
            <a:pPr algn="ctr">
              <a:lnSpc>
                <a:spcPct val="115000"/>
              </a:lnSpc>
              <a:spcAft>
                <a:spcPts val="0"/>
              </a:spcAft>
            </a:pPr>
            <a:r>
              <a:rPr sz="1800" b="1">
                <a:solidFill>
                  <a:srgbClr val="006FCF"/>
                </a:solidFill>
                <a:latin typeface="Arial"/>
              </a:rPr>
              <a:t>most expensive</a:t>
            </a:r>
          </a:p>
        </p:txBody>
      </p:sp>
      <p:sp>
        <p:nvSpPr>
          <p:cNvPr id="13" name="TextBox 12"/>
          <p:cNvSpPr txBox="1"/>
          <p:nvPr/>
        </p:nvSpPr>
        <p:spPr>
          <a:xfrm>
            <a:off x="1016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4" name="TextBox 13"/>
          <p:cNvSpPr txBox="1"/>
          <p:nvPr/>
        </p:nvSpPr>
        <p:spPr>
          <a:xfrm>
            <a:off x="4572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2F6B34"/>
                </a:solidFill>
                <a:latin typeface="Arial"/>
              </a:rPr>
              <a:t>sure? stop and answer</a:t>
            </a:r>
          </a:p>
        </p:txBody>
      </p:sp>
      <p:sp>
        <p:nvSpPr>
          <p:cNvPr id="15" name="TextBox 14"/>
          <p:cNvSpPr txBox="1"/>
          <p:nvPr/>
        </p:nvSpPr>
        <p:spPr>
          <a:xfrm>
            <a:off x="8128000" y="5842000"/>
            <a:ext cx="2540000" cy="317500"/>
          </a:xfrm>
          <a:prstGeom prst="rect">
            <a:avLst/>
          </a:prstGeom>
          <a:noFill/>
        </p:spPr>
        <p:txBody>
          <a:bodyPr wrap="square" lIns="0" rIns="0" tIns="0" bIns="0" anchor="t">
            <a:spAutoFit/>
          </a:bodyPr>
          <a:lstStyle/>
          <a:p>
            <a:pPr algn="ctr">
              <a:lnSpc>
                <a:spcPct val="115000"/>
              </a:lnSpc>
              <a:spcAft>
                <a:spcPts val="0"/>
              </a:spcAft>
            </a:pPr>
            <a:r>
              <a:rPr sz="1700" b="1">
                <a:solidFill>
                  <a:srgbClr val="006FCF"/>
                </a:solidFill>
                <a:latin typeface="Arial"/>
              </a:rPr>
              <a:t>always answers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400" b="1">
                <a:solidFill>
                  <a:srgbClr val="00175A"/>
                </a:solidFill>
                <a:latin typeface="Georgia"/>
              </a:rPr>
              <a:t>Deciding when to climb: four questions</a:t>
            </a:r>
          </a:p>
        </p:txBody>
      </p:sp>
      <p:sp>
        <p:nvSpPr>
          <p:cNvPr id="5" name="Rounded Rectangle 4"/>
          <p:cNvSpPr/>
          <p:nvPr/>
        </p:nvSpPr>
        <p:spPr>
          <a:xfrm>
            <a:off x="8128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1</a:t>
            </a:r>
          </a:p>
          <a:p>
            <a:pPr algn="l">
              <a:lnSpc>
                <a:spcPct val="115000"/>
              </a:lnSpc>
              <a:spcAft>
                <a:spcPts val="1200"/>
              </a:spcAft>
            </a:pPr>
            <a:r>
              <a:rPr sz="2400" b="1">
                <a:solidFill>
                  <a:srgbClr val="00175A"/>
                </a:solidFill>
                <a:latin typeface="Arial"/>
              </a:rPr>
              <a:t>Signal</a:t>
            </a:r>
          </a:p>
          <a:p>
            <a:pPr algn="l">
              <a:lnSpc>
                <a:spcPct val="115000"/>
              </a:lnSpc>
              <a:spcAft>
                <a:spcPts val="1600"/>
              </a:spcAft>
            </a:pPr>
            <a:r>
              <a:rPr sz="1800" b="0">
                <a:solidFill>
                  <a:srgbClr val="333B47"/>
                </a:solidFill>
                <a:latin typeface="Arial"/>
              </a:rPr>
              <a:t>Does the cheap answer look right?</a:t>
            </a:r>
          </a:p>
          <a:p>
            <a:pPr algn="l">
              <a:lnSpc>
                <a:spcPct val="115000"/>
              </a:lnSpc>
              <a:spcAft>
                <a:spcPts val="0"/>
              </a:spcAft>
            </a:pPr>
            <a:r>
              <a:rPr sz="1800" b="1">
                <a:solidFill>
                  <a:srgbClr val="006FCF"/>
                </a:solidFill>
                <a:latin typeface="Arial"/>
              </a:rPr>
              <a:t>→ confidence and agreement</a:t>
            </a:r>
          </a:p>
        </p:txBody>
      </p:sp>
      <p:sp>
        <p:nvSpPr>
          <p:cNvPr id="6" name="Rounded Rectangle 5"/>
          <p:cNvSpPr/>
          <p:nvPr/>
        </p:nvSpPr>
        <p:spPr>
          <a:xfrm>
            <a:off x="35179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2</a:t>
            </a:r>
          </a:p>
          <a:p>
            <a:pPr algn="l">
              <a:lnSpc>
                <a:spcPct val="115000"/>
              </a:lnSpc>
              <a:spcAft>
                <a:spcPts val="1200"/>
              </a:spcAft>
            </a:pPr>
            <a:r>
              <a:rPr sz="2400" b="1">
                <a:solidFill>
                  <a:srgbClr val="00175A"/>
                </a:solidFill>
                <a:latin typeface="Arial"/>
              </a:rPr>
              <a:t>Rule</a:t>
            </a:r>
          </a:p>
          <a:p>
            <a:pPr algn="l">
              <a:lnSpc>
                <a:spcPct val="115000"/>
              </a:lnSpc>
              <a:spcAft>
                <a:spcPts val="1600"/>
              </a:spcAft>
            </a:pPr>
            <a:r>
              <a:rPr sz="1800" b="0">
                <a:solidFill>
                  <a:srgbClr val="333B47"/>
                </a:solidFill>
                <a:latin typeface="Arial"/>
              </a:rPr>
              <a:t>Where do we draw the line?</a:t>
            </a:r>
          </a:p>
          <a:p>
            <a:pPr algn="l">
              <a:lnSpc>
                <a:spcPct val="115000"/>
              </a:lnSpc>
              <a:spcAft>
                <a:spcPts val="0"/>
              </a:spcAft>
            </a:pPr>
            <a:r>
              <a:rPr sz="1800" b="1">
                <a:solidFill>
                  <a:srgbClr val="006FCF"/>
                </a:solidFill>
                <a:latin typeface="Arial"/>
              </a:rPr>
              <a:t>→ a threshold on the score</a:t>
            </a:r>
          </a:p>
        </p:txBody>
      </p:sp>
      <p:sp>
        <p:nvSpPr>
          <p:cNvPr id="7" name="Rounded Rectangle 6"/>
          <p:cNvSpPr/>
          <p:nvPr/>
        </p:nvSpPr>
        <p:spPr>
          <a:xfrm>
            <a:off x="62230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3</a:t>
            </a:r>
          </a:p>
          <a:p>
            <a:pPr algn="l">
              <a:lnSpc>
                <a:spcPct val="115000"/>
              </a:lnSpc>
              <a:spcAft>
                <a:spcPts val="1200"/>
              </a:spcAft>
            </a:pPr>
            <a:r>
              <a:rPr sz="2400" b="1">
                <a:solidFill>
                  <a:srgbClr val="00175A"/>
                </a:solidFill>
                <a:latin typeface="Arial"/>
              </a:rPr>
              <a:t>Check</a:t>
            </a:r>
          </a:p>
          <a:p>
            <a:pPr algn="l">
              <a:lnSpc>
                <a:spcPct val="115000"/>
              </a:lnSpc>
              <a:spcAft>
                <a:spcPts val="1600"/>
              </a:spcAft>
            </a:pPr>
            <a:r>
              <a:rPr sz="1800" b="0">
                <a:solidFill>
                  <a:srgbClr val="333B47"/>
                </a:solidFill>
                <a:latin typeface="Arial"/>
              </a:rPr>
              <a:t>Is that line safe?</a:t>
            </a:r>
          </a:p>
          <a:p>
            <a:pPr algn="l">
              <a:lnSpc>
                <a:spcPct val="115000"/>
              </a:lnSpc>
              <a:spcAft>
                <a:spcPts val="0"/>
              </a:spcAft>
            </a:pPr>
            <a:r>
              <a:rPr sz="1800" b="1">
                <a:solidFill>
                  <a:srgbClr val="006FCF"/>
                </a:solidFill>
                <a:latin typeface="Arial"/>
              </a:rPr>
              <a:t>→ a test with a guarantee</a:t>
            </a:r>
          </a:p>
        </p:txBody>
      </p:sp>
      <p:sp>
        <p:nvSpPr>
          <p:cNvPr id="8" name="Rounded Rectangle 7"/>
          <p:cNvSpPr/>
          <p:nvPr/>
        </p:nvSpPr>
        <p:spPr>
          <a:xfrm>
            <a:off x="8928100" y="1841500"/>
            <a:ext cx="2451100" cy="3429000"/>
          </a:xfrm>
          <a:prstGeom prst="roundRect">
            <a:avLst>
              <a:gd name="adj" fmla="val 466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t" wrap="square" lIns="177800" rIns="177800" tIns="177800" bIns="177800"/>
          <a:lstStyle/>
          <a:p>
            <a:pPr algn="l">
              <a:lnSpc>
                <a:spcPct val="115000"/>
              </a:lnSpc>
              <a:spcAft>
                <a:spcPts val="400"/>
              </a:spcAft>
            </a:pPr>
            <a:r>
              <a:rPr sz="3600" b="1">
                <a:solidFill>
                  <a:srgbClr val="006FCF"/>
                </a:solidFill>
                <a:latin typeface="Georgia"/>
              </a:rPr>
              <a:t>4</a:t>
            </a:r>
          </a:p>
          <a:p>
            <a:pPr algn="l">
              <a:lnSpc>
                <a:spcPct val="115000"/>
              </a:lnSpc>
              <a:spcAft>
                <a:spcPts val="1200"/>
              </a:spcAft>
            </a:pPr>
            <a:r>
              <a:rPr sz="2400" b="1">
                <a:solidFill>
                  <a:srgbClr val="00175A"/>
                </a:solidFill>
                <a:latin typeface="Arial"/>
              </a:rPr>
              <a:t>Depth</a:t>
            </a:r>
          </a:p>
          <a:p>
            <a:pPr algn="l">
              <a:lnSpc>
                <a:spcPct val="115000"/>
              </a:lnSpc>
              <a:spcAft>
                <a:spcPts val="1600"/>
              </a:spcAft>
            </a:pPr>
            <a:r>
              <a:rPr sz="1800" b="0">
                <a:solidFill>
                  <a:srgbClr val="333B47"/>
                </a:solidFill>
                <a:latin typeface="Arial"/>
              </a:rPr>
              <a:t>Look one rung up or two?</a:t>
            </a:r>
          </a:p>
          <a:p>
            <a:pPr algn="l">
              <a:lnSpc>
                <a:spcPct val="115000"/>
              </a:lnSpc>
              <a:spcAft>
                <a:spcPts val="0"/>
              </a:spcAft>
            </a:pPr>
            <a:r>
              <a:rPr sz="1800" b="1">
                <a:solidFill>
                  <a:srgbClr val="006FCF"/>
                </a:solidFill>
                <a:latin typeface="Arial"/>
              </a:rPr>
              <a:t>→ let the data choose</a:t>
            </a:r>
          </a:p>
        </p:txBody>
      </p:sp>
      <p:sp>
        <p:nvSpPr>
          <p:cNvPr id="9" name="TextBox 8"/>
          <p:cNvSpPr txBox="1"/>
          <p:nvPr/>
        </p:nvSpPr>
        <p:spPr>
          <a:xfrm>
            <a:off x="812800" y="5524500"/>
            <a:ext cx="10566400" cy="381000"/>
          </a:xfrm>
          <a:prstGeom prst="rect">
            <a:avLst/>
          </a:prstGeom>
          <a:noFill/>
        </p:spPr>
        <p:txBody>
          <a:bodyPr wrap="square" lIns="0" rIns="0" tIns="0" bIns="0" anchor="t">
            <a:spAutoFit/>
          </a:bodyPr>
          <a:lstStyle/>
          <a:p>
            <a:pPr algn="l">
              <a:lnSpc>
                <a:spcPct val="115000"/>
              </a:lnSpc>
              <a:spcAft>
                <a:spcPts val="0"/>
              </a:spcAft>
            </a:pPr>
            <a:r>
              <a:rPr sz="2000" b="1">
                <a:solidFill>
                  <a:srgbClr val="00175A"/>
                </a:solidFill>
                <a:latin typeface="Arial"/>
              </a:rPr>
              <a:t>No rule passes the check?  →  always call the team.  Worst case: no savings, never lost accuracy.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1 SIGNAL</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Is the direct answer confident?</a:t>
            </a:r>
          </a:p>
        </p:txBody>
      </p:sp>
      <p:pic>
        <p:nvPicPr>
          <p:cNvPr id="5" name="Picture 4" descr="c_auroc.png"/>
          <p:cNvPicPr>
            <a:picLocks noChangeAspect="1"/>
          </p:cNvPicPr>
          <p:nvPr/>
        </p:nvPicPr>
        <p:blipFill>
          <a:blip r:embed="rId3"/>
          <a:stretch>
            <a:fillRect/>
          </a:stretch>
        </p:blipFill>
        <p:spPr>
          <a:xfrm>
            <a:off x="812800" y="2046894"/>
            <a:ext cx="7302500" cy="3653211"/>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usually helps</a:t>
            </a:r>
          </a:p>
          <a:p>
            <a:pPr algn="l">
              <a:lnSpc>
                <a:spcPct val="115000"/>
              </a:lnSpc>
              <a:spcAft>
                <a:spcPts val="0"/>
              </a:spcAft>
            </a:pPr>
            <a:r>
              <a:rPr sz="1700" b="0">
                <a:solidFill>
                  <a:srgbClr val="333B47"/>
                </a:solidFill>
                <a:latin typeface="Arial"/>
              </a:rPr>
              <a:t>confident answers tend to be right</a:t>
            </a:r>
          </a:p>
        </p:txBody>
      </p:sp>
      <p:sp>
        <p:nvSpPr>
          <p:cNvPr id="7" name="Rounded Rectangle 6"/>
          <p:cNvSpPr/>
          <p:nvPr/>
        </p:nvSpPr>
        <p:spPr>
          <a:xfrm>
            <a:off x="8445500" y="4000500"/>
            <a:ext cx="2933700" cy="1651000"/>
          </a:xfrm>
          <a:prstGeom prst="roundRect">
            <a:avLst>
              <a:gd name="adj" fmla="val 6923"/>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 of 12</a:t>
            </a:r>
          </a:p>
          <a:p>
            <a:pPr algn="l">
              <a:lnSpc>
                <a:spcPct val="115000"/>
              </a:lnSpc>
              <a:spcAft>
                <a:spcPts val="0"/>
              </a:spcAft>
            </a:pPr>
            <a:r>
              <a:rPr sz="1700" b="0">
                <a:solidFill>
                  <a:srgbClr val="333B47"/>
                </a:solidFill>
                <a:latin typeface="Arial"/>
              </a:rPr>
              <a:t>settings where it points the wrong way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1 SIGNAL</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Do two cheap answers agree?</a:t>
            </a:r>
          </a:p>
        </p:txBody>
      </p:sp>
      <p:pic>
        <p:nvPicPr>
          <p:cNvPr id="5" name="Picture 4" descr="c_agree.png"/>
          <p:cNvPicPr>
            <a:picLocks noChangeAspect="1"/>
          </p:cNvPicPr>
          <p:nvPr/>
        </p:nvPicPr>
        <p:blipFill>
          <a:blip r:embed="rId3"/>
          <a:stretch>
            <a:fillRect/>
          </a:stretch>
        </p:blipFill>
        <p:spPr>
          <a:xfrm>
            <a:off x="812800" y="1922942"/>
            <a:ext cx="7302500" cy="3901114"/>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agree</a:t>
            </a:r>
          </a:p>
          <a:p>
            <a:pPr algn="l">
              <a:lnSpc>
                <a:spcPct val="115000"/>
              </a:lnSpc>
              <a:spcAft>
                <a:spcPts val="0"/>
              </a:spcAft>
            </a:pPr>
            <a:r>
              <a:rPr sz="1700" b="0">
                <a:solidFill>
                  <a:srgbClr val="333B47"/>
                </a:solidFill>
                <a:latin typeface="Arial"/>
              </a:rPr>
              <a:t>→ the single agent is usually right</a:t>
            </a:r>
          </a:p>
        </p:txBody>
      </p:sp>
      <p:sp>
        <p:nvSpPr>
          <p:cNvPr id="7" name="Rounded Rectangle 6"/>
          <p:cNvSpPr/>
          <p:nvPr/>
        </p:nvSpPr>
        <p:spPr>
          <a:xfrm>
            <a:off x="8445500" y="4000500"/>
            <a:ext cx="2933700" cy="1651000"/>
          </a:xfrm>
          <a:prstGeom prst="roundRect">
            <a:avLst>
              <a:gd name="adj" fmla="val 6923"/>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15000"/>
              </a:lnSpc>
              <a:spcAft>
                <a:spcPts val="800"/>
              </a:spcAft>
            </a:pPr>
            <a:r>
              <a:rPr sz="2600" b="1">
                <a:solidFill>
                  <a:srgbClr val="66B2F0"/>
                </a:solidFill>
                <a:latin typeface="Arial"/>
              </a:rPr>
              <a:t>One score</a:t>
            </a:r>
          </a:p>
          <a:p>
            <a:pPr algn="l">
              <a:lnSpc>
                <a:spcPct val="115000"/>
              </a:lnSpc>
              <a:spcAft>
                <a:spcPts val="0"/>
              </a:spcAft>
            </a:pPr>
            <a:r>
              <a:rPr sz="1700" b="0">
                <a:solidFill>
                  <a:srgbClr val="F6F8FB"/>
                </a:solidFill>
                <a:latin typeface="Arial"/>
              </a:rPr>
              <a:t>agreeing tasks first, then by confidence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10</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2 RULE</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Where to draw the line? Guessing can go badly</a:t>
            </a:r>
          </a:p>
        </p:txBody>
      </p:sp>
      <p:pic>
        <p:nvPicPr>
          <p:cNvPr id="5" name="Picture 4" descr="c_maxloss.png"/>
          <p:cNvPicPr>
            <a:picLocks noChangeAspect="1"/>
          </p:cNvPicPr>
          <p:nvPr/>
        </p:nvPicPr>
        <p:blipFill>
          <a:blip r:embed="rId3"/>
          <a:stretch>
            <a:fillRect/>
          </a:stretch>
        </p:blipFill>
        <p:spPr>
          <a:xfrm>
            <a:off x="812800" y="2379642"/>
            <a:ext cx="7302500" cy="29877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16 points</a:t>
            </a:r>
          </a:p>
          <a:p>
            <a:pPr algn="l">
              <a:lnSpc>
                <a:spcPct val="115000"/>
              </a:lnSpc>
              <a:spcAft>
                <a:spcPts val="0"/>
              </a:spcAft>
            </a:pPr>
            <a:r>
              <a:rPr sz="1700" b="0">
                <a:solidFill>
                  <a:srgbClr val="333B47"/>
                </a:solidFill>
                <a:latin typeface="Arial"/>
              </a:rPr>
              <a:t>lost by a hand-picked threshold on one setting</a:t>
            </a:r>
          </a:p>
        </p:txBody>
      </p:sp>
      <p:sp>
        <p:nvSpPr>
          <p:cNvPr id="7" name="TextBox 6"/>
          <p:cNvSpPr txBox="1"/>
          <p:nvPr/>
        </p:nvSpPr>
        <p:spPr>
          <a:xfrm>
            <a:off x="8445500" y="4445000"/>
            <a:ext cx="2933700" cy="1270000"/>
          </a:xfrm>
          <a:prstGeom prst="rect">
            <a:avLst/>
          </a:prstGeom>
          <a:noFill/>
        </p:spPr>
        <p:txBody>
          <a:bodyPr wrap="square" lIns="0" rIns="0" tIns="0" bIns="0" anchor="t">
            <a:spAutoFit/>
          </a:bodyPr>
          <a:lstStyle/>
          <a:p>
            <a:pPr algn="l">
              <a:lnSpc>
                <a:spcPct val="115000"/>
              </a:lnSpc>
              <a:spcAft>
                <a:spcPts val="0"/>
              </a:spcAft>
            </a:pPr>
            <a:r>
              <a:rPr sz="1800" b="0">
                <a:solidFill>
                  <a:srgbClr val="6B7480"/>
                </a:solidFill>
                <a:latin typeface="Arial"/>
              </a:rPr>
              <a:t>Nothing at deployment says which setting will go wrong.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11</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Replace guessing with a promise</a:t>
            </a:r>
          </a:p>
        </p:txBody>
      </p:sp>
      <p:sp>
        <p:nvSpPr>
          <p:cNvPr id="5" name="Rounded Rectangle 4"/>
          <p:cNvSpPr/>
          <p:nvPr/>
        </p:nvSpPr>
        <p:spPr>
          <a:xfrm>
            <a:off x="812800" y="2095500"/>
            <a:ext cx="3111500" cy="2032000"/>
          </a:xfrm>
          <a:prstGeom prst="roundRect">
            <a:avLst>
              <a:gd name="adj" fmla="val 5625"/>
            </a:avLst>
          </a:prstGeom>
          <a:solidFill>
            <a:srgbClr val="DDEDFB"/>
          </a:solidFill>
          <a:ln w="317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006FCF"/>
                </a:solidFill>
                <a:latin typeface="Arial"/>
              </a:rPr>
              <a:t>You choose</a:t>
            </a:r>
          </a:p>
          <a:p>
            <a:pPr algn="ctr">
              <a:lnSpc>
                <a:spcPct val="115000"/>
              </a:lnSpc>
              <a:spcAft>
                <a:spcPts val="0"/>
              </a:spcAft>
            </a:pPr>
            <a:r>
              <a:rPr sz="1900" b="0">
                <a:solidFill>
                  <a:srgbClr val="00175A"/>
                </a:solidFill>
                <a:latin typeface="Arial"/>
              </a:rPr>
              <a:t>“I can lose at most 5 points of accuracy”</a:t>
            </a:r>
          </a:p>
        </p:txBody>
      </p:sp>
      <p:sp>
        <p:nvSpPr>
          <p:cNvPr id="6" name="Right Arrow 5"/>
          <p:cNvSpPr/>
          <p:nvPr/>
        </p:nvSpPr>
        <p:spPr>
          <a:xfrm>
            <a:off x="4000500" y="2857500"/>
            <a:ext cx="482600" cy="381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559300" y="2095500"/>
            <a:ext cx="3111500" cy="2032000"/>
          </a:xfrm>
          <a:prstGeom prst="roundRect">
            <a:avLst>
              <a:gd name="adj" fmla="val 5625"/>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66B2F0"/>
                </a:solidFill>
                <a:latin typeface="Arial"/>
              </a:rPr>
              <a:t>CLIMB checks</a:t>
            </a:r>
          </a:p>
          <a:p>
            <a:pPr algn="ctr">
              <a:lnSpc>
                <a:spcPct val="115000"/>
              </a:lnSpc>
              <a:spcAft>
                <a:spcPts val="0"/>
              </a:spcAft>
            </a:pPr>
            <a:r>
              <a:rPr sz="1900" b="0">
                <a:solidFill>
                  <a:srgbClr val="F6F8FB"/>
                </a:solidFill>
                <a:latin typeface="Arial"/>
              </a:rPr>
              <a:t>candidate rules on a few hundred labelled tasks</a:t>
            </a:r>
          </a:p>
        </p:txBody>
      </p:sp>
      <p:sp>
        <p:nvSpPr>
          <p:cNvPr id="8" name="Right Arrow 7"/>
          <p:cNvSpPr/>
          <p:nvPr/>
        </p:nvSpPr>
        <p:spPr>
          <a:xfrm>
            <a:off x="7747000" y="2857500"/>
            <a:ext cx="482600" cy="381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305800" y="2095500"/>
            <a:ext cx="3111500" cy="2032000"/>
          </a:xfrm>
          <a:prstGeom prst="roundRect">
            <a:avLst>
              <a:gd name="adj" fmla="val 5625"/>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ctr">
              <a:lnSpc>
                <a:spcPct val="115000"/>
              </a:lnSpc>
              <a:spcAft>
                <a:spcPts val="1200"/>
              </a:spcAft>
            </a:pPr>
            <a:r>
              <a:rPr sz="2400" b="1">
                <a:solidFill>
                  <a:srgbClr val="2F6B34"/>
                </a:solidFill>
                <a:latin typeface="Arial"/>
              </a:rPr>
              <a:t>You get</a:t>
            </a:r>
          </a:p>
          <a:p>
            <a:pPr algn="ctr">
              <a:lnSpc>
                <a:spcPct val="115000"/>
              </a:lnSpc>
              <a:spcAft>
                <a:spcPts val="0"/>
              </a:spcAft>
            </a:pPr>
            <a:r>
              <a:rPr sz="1900" b="0">
                <a:solidFill>
                  <a:srgbClr val="00175A"/>
                </a:solidFill>
                <a:latin typeface="Arial"/>
              </a:rPr>
              <a:t>the cheapest rule that keeps the promise, 9 times out of 10</a:t>
            </a:r>
          </a:p>
        </p:txBody>
      </p:sp>
      <p:sp>
        <p:nvSpPr>
          <p:cNvPr id="10" name="Rounded Rectangle 9"/>
          <p:cNvSpPr/>
          <p:nvPr/>
        </p:nvSpPr>
        <p:spPr>
          <a:xfrm>
            <a:off x="812800" y="4572000"/>
            <a:ext cx="10566400" cy="9525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2000" b="1">
                <a:solidFill>
                  <a:srgbClr val="00175A"/>
                </a:solidFill>
                <a:latin typeface="Arial"/>
              </a:rPr>
              <a:t>No cheaper rule passes?  →  call the team every time.  Worst case: no savings, not lost accuracy.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Each test is a betting game</a:t>
            </a:r>
          </a:p>
        </p:txBody>
      </p:sp>
      <p:pic>
        <p:nvPicPr>
          <p:cNvPr id="5" name="Picture 4" descr="c_wealth.png"/>
          <p:cNvPicPr>
            <a:picLocks noChangeAspect="1"/>
          </p:cNvPicPr>
          <p:nvPr/>
        </p:nvPicPr>
        <p:blipFill>
          <a:blip r:embed="rId3"/>
          <a:stretch>
            <a:fillRect/>
          </a:stretch>
        </p:blipFill>
        <p:spPr>
          <a:xfrm>
            <a:off x="812800" y="1915559"/>
            <a:ext cx="6985000" cy="3788881"/>
          </a:xfrm>
          <a:prstGeom prst="rect">
            <a:avLst/>
          </a:prstGeom>
        </p:spPr>
      </p:pic>
      <p:sp>
        <p:nvSpPr>
          <p:cNvPr id="6" name="Oval 5"/>
          <p:cNvSpPr/>
          <p:nvPr/>
        </p:nvSpPr>
        <p:spPr>
          <a:xfrm>
            <a:off x="8191500" y="1841500"/>
            <a:ext cx="444500" cy="4445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6F8FB"/>
                </a:solidFill>
                <a:latin typeface="Arial"/>
              </a:rPr>
              <a:t>1</a:t>
            </a:r>
          </a:p>
        </p:txBody>
      </p:sp>
      <p:sp>
        <p:nvSpPr>
          <p:cNvPr id="7" name="TextBox 6"/>
          <p:cNvSpPr txBox="1"/>
          <p:nvPr/>
        </p:nvSpPr>
        <p:spPr>
          <a:xfrm>
            <a:off x="8794750" y="1866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33B47"/>
                </a:solidFill>
                <a:latin typeface="Arial"/>
              </a:rPr>
              <a:t>Start with $1.</a:t>
            </a:r>
          </a:p>
        </p:txBody>
      </p:sp>
      <p:sp>
        <p:nvSpPr>
          <p:cNvPr id="8" name="Oval 7"/>
          <p:cNvSpPr/>
          <p:nvPr/>
        </p:nvSpPr>
        <p:spPr>
          <a:xfrm>
            <a:off x="8191500" y="2921000"/>
            <a:ext cx="444500" cy="4445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6F8FB"/>
                </a:solidFill>
                <a:latin typeface="Arial"/>
              </a:rPr>
              <a:t>2</a:t>
            </a:r>
          </a:p>
        </p:txBody>
      </p:sp>
      <p:sp>
        <p:nvSpPr>
          <p:cNvPr id="9" name="TextBox 8"/>
          <p:cNvSpPr txBox="1"/>
          <p:nvPr/>
        </p:nvSpPr>
        <p:spPr>
          <a:xfrm>
            <a:off x="8794750" y="2946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33B47"/>
                </a:solidFill>
                <a:latin typeface="Arial"/>
              </a:rPr>
              <a:t>Same as the team: win a little.</a:t>
            </a:r>
          </a:p>
        </p:txBody>
      </p:sp>
      <p:sp>
        <p:nvSpPr>
          <p:cNvPr id="10" name="Oval 9"/>
          <p:cNvSpPr/>
          <p:nvPr/>
        </p:nvSpPr>
        <p:spPr>
          <a:xfrm>
            <a:off x="8191500" y="4000500"/>
            <a:ext cx="444500" cy="4445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6F8FB"/>
                </a:solidFill>
                <a:latin typeface="Arial"/>
              </a:rPr>
              <a:t>3</a:t>
            </a:r>
          </a:p>
        </p:txBody>
      </p:sp>
      <p:sp>
        <p:nvSpPr>
          <p:cNvPr id="11" name="TextBox 10"/>
          <p:cNvSpPr txBox="1"/>
          <p:nvPr/>
        </p:nvSpPr>
        <p:spPr>
          <a:xfrm>
            <a:off x="8794750" y="40259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33B47"/>
                </a:solidFill>
                <a:latin typeface="Arial"/>
              </a:rPr>
              <a:t>Lost answer: lose a lot. Saved: win a lot.</a:t>
            </a:r>
          </a:p>
        </p:txBody>
      </p:sp>
      <p:sp>
        <p:nvSpPr>
          <p:cNvPr id="12" name="Oval 11"/>
          <p:cNvSpPr/>
          <p:nvPr/>
        </p:nvSpPr>
        <p:spPr>
          <a:xfrm>
            <a:off x="8191500" y="5080000"/>
            <a:ext cx="444500" cy="4445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800" b="1">
                <a:solidFill>
                  <a:srgbClr val="F6F8FB"/>
                </a:solidFill>
                <a:latin typeface="Arial"/>
              </a:rPr>
              <a:t>4</a:t>
            </a:r>
          </a:p>
        </p:txBody>
      </p:sp>
      <p:sp>
        <p:nvSpPr>
          <p:cNvPr id="13" name="TextBox 12"/>
          <p:cNvSpPr txBox="1"/>
          <p:nvPr/>
        </p:nvSpPr>
        <p:spPr>
          <a:xfrm>
            <a:off x="8794750" y="5105400"/>
            <a:ext cx="2584450" cy="1016000"/>
          </a:xfrm>
          <a:prstGeom prst="rect">
            <a:avLst/>
          </a:prstGeom>
          <a:noFill/>
        </p:spPr>
        <p:txBody>
          <a:bodyPr wrap="square" lIns="0" rIns="0" tIns="0" bIns="0" anchor="t">
            <a:spAutoFit/>
          </a:bodyPr>
          <a:lstStyle/>
          <a:p>
            <a:pPr algn="l">
              <a:lnSpc>
                <a:spcPct val="115000"/>
              </a:lnSpc>
              <a:spcAft>
                <a:spcPts val="0"/>
              </a:spcAft>
            </a:pPr>
            <a:r>
              <a:rPr sz="1900" b="0">
                <a:solidFill>
                  <a:srgbClr val="333B47"/>
                </a:solidFill>
                <a:latin typeface="Arial"/>
              </a:rPr>
              <a:t>Reach $20: the rule passes.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13</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Why $20? A bad rule rarely gets there</a:t>
            </a:r>
          </a:p>
        </p:txBody>
      </p:sp>
      <p:sp>
        <p:nvSpPr>
          <p:cNvPr id="5" name="Rounded Rectangle 4"/>
          <p:cNvSpPr/>
          <p:nvPr/>
        </p:nvSpPr>
        <p:spPr>
          <a:xfrm>
            <a:off x="812800" y="1778000"/>
            <a:ext cx="3111500" cy="1397000"/>
          </a:xfrm>
          <a:prstGeom prst="roundRect">
            <a:avLst>
              <a:gd name="adj" fmla="val 8181"/>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B03A2E"/>
                </a:solidFill>
                <a:latin typeface="Arial"/>
              </a:rPr>
              <a:t>Bad rule</a:t>
            </a:r>
          </a:p>
          <a:p>
            <a:pPr algn="ctr">
              <a:lnSpc>
                <a:spcPct val="115000"/>
              </a:lnSpc>
              <a:spcAft>
                <a:spcPts val="0"/>
              </a:spcAft>
            </a:pPr>
            <a:r>
              <a:rPr sz="1800" b="0">
                <a:solidFill>
                  <a:srgbClr val="333B47"/>
                </a:solidFill>
                <a:latin typeface="Arial"/>
              </a:rPr>
              <a:t>each bet loses on average</a:t>
            </a:r>
          </a:p>
        </p:txBody>
      </p:sp>
      <p:sp>
        <p:nvSpPr>
          <p:cNvPr id="6" name="Right Arrow 5"/>
          <p:cNvSpPr/>
          <p:nvPr/>
        </p:nvSpPr>
        <p:spPr>
          <a:xfrm>
            <a:off x="398780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446405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Average ≤ $1</a:t>
            </a:r>
          </a:p>
          <a:p>
            <a:pPr algn="ctr">
              <a:lnSpc>
                <a:spcPct val="115000"/>
              </a:lnSpc>
              <a:spcAft>
                <a:spcPts val="0"/>
              </a:spcAft>
            </a:pPr>
            <a:r>
              <a:rPr sz="1800" b="0">
                <a:solidFill>
                  <a:srgbClr val="333B47"/>
                </a:solidFill>
                <a:latin typeface="Arial"/>
              </a:rPr>
              <a:t>starts at $1, never grows on average</a:t>
            </a:r>
          </a:p>
        </p:txBody>
      </p:sp>
      <p:sp>
        <p:nvSpPr>
          <p:cNvPr id="8" name="Right Arrow 7"/>
          <p:cNvSpPr/>
          <p:nvPr/>
        </p:nvSpPr>
        <p:spPr>
          <a:xfrm>
            <a:off x="7639050" y="2317750"/>
            <a:ext cx="4191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8115300" y="1778000"/>
            <a:ext cx="3111500" cy="1397000"/>
          </a:xfrm>
          <a:prstGeom prst="roundRect">
            <a:avLst>
              <a:gd name="adj" fmla="val 8181"/>
            </a:avLst>
          </a:prstGeom>
          <a:solidFill>
            <a:srgbClr val="E9EEF5"/>
          </a:solidFill>
          <a:ln w="3175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139700" rIns="139700" tIns="139700" bIns="139700"/>
          <a:lstStyle/>
          <a:p>
            <a:pPr algn="ctr">
              <a:lnSpc>
                <a:spcPct val="115000"/>
              </a:lnSpc>
              <a:spcAft>
                <a:spcPts val="1000"/>
              </a:spcAft>
            </a:pPr>
            <a:r>
              <a:rPr sz="2600" b="1">
                <a:solidFill>
                  <a:srgbClr val="00175A"/>
                </a:solidFill>
                <a:latin typeface="Arial"/>
              </a:rPr>
              <a:t>Never below $0</a:t>
            </a:r>
          </a:p>
          <a:p>
            <a:pPr algn="ctr">
              <a:lnSpc>
                <a:spcPct val="115000"/>
              </a:lnSpc>
              <a:spcAft>
                <a:spcPts val="0"/>
              </a:spcAft>
            </a:pPr>
            <a:r>
              <a:rPr sz="1800" b="0">
                <a:solidFill>
                  <a:srgbClr val="333B47"/>
                </a:solidFill>
                <a:latin typeface="Arial"/>
              </a:rPr>
              <a:t>a lost answer at most halves it</a:t>
            </a:r>
          </a:p>
        </p:txBody>
      </p:sp>
      <p:sp>
        <p:nvSpPr>
          <p:cNvPr id="10" name="Rounded Rectangle 9"/>
          <p:cNvSpPr/>
          <p:nvPr/>
        </p:nvSpPr>
        <p:spPr>
          <a:xfrm>
            <a:off x="812800" y="3492500"/>
            <a:ext cx="10566400" cy="1270000"/>
          </a:xfrm>
          <a:prstGeom prst="roundRect">
            <a:avLst>
              <a:gd name="adj" fmla="val 9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27000" rIns="127000" tIns="127000" bIns="127000"/>
          <a:lstStyle/>
          <a:p>
            <a:pPr algn="ctr">
              <a:lnSpc>
                <a:spcPct val="115000"/>
              </a:lnSpc>
              <a:spcAft>
                <a:spcPts val="1000"/>
              </a:spcAft>
            </a:pPr>
            <a:r>
              <a:rPr sz="3600" b="1">
                <a:solidFill>
                  <a:srgbClr val="F6F8FB"/>
                </a:solidFill>
                <a:latin typeface="Georgia"/>
              </a:rPr>
              <a:t>1  ≥  average wealth  ≥  20 × P(reach $20)</a:t>
            </a:r>
          </a:p>
          <a:p>
            <a:pPr algn="ctr">
              <a:lnSpc>
                <a:spcPct val="115000"/>
              </a:lnSpc>
              <a:spcAft>
                <a:spcPts val="0"/>
              </a:spcAft>
            </a:pPr>
            <a:r>
              <a:rPr sz="2800" b="1">
                <a:solidFill>
                  <a:srgbClr val="F6F8FB"/>
                </a:solidFill>
                <a:latin typeface="Arial"/>
              </a:rPr>
              <a:t>so  </a:t>
            </a:r>
            <a:r>
              <a:rPr sz="2800" b="1">
                <a:solidFill>
                  <a:srgbClr val="66B2F0"/>
                </a:solidFill>
                <a:latin typeface="Arial"/>
              </a:rPr>
              <a:t>P(a bad rule passes)  ≤  1/20  =  5%</a:t>
            </a:r>
          </a:p>
        </p:txBody>
      </p:sp>
      <p:sp>
        <p:nvSpPr>
          <p:cNvPr id="11" name="Rounded Rectangle 10"/>
          <p:cNvSpPr/>
          <p:nvPr/>
        </p:nvSpPr>
        <p:spPr>
          <a:xfrm>
            <a:off x="8128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The line sets the error</a:t>
            </a:r>
          </a:p>
          <a:p>
            <a:pPr algn="l">
              <a:lnSpc>
                <a:spcPct val="115000"/>
              </a:lnSpc>
              <a:spcAft>
                <a:spcPts val="0"/>
              </a:spcAft>
            </a:pPr>
            <a:r>
              <a:rPr sz="1800" b="0">
                <a:solidFill>
                  <a:srgbClr val="6B7480"/>
                </a:solidFill>
                <a:latin typeface="Arial"/>
              </a:rPr>
              <a:t>$20 → 5%,  $100 → 1%. Two families × 5% = 10%.</a:t>
            </a:r>
          </a:p>
        </p:txBody>
      </p:sp>
      <p:sp>
        <p:nvSpPr>
          <p:cNvPr id="12" name="Rounded Rectangle 11"/>
          <p:cNvSpPr/>
          <p:nvPr/>
        </p:nvSpPr>
        <p:spPr>
          <a:xfrm>
            <a:off x="6299200" y="5016500"/>
            <a:ext cx="5080000" cy="1143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52400" rIns="152400" tIns="152400" bIns="152400"/>
          <a:lstStyle/>
          <a:p>
            <a:pPr algn="l">
              <a:lnSpc>
                <a:spcPct val="115000"/>
              </a:lnSpc>
              <a:spcAft>
                <a:spcPts val="600"/>
              </a:spcAft>
            </a:pPr>
            <a:r>
              <a:rPr sz="2000" b="1">
                <a:solidFill>
                  <a:srgbClr val="00175A"/>
                </a:solidFill>
                <a:latin typeface="Arial"/>
              </a:rPr>
              <a:t>Hit $20, then dropped? Still a pass</a:t>
            </a:r>
          </a:p>
          <a:p>
            <a:pPr algn="l">
              <a:lnSpc>
                <a:spcPct val="115000"/>
              </a:lnSpc>
              <a:spcAft>
                <a:spcPts val="0"/>
              </a:spcAft>
            </a:pPr>
            <a:r>
              <a:rPr sz="1800" b="0">
                <a:solidFill>
                  <a:srgbClr val="6B7480"/>
                </a:solidFill>
                <a:latin typeface="Arial"/>
              </a:rPr>
              <a:t>Freeze the money at $20: the average stays ≤ $1.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14</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Many rules: test from safe to risky</a:t>
            </a:r>
          </a:p>
        </p:txBody>
      </p:sp>
      <p:pic>
        <p:nvPicPr>
          <p:cNvPr id="5" name="Picture 4" descr="c_sweep.png"/>
          <p:cNvPicPr>
            <a:picLocks noChangeAspect="1"/>
          </p:cNvPicPr>
          <p:nvPr/>
        </p:nvPicPr>
        <p:blipFill>
          <a:blip r:embed="rId3"/>
          <a:stretch>
            <a:fillRect/>
          </a:stretch>
        </p:blipFill>
        <p:spPr>
          <a:xfrm>
            <a:off x="2179492" y="1587500"/>
            <a:ext cx="7833014" cy="4445000"/>
          </a:xfrm>
          <a:prstGeom prst="rect">
            <a:avLst/>
          </a:prstGeom>
        </p:spPr>
      </p:pic>
      <p:sp>
        <p:nvSpPr>
          <p:cNvPr id="6" name="TextBox 5"/>
          <p:cNvSpPr txBox="1"/>
          <p:nvPr/>
        </p:nvSpPr>
        <p:spPr>
          <a:xfrm>
            <a:off x="812800" y="6096000"/>
            <a:ext cx="10566400" cy="254000"/>
          </a:xfrm>
          <a:prstGeom prst="rect">
            <a:avLst/>
          </a:prstGeom>
          <a:noFill/>
        </p:spPr>
        <p:txBody>
          <a:bodyPr wrap="square" lIns="0" rIns="0" tIns="0" bIns="0" anchor="t">
            <a:spAutoFit/>
          </a:bodyPr>
          <a:lstStyle/>
          <a:p>
            <a:pPr algn="l">
              <a:lnSpc>
                <a:spcPct val="115000"/>
              </a:lnSpc>
              <a:spcAft>
                <a:spcPts val="0"/>
              </a:spcAft>
            </a:pPr>
            <a:r>
              <a:rPr sz="1500" b="0">
                <a:solidFill>
                  <a:srgbClr val="6B7480"/>
                </a:solidFill>
                <a:latin typeface="Arial"/>
              </a:rPr>
              <a:t>gpt-oss-120b on MuSiQue, option A (direct answer’s confidence), one calibration half.</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15</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3 CHECK</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Count the answers skipping saves, too</a:t>
            </a:r>
          </a:p>
        </p:txBody>
      </p:sp>
      <p:sp>
        <p:nvSpPr>
          <p:cNvPr id="5" name="Rounded Rectangle 4"/>
          <p:cNvSpPr/>
          <p:nvPr/>
        </p:nvSpPr>
        <p:spPr>
          <a:xfrm>
            <a:off x="812800" y="1841500"/>
            <a:ext cx="3810000" cy="1016000"/>
          </a:xfrm>
          <a:prstGeom prst="roundRect">
            <a:avLst>
              <a:gd name="adj" fmla="val 10000"/>
            </a:avLst>
          </a:prstGeom>
          <a:solidFill>
            <a:srgbClr val="F6E3E0"/>
          </a:solidFill>
          <a:ln w="31750">
            <a:solidFill>
              <a:srgbClr val="B03A2E"/>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200" b="1">
                <a:solidFill>
                  <a:srgbClr val="00175A"/>
                </a:solidFill>
                <a:latin typeface="Arial"/>
              </a:rPr>
              <a:t>Cheap wrong, team right</a:t>
            </a:r>
          </a:p>
          <a:p>
            <a:pPr algn="ctr">
              <a:lnSpc>
                <a:spcPct val="115000"/>
              </a:lnSpc>
              <a:spcAft>
                <a:spcPts val="0"/>
              </a:spcAft>
            </a:pPr>
            <a:r>
              <a:rPr sz="2000" b="1">
                <a:solidFill>
                  <a:srgbClr val="B03A2E"/>
                </a:solidFill>
                <a:latin typeface="Arial"/>
              </a:rPr>
              <a:t>lose a point</a:t>
            </a:r>
          </a:p>
        </p:txBody>
      </p:sp>
      <p:sp>
        <p:nvSpPr>
          <p:cNvPr id="6" name="Rounded Rectangle 5"/>
          <p:cNvSpPr/>
          <p:nvPr/>
        </p:nvSpPr>
        <p:spPr>
          <a:xfrm>
            <a:off x="812800" y="3048000"/>
            <a:ext cx="3810000" cy="1016000"/>
          </a:xfrm>
          <a:prstGeom prst="roundRect">
            <a:avLst>
              <a:gd name="adj" fmla="val 10000"/>
            </a:avLst>
          </a:prstGeom>
          <a:solidFill>
            <a:srgbClr val="E9EEF5"/>
          </a:solidFill>
          <a:ln w="31750">
            <a:solidFill>
              <a:srgbClr val="6B7480"/>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200" b="1">
                <a:solidFill>
                  <a:srgbClr val="00175A"/>
                </a:solidFill>
                <a:latin typeface="Arial"/>
              </a:rPr>
              <a:t>Same result</a:t>
            </a:r>
          </a:p>
          <a:p>
            <a:pPr algn="ctr">
              <a:lnSpc>
                <a:spcPct val="115000"/>
              </a:lnSpc>
              <a:spcAft>
                <a:spcPts val="0"/>
              </a:spcAft>
            </a:pPr>
            <a:r>
              <a:rPr sz="2000" b="1">
                <a:solidFill>
                  <a:srgbClr val="6B7480"/>
                </a:solidFill>
                <a:latin typeface="Arial"/>
              </a:rPr>
              <a:t>no change (most tasks)</a:t>
            </a:r>
          </a:p>
        </p:txBody>
      </p:sp>
      <p:sp>
        <p:nvSpPr>
          <p:cNvPr id="7" name="Rounded Rectangle 6"/>
          <p:cNvSpPr/>
          <p:nvPr/>
        </p:nvSpPr>
        <p:spPr>
          <a:xfrm>
            <a:off x="812800" y="4254500"/>
            <a:ext cx="3810000" cy="1016000"/>
          </a:xfrm>
          <a:prstGeom prst="roundRect">
            <a:avLst>
              <a:gd name="adj" fmla="val 10000"/>
            </a:avLst>
          </a:prstGeom>
          <a:solidFill>
            <a:srgbClr val="E3ECE2"/>
          </a:solidFill>
          <a:ln w="3175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76200" rIns="76200" tIns="76200" bIns="76200"/>
          <a:lstStyle/>
          <a:p>
            <a:pPr algn="ctr">
              <a:lnSpc>
                <a:spcPct val="115000"/>
              </a:lnSpc>
              <a:spcAft>
                <a:spcPts val="600"/>
              </a:spcAft>
            </a:pPr>
            <a:r>
              <a:rPr sz="2200" b="1">
                <a:solidFill>
                  <a:srgbClr val="00175A"/>
                </a:solidFill>
                <a:latin typeface="Arial"/>
              </a:rPr>
              <a:t>Cheap right, team wrong</a:t>
            </a:r>
          </a:p>
          <a:p>
            <a:pPr algn="ctr">
              <a:lnSpc>
                <a:spcPct val="115000"/>
              </a:lnSpc>
              <a:spcAft>
                <a:spcPts val="0"/>
              </a:spcAft>
            </a:pPr>
            <a:r>
              <a:rPr sz="2000" b="1">
                <a:solidFill>
                  <a:srgbClr val="2F6B34"/>
                </a:solidFill>
                <a:latin typeface="Arial"/>
              </a:rPr>
              <a:t>save a point</a:t>
            </a:r>
          </a:p>
        </p:txBody>
      </p:sp>
      <p:pic>
        <p:nvPicPr>
          <p:cNvPr id="8" name="Picture 7" descr="c_tests.png"/>
          <p:cNvPicPr>
            <a:picLocks noChangeAspect="1"/>
          </p:cNvPicPr>
          <p:nvPr/>
        </p:nvPicPr>
        <p:blipFill>
          <a:blip r:embed="rId3"/>
          <a:stretch>
            <a:fillRect/>
          </a:stretch>
        </p:blipFill>
        <p:spPr>
          <a:xfrm>
            <a:off x="5016500" y="2322816"/>
            <a:ext cx="6362700" cy="2466366"/>
          </a:xfrm>
          <a:prstGeom prst="rect">
            <a:avLst/>
          </a:prstGeom>
        </p:spPr>
      </p:pic>
      <p:sp>
        <p:nvSpPr>
          <p:cNvPr id="9" name="TextBox 8"/>
          <p:cNvSpPr txBox="1"/>
          <p:nvPr/>
        </p:nvSpPr>
        <p:spPr>
          <a:xfrm>
            <a:off x="5016500" y="5334000"/>
            <a:ext cx="6362700" cy="508000"/>
          </a:xfrm>
          <a:prstGeom prst="rect">
            <a:avLst/>
          </a:prstGeom>
          <a:noFill/>
        </p:spPr>
        <p:txBody>
          <a:bodyPr wrap="square" lIns="0" rIns="0" tIns="0" bIns="0" anchor="t">
            <a:spAutoFit/>
          </a:bodyPr>
          <a:lstStyle/>
          <a:p>
            <a:pPr algn="l">
              <a:lnSpc>
                <a:spcPct val="115000"/>
              </a:lnSpc>
              <a:spcAft>
                <a:spcPts val="0"/>
              </a:spcAft>
            </a:pPr>
            <a:r>
              <a:rPr sz="1700" b="0">
                <a:solidFill>
                  <a:srgbClr val="6B7480"/>
                </a:solidFill>
                <a:latin typeface="Arial"/>
              </a:rPr>
              <a:t>Tokens each valid test can certify at ε = 5. Lower is better.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16</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HOW TO CLIMB · 4 DEPTH</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One rung or two? The data decides</a:t>
            </a:r>
          </a:p>
        </p:txBody>
      </p:sp>
      <p:sp>
        <p:nvSpPr>
          <p:cNvPr id="5" name="TextBox 4"/>
          <p:cNvSpPr txBox="1"/>
          <p:nvPr/>
        </p:nvSpPr>
        <p:spPr>
          <a:xfrm>
            <a:off x="812800" y="1778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A: one rung</a:t>
            </a:r>
          </a:p>
        </p:txBody>
      </p:sp>
      <p:sp>
        <p:nvSpPr>
          <p:cNvPr id="6" name="Rounded Rectangle 5"/>
          <p:cNvSpPr/>
          <p:nvPr/>
        </p:nvSpPr>
        <p:spPr>
          <a:xfrm>
            <a:off x="812800" y="2159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a:t>
            </a:r>
          </a:p>
        </p:txBody>
      </p:sp>
      <p:sp>
        <p:nvSpPr>
          <p:cNvPr id="7" name="Right Arrow 6"/>
          <p:cNvSpPr/>
          <p:nvPr/>
        </p:nvSpPr>
        <p:spPr>
          <a:xfrm>
            <a:off x="3556000" y="2476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4095750" y="2159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confident? stop</a:t>
            </a:r>
          </a:p>
        </p:txBody>
      </p:sp>
      <p:sp>
        <p:nvSpPr>
          <p:cNvPr id="9" name="TextBox 8"/>
          <p:cNvSpPr txBox="1"/>
          <p:nvPr/>
        </p:nvSpPr>
        <p:spPr>
          <a:xfrm>
            <a:off x="6889750" y="2444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10" name="TextBox 9"/>
          <p:cNvSpPr txBox="1"/>
          <p:nvPr/>
        </p:nvSpPr>
        <p:spPr>
          <a:xfrm>
            <a:off x="812800" y="3429000"/>
            <a:ext cx="5715000" cy="317500"/>
          </a:xfrm>
          <a:prstGeom prst="rect">
            <a:avLst/>
          </a:prstGeom>
          <a:noFill/>
        </p:spPr>
        <p:txBody>
          <a:bodyPr wrap="square" lIns="0" rIns="0" tIns="0" bIns="0" anchor="t">
            <a:spAutoFit/>
          </a:bodyPr>
          <a:lstStyle/>
          <a:p>
            <a:pPr algn="l">
              <a:lnSpc>
                <a:spcPct val="115000"/>
              </a:lnSpc>
              <a:spcAft>
                <a:spcPts val="0"/>
              </a:spcAft>
            </a:pPr>
            <a:r>
              <a:rPr sz="2200" b="1">
                <a:solidFill>
                  <a:srgbClr val="00175A"/>
                </a:solidFill>
                <a:latin typeface="Arial"/>
              </a:rPr>
              <a:t>Option B: two rungs</a:t>
            </a:r>
          </a:p>
        </p:txBody>
      </p:sp>
      <p:sp>
        <p:nvSpPr>
          <p:cNvPr id="11" name="Rounded Rectangle 10"/>
          <p:cNvSpPr/>
          <p:nvPr/>
        </p:nvSpPr>
        <p:spPr>
          <a:xfrm>
            <a:off x="812800" y="3810000"/>
            <a:ext cx="2667000" cy="952500"/>
          </a:xfrm>
          <a:prstGeom prst="roundRect">
            <a:avLst>
              <a:gd name="adj" fmla="val 10000"/>
            </a:avLst>
          </a:prstGeom>
          <a:solidFill>
            <a:srgbClr val="E6EBF4"/>
          </a:solidFill>
          <a:ln w="25400">
            <a:solidFill>
              <a:srgbClr val="00175A"/>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00175A"/>
                </a:solidFill>
                <a:latin typeface="Arial"/>
              </a:rPr>
              <a:t>Direct answer + single agent</a:t>
            </a:r>
          </a:p>
        </p:txBody>
      </p:sp>
      <p:sp>
        <p:nvSpPr>
          <p:cNvPr id="12" name="Right Arrow 11"/>
          <p:cNvSpPr/>
          <p:nvPr/>
        </p:nvSpPr>
        <p:spPr>
          <a:xfrm>
            <a:off x="3556000" y="4127500"/>
            <a:ext cx="444500" cy="3175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095750" y="3810000"/>
            <a:ext cx="2667000" cy="952500"/>
          </a:xfrm>
          <a:prstGeom prst="roundRect">
            <a:avLst>
              <a:gd name="adj" fmla="val 10000"/>
            </a:avLst>
          </a:prstGeom>
          <a:solidFill>
            <a:srgbClr val="E3ECE2"/>
          </a:solidFill>
          <a:ln w="25400">
            <a:solidFill>
              <a:srgbClr val="2F6B34"/>
            </a:solidFill>
          </a:ln>
          <a:effectLst/>
        </p:spPr>
        <p:style>
          <a:lnRef idx="1">
            <a:schemeClr val="accent1"/>
          </a:lnRef>
          <a:fillRef idx="3">
            <a:schemeClr val="accent1"/>
          </a:fillRef>
          <a:effectRef idx="2">
            <a:schemeClr val="accent1"/>
          </a:effectRef>
          <a:fontRef idx="minor">
            <a:schemeClr val="lt1"/>
          </a:fontRef>
        </p:style>
        <p:txBody>
          <a:bodyPr rtlCol="0" anchor="ctr" wrap="square" lIns="88900" rIns="88900" tIns="88900" bIns="88900"/>
          <a:lstStyle/>
          <a:p>
            <a:pPr algn="ctr">
              <a:lnSpc>
                <a:spcPct val="115000"/>
              </a:lnSpc>
              <a:spcAft>
                <a:spcPts val="0"/>
              </a:spcAft>
            </a:pPr>
            <a:r>
              <a:rPr sz="2100" b="1">
                <a:solidFill>
                  <a:srgbClr val="2F6B34"/>
                </a:solidFill>
                <a:latin typeface="Arial"/>
              </a:rPr>
              <a:t>agree and confident? stop</a:t>
            </a:r>
          </a:p>
        </p:txBody>
      </p:sp>
      <p:sp>
        <p:nvSpPr>
          <p:cNvPr id="14" name="TextBox 13"/>
          <p:cNvSpPr txBox="1"/>
          <p:nvPr/>
        </p:nvSpPr>
        <p:spPr>
          <a:xfrm>
            <a:off x="6889750" y="4095750"/>
            <a:ext cx="1587500" cy="381000"/>
          </a:xfrm>
          <a:prstGeom prst="rect">
            <a:avLst/>
          </a:prstGeom>
          <a:noFill/>
        </p:spPr>
        <p:txBody>
          <a:bodyPr wrap="square" lIns="0" rIns="0" tIns="0" bIns="0" anchor="t">
            <a:spAutoFit/>
          </a:bodyPr>
          <a:lstStyle/>
          <a:p>
            <a:pPr algn="l">
              <a:lnSpc>
                <a:spcPct val="115000"/>
              </a:lnSpc>
              <a:spcAft>
                <a:spcPts val="0"/>
              </a:spcAft>
            </a:pPr>
            <a:r>
              <a:rPr sz="1900" b="1">
                <a:solidFill>
                  <a:srgbClr val="006FCF"/>
                </a:solidFill>
                <a:latin typeface="Arial"/>
              </a:rPr>
              <a:t>otherwise → team</a:t>
            </a:r>
          </a:p>
        </p:txBody>
      </p:sp>
      <p:sp>
        <p:nvSpPr>
          <p:cNvPr id="15" name="Rounded Rectangle 14"/>
          <p:cNvSpPr/>
          <p:nvPr/>
        </p:nvSpPr>
        <p:spPr>
          <a:xfrm>
            <a:off x="8763000" y="1905000"/>
            <a:ext cx="2616200" cy="3175000"/>
          </a:xfrm>
          <a:prstGeom prst="roundRect">
            <a:avLst>
              <a:gd name="adj" fmla="val 4368"/>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77800" rIns="177800" tIns="177800" bIns="177800"/>
          <a:lstStyle/>
          <a:p>
            <a:pPr algn="l">
              <a:lnSpc>
                <a:spcPct val="115000"/>
              </a:lnSpc>
              <a:spcAft>
                <a:spcPts val="1200"/>
              </a:spcAft>
            </a:pPr>
            <a:r>
              <a:rPr sz="2400" b="1">
                <a:solidFill>
                  <a:srgbClr val="66B2F0"/>
                </a:solidFill>
                <a:latin typeface="Arial"/>
              </a:rPr>
              <a:t>Check both</a:t>
            </a:r>
          </a:p>
          <a:p>
            <a:pPr algn="l">
              <a:lnSpc>
                <a:spcPct val="115000"/>
              </a:lnSpc>
              <a:spcAft>
                <a:spcPts val="1200"/>
              </a:spcAft>
            </a:pPr>
            <a:r>
              <a:rPr sz="1800" b="0">
                <a:solidFill>
                  <a:srgbClr val="F6F8FB"/>
                </a:solidFill>
                <a:latin typeface="Arial"/>
              </a:rPr>
              <a:t>on calibration data, then deploy the cheaper one that passes.</a:t>
            </a:r>
          </a:p>
          <a:p>
            <a:pPr algn="l">
              <a:lnSpc>
                <a:spcPct val="115000"/>
              </a:lnSpc>
              <a:spcAft>
                <a:spcPts val="0"/>
              </a:spcAft>
            </a:pPr>
            <a:r>
              <a:rPr sz="1800" b="0">
                <a:solidFill>
                  <a:srgbClr val="C3D3EC"/>
                </a:solidFill>
                <a:latin typeface="Arial"/>
              </a:rPr>
              <a:t>Neither passes? Always call the team.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17</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EXPERIMENTS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3 models × 4 benchmarks = 12 settings</a:t>
            </a:r>
          </a:p>
        </p:txBody>
      </p:sp>
      <p:sp>
        <p:nvSpPr>
          <p:cNvPr id="5" name="TextBox 4"/>
          <p:cNvSpPr txBox="1"/>
          <p:nvPr/>
        </p:nvSpPr>
        <p:spPr>
          <a:xfrm>
            <a:off x="3048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MATH</a:t>
            </a:r>
          </a:p>
          <a:p>
            <a:pPr algn="ctr">
              <a:lnSpc>
                <a:spcPct val="115000"/>
              </a:lnSpc>
              <a:spcAft>
                <a:spcPts val="0"/>
              </a:spcAft>
            </a:pPr>
            <a:r>
              <a:rPr sz="1600" b="0">
                <a:solidFill>
                  <a:srgbClr val="6B7480"/>
                </a:solidFill>
                <a:latin typeface="Arial"/>
              </a:rPr>
              <a:t>math</a:t>
            </a:r>
          </a:p>
        </p:txBody>
      </p:sp>
      <p:sp>
        <p:nvSpPr>
          <p:cNvPr id="6" name="TextBox 5"/>
          <p:cNvSpPr txBox="1"/>
          <p:nvPr/>
        </p:nvSpPr>
        <p:spPr>
          <a:xfrm>
            <a:off x="5080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FRAMES</a:t>
            </a:r>
          </a:p>
          <a:p>
            <a:pPr algn="ctr">
              <a:lnSpc>
                <a:spcPct val="115000"/>
              </a:lnSpc>
              <a:spcAft>
                <a:spcPts val="0"/>
              </a:spcAft>
            </a:pPr>
            <a:r>
              <a:rPr sz="1600" b="0">
                <a:solidFill>
                  <a:srgbClr val="6B7480"/>
                </a:solidFill>
                <a:latin typeface="Arial"/>
              </a:rPr>
              <a:t>open-book QA</a:t>
            </a:r>
          </a:p>
        </p:txBody>
      </p:sp>
      <p:sp>
        <p:nvSpPr>
          <p:cNvPr id="7" name="TextBox 6"/>
          <p:cNvSpPr txBox="1"/>
          <p:nvPr/>
        </p:nvSpPr>
        <p:spPr>
          <a:xfrm>
            <a:off x="7112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MuSiQue</a:t>
            </a:r>
          </a:p>
          <a:p>
            <a:pPr algn="ctr">
              <a:lnSpc>
                <a:spcPct val="115000"/>
              </a:lnSpc>
              <a:spcAft>
                <a:spcPts val="0"/>
              </a:spcAft>
            </a:pPr>
            <a:r>
              <a:rPr sz="1600" b="0">
                <a:solidFill>
                  <a:srgbClr val="6B7480"/>
                </a:solidFill>
                <a:latin typeface="Arial"/>
              </a:rPr>
              <a:t>open-book QA</a:t>
            </a:r>
          </a:p>
        </p:txBody>
      </p:sp>
      <p:sp>
        <p:nvSpPr>
          <p:cNvPr id="8" name="TextBox 7"/>
          <p:cNvSpPr txBox="1"/>
          <p:nvPr/>
        </p:nvSpPr>
        <p:spPr>
          <a:xfrm>
            <a:off x="9144000" y="1841500"/>
            <a:ext cx="1905000" cy="508000"/>
          </a:xfrm>
          <a:prstGeom prst="rect">
            <a:avLst/>
          </a:prstGeom>
          <a:noFill/>
        </p:spPr>
        <p:txBody>
          <a:bodyPr wrap="square" lIns="0" rIns="0" tIns="0" bIns="0" anchor="t">
            <a:spAutoFit/>
          </a:bodyPr>
          <a:lstStyle/>
          <a:p>
            <a:pPr algn="ctr">
              <a:lnSpc>
                <a:spcPct val="115000"/>
              </a:lnSpc>
              <a:spcAft>
                <a:spcPts val="0"/>
              </a:spcAft>
            </a:pPr>
            <a:r>
              <a:rPr sz="2200" b="1">
                <a:solidFill>
                  <a:srgbClr val="00175A"/>
                </a:solidFill>
                <a:latin typeface="Arial"/>
              </a:rPr>
              <a:t>BBEH</a:t>
            </a:r>
          </a:p>
          <a:p>
            <a:pPr algn="ctr">
              <a:lnSpc>
                <a:spcPct val="115000"/>
              </a:lnSpc>
              <a:spcAft>
                <a:spcPts val="0"/>
              </a:spcAft>
            </a:pPr>
            <a:r>
              <a:rPr sz="1600" b="0">
                <a:solidFill>
                  <a:srgbClr val="6B7480"/>
                </a:solidFill>
                <a:latin typeface="Arial"/>
              </a:rPr>
              <a:t>hard reasoning</a:t>
            </a:r>
          </a:p>
        </p:txBody>
      </p:sp>
      <p:sp>
        <p:nvSpPr>
          <p:cNvPr id="9" name="TextBox 8"/>
          <p:cNvSpPr txBox="1"/>
          <p:nvPr/>
        </p:nvSpPr>
        <p:spPr>
          <a:xfrm>
            <a:off x="812800" y="2508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gpt-oss-20b</a:t>
            </a:r>
          </a:p>
        </p:txBody>
      </p:sp>
      <p:sp>
        <p:nvSpPr>
          <p:cNvPr id="10" name="Rounded Rectangle 9"/>
          <p:cNvSpPr/>
          <p:nvPr/>
        </p:nvSpPr>
        <p:spPr>
          <a:xfrm>
            <a:off x="3048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94.8%</a:t>
            </a:r>
          </a:p>
          <a:p>
            <a:pPr algn="ctr">
              <a:lnSpc>
                <a:spcPct val="115000"/>
              </a:lnSpc>
              <a:spcAft>
                <a:spcPts val="0"/>
              </a:spcAft>
            </a:pPr>
            <a:r>
              <a:rPr sz="1300" b="0">
                <a:solidFill>
                  <a:srgbClr val="6B7480"/>
                </a:solidFill>
                <a:latin typeface="Arial"/>
              </a:rPr>
              <a:t>team accuracy</a:t>
            </a:r>
          </a:p>
        </p:txBody>
      </p:sp>
      <p:sp>
        <p:nvSpPr>
          <p:cNvPr id="11" name="Rounded Rectangle 10"/>
          <p:cNvSpPr/>
          <p:nvPr/>
        </p:nvSpPr>
        <p:spPr>
          <a:xfrm>
            <a:off x="5080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76.1%</a:t>
            </a:r>
          </a:p>
          <a:p>
            <a:pPr algn="ctr">
              <a:lnSpc>
                <a:spcPct val="115000"/>
              </a:lnSpc>
              <a:spcAft>
                <a:spcPts val="0"/>
              </a:spcAft>
            </a:pPr>
            <a:r>
              <a:rPr sz="1300" b="0">
                <a:solidFill>
                  <a:srgbClr val="6B7480"/>
                </a:solidFill>
                <a:latin typeface="Arial"/>
              </a:rPr>
              <a:t>team accuracy</a:t>
            </a:r>
          </a:p>
        </p:txBody>
      </p:sp>
      <p:sp>
        <p:nvSpPr>
          <p:cNvPr id="12" name="Rounded Rectangle 11"/>
          <p:cNvSpPr/>
          <p:nvPr/>
        </p:nvSpPr>
        <p:spPr>
          <a:xfrm>
            <a:off x="7112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64.9%</a:t>
            </a:r>
          </a:p>
          <a:p>
            <a:pPr algn="ctr">
              <a:lnSpc>
                <a:spcPct val="115000"/>
              </a:lnSpc>
              <a:spcAft>
                <a:spcPts val="0"/>
              </a:spcAft>
            </a:pPr>
            <a:r>
              <a:rPr sz="1300" b="0">
                <a:solidFill>
                  <a:srgbClr val="6B7480"/>
                </a:solidFill>
                <a:latin typeface="Arial"/>
              </a:rPr>
              <a:t>team accuracy</a:t>
            </a:r>
          </a:p>
        </p:txBody>
      </p:sp>
      <p:sp>
        <p:nvSpPr>
          <p:cNvPr id="13" name="Rounded Rectangle 12"/>
          <p:cNvSpPr/>
          <p:nvPr/>
        </p:nvSpPr>
        <p:spPr>
          <a:xfrm>
            <a:off x="9144000" y="25082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28.0%</a:t>
            </a:r>
          </a:p>
          <a:p>
            <a:pPr algn="ctr">
              <a:lnSpc>
                <a:spcPct val="115000"/>
              </a:lnSpc>
              <a:spcAft>
                <a:spcPts val="0"/>
              </a:spcAft>
            </a:pPr>
            <a:r>
              <a:rPr sz="1300" b="0">
                <a:solidFill>
                  <a:srgbClr val="6B7480"/>
                </a:solidFill>
                <a:latin typeface="Arial"/>
              </a:rPr>
              <a:t>team accuracy</a:t>
            </a:r>
          </a:p>
        </p:txBody>
      </p:sp>
      <p:sp>
        <p:nvSpPr>
          <p:cNvPr id="14" name="TextBox 13"/>
          <p:cNvSpPr txBox="1"/>
          <p:nvPr/>
        </p:nvSpPr>
        <p:spPr>
          <a:xfrm>
            <a:off x="812800" y="34607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gpt-oss-120b</a:t>
            </a:r>
          </a:p>
        </p:txBody>
      </p:sp>
      <p:sp>
        <p:nvSpPr>
          <p:cNvPr id="15" name="Rounded Rectangle 14"/>
          <p:cNvSpPr/>
          <p:nvPr/>
        </p:nvSpPr>
        <p:spPr>
          <a:xfrm>
            <a:off x="3048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97.0%</a:t>
            </a:r>
          </a:p>
          <a:p>
            <a:pPr algn="ctr">
              <a:lnSpc>
                <a:spcPct val="115000"/>
              </a:lnSpc>
              <a:spcAft>
                <a:spcPts val="0"/>
              </a:spcAft>
            </a:pPr>
            <a:r>
              <a:rPr sz="1300" b="0">
                <a:solidFill>
                  <a:srgbClr val="6B7480"/>
                </a:solidFill>
                <a:latin typeface="Arial"/>
              </a:rPr>
              <a:t>team accuracy</a:t>
            </a:r>
          </a:p>
        </p:txBody>
      </p:sp>
      <p:sp>
        <p:nvSpPr>
          <p:cNvPr id="16" name="Rounded Rectangle 15"/>
          <p:cNvSpPr/>
          <p:nvPr/>
        </p:nvSpPr>
        <p:spPr>
          <a:xfrm>
            <a:off x="5080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79.8%</a:t>
            </a:r>
          </a:p>
          <a:p>
            <a:pPr algn="ctr">
              <a:lnSpc>
                <a:spcPct val="115000"/>
              </a:lnSpc>
              <a:spcAft>
                <a:spcPts val="0"/>
              </a:spcAft>
            </a:pPr>
            <a:r>
              <a:rPr sz="1300" b="0">
                <a:solidFill>
                  <a:srgbClr val="6B7480"/>
                </a:solidFill>
                <a:latin typeface="Arial"/>
              </a:rPr>
              <a:t>team accuracy</a:t>
            </a:r>
          </a:p>
        </p:txBody>
      </p:sp>
      <p:sp>
        <p:nvSpPr>
          <p:cNvPr id="17" name="Rounded Rectangle 16"/>
          <p:cNvSpPr/>
          <p:nvPr/>
        </p:nvSpPr>
        <p:spPr>
          <a:xfrm>
            <a:off x="7112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71.1%</a:t>
            </a:r>
          </a:p>
          <a:p>
            <a:pPr algn="ctr">
              <a:lnSpc>
                <a:spcPct val="115000"/>
              </a:lnSpc>
              <a:spcAft>
                <a:spcPts val="0"/>
              </a:spcAft>
            </a:pPr>
            <a:r>
              <a:rPr sz="1300" b="0">
                <a:solidFill>
                  <a:srgbClr val="6B7480"/>
                </a:solidFill>
                <a:latin typeface="Arial"/>
              </a:rPr>
              <a:t>team accuracy</a:t>
            </a:r>
          </a:p>
        </p:txBody>
      </p:sp>
      <p:sp>
        <p:nvSpPr>
          <p:cNvPr id="18" name="Rounded Rectangle 17"/>
          <p:cNvSpPr/>
          <p:nvPr/>
        </p:nvSpPr>
        <p:spPr>
          <a:xfrm>
            <a:off x="9144000" y="3460750"/>
            <a:ext cx="1905000" cy="762000"/>
          </a:xfrm>
          <a:prstGeom prst="roundRect">
            <a:avLst>
              <a:gd name="adj" fmla="val 10000"/>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45.1%</a:t>
            </a:r>
          </a:p>
          <a:p>
            <a:pPr algn="ctr">
              <a:lnSpc>
                <a:spcPct val="115000"/>
              </a:lnSpc>
              <a:spcAft>
                <a:spcPts val="0"/>
              </a:spcAft>
            </a:pPr>
            <a:r>
              <a:rPr sz="1300" b="0">
                <a:solidFill>
                  <a:srgbClr val="6B7480"/>
                </a:solidFill>
                <a:latin typeface="Arial"/>
              </a:rPr>
              <a:t>team accuracy</a:t>
            </a:r>
          </a:p>
        </p:txBody>
      </p:sp>
      <p:sp>
        <p:nvSpPr>
          <p:cNvPr id="19" name="TextBox 18"/>
          <p:cNvSpPr txBox="1"/>
          <p:nvPr/>
        </p:nvSpPr>
        <p:spPr>
          <a:xfrm>
            <a:off x="812800" y="4413250"/>
            <a:ext cx="2032000" cy="762000"/>
          </a:xfrm>
          <a:prstGeom prst="rect">
            <a:avLst/>
          </a:prstGeom>
          <a:noFill/>
        </p:spPr>
        <p:txBody>
          <a:bodyPr wrap="square" lIns="0" rIns="0" tIns="0" bIns="0" anchor="ctr">
            <a:spAutoFit/>
          </a:bodyPr>
          <a:lstStyle/>
          <a:p>
            <a:pPr algn="l">
              <a:lnSpc>
                <a:spcPct val="115000"/>
              </a:lnSpc>
              <a:spcAft>
                <a:spcPts val="0"/>
              </a:spcAft>
            </a:pPr>
            <a:r>
              <a:rPr sz="2200" b="1">
                <a:solidFill>
                  <a:srgbClr val="00175A"/>
                </a:solidFill>
                <a:latin typeface="Arial"/>
              </a:rPr>
              <a:t>Gemma-4-26B</a:t>
            </a:r>
          </a:p>
        </p:txBody>
      </p:sp>
      <p:sp>
        <p:nvSpPr>
          <p:cNvPr id="20" name="Rounded Rectangle 19"/>
          <p:cNvSpPr/>
          <p:nvPr/>
        </p:nvSpPr>
        <p:spPr>
          <a:xfrm>
            <a:off x="3048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99.8%</a:t>
            </a:r>
          </a:p>
          <a:p>
            <a:pPr algn="ctr">
              <a:lnSpc>
                <a:spcPct val="115000"/>
              </a:lnSpc>
              <a:spcAft>
                <a:spcPts val="0"/>
              </a:spcAft>
            </a:pPr>
            <a:r>
              <a:rPr sz="1300" b="0">
                <a:solidFill>
                  <a:srgbClr val="6B7480"/>
                </a:solidFill>
                <a:latin typeface="Arial"/>
              </a:rPr>
              <a:t>team accuracy</a:t>
            </a:r>
          </a:p>
        </p:txBody>
      </p:sp>
      <p:sp>
        <p:nvSpPr>
          <p:cNvPr id="21" name="Rounded Rectangle 20"/>
          <p:cNvSpPr/>
          <p:nvPr/>
        </p:nvSpPr>
        <p:spPr>
          <a:xfrm>
            <a:off x="5080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67.9%</a:t>
            </a:r>
          </a:p>
          <a:p>
            <a:pPr algn="ctr">
              <a:lnSpc>
                <a:spcPct val="115000"/>
              </a:lnSpc>
              <a:spcAft>
                <a:spcPts val="0"/>
              </a:spcAft>
            </a:pPr>
            <a:r>
              <a:rPr sz="1300" b="0">
                <a:solidFill>
                  <a:srgbClr val="6B7480"/>
                </a:solidFill>
                <a:latin typeface="Arial"/>
              </a:rPr>
              <a:t>team accuracy</a:t>
            </a:r>
          </a:p>
        </p:txBody>
      </p:sp>
      <p:sp>
        <p:nvSpPr>
          <p:cNvPr id="22" name="Rounded Rectangle 21"/>
          <p:cNvSpPr/>
          <p:nvPr/>
        </p:nvSpPr>
        <p:spPr>
          <a:xfrm>
            <a:off x="7112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65.3%</a:t>
            </a:r>
          </a:p>
          <a:p>
            <a:pPr algn="ctr">
              <a:lnSpc>
                <a:spcPct val="115000"/>
              </a:lnSpc>
              <a:spcAft>
                <a:spcPts val="0"/>
              </a:spcAft>
            </a:pPr>
            <a:r>
              <a:rPr sz="1300" b="0">
                <a:solidFill>
                  <a:srgbClr val="6B7480"/>
                </a:solidFill>
                <a:latin typeface="Arial"/>
              </a:rPr>
              <a:t>team accuracy</a:t>
            </a:r>
          </a:p>
        </p:txBody>
      </p:sp>
      <p:sp>
        <p:nvSpPr>
          <p:cNvPr id="23" name="Rounded Rectangle 22"/>
          <p:cNvSpPr/>
          <p:nvPr/>
        </p:nvSpPr>
        <p:spPr>
          <a:xfrm>
            <a:off x="9144000" y="4413250"/>
            <a:ext cx="1905000" cy="762000"/>
          </a:xfrm>
          <a:prstGeom prst="roundRect">
            <a:avLst>
              <a:gd name="adj" fmla="val 10000"/>
            </a:avLst>
          </a:prstGeom>
          <a:solidFill>
            <a:srgbClr val="DDEDFB"/>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50800" rIns="50800" tIns="50800" bIns="50800"/>
          <a:lstStyle/>
          <a:p>
            <a:pPr algn="ctr">
              <a:lnSpc>
                <a:spcPct val="115000"/>
              </a:lnSpc>
              <a:spcAft>
                <a:spcPts val="0"/>
              </a:spcAft>
            </a:pPr>
            <a:r>
              <a:rPr sz="2400" b="1">
                <a:solidFill>
                  <a:srgbClr val="00175A"/>
                </a:solidFill>
                <a:latin typeface="Arial"/>
              </a:rPr>
              <a:t>36.4%</a:t>
            </a:r>
          </a:p>
          <a:p>
            <a:pPr algn="ctr">
              <a:lnSpc>
                <a:spcPct val="115000"/>
              </a:lnSpc>
              <a:spcAft>
                <a:spcPts val="0"/>
              </a:spcAft>
            </a:pPr>
            <a:r>
              <a:rPr sz="1300" b="0">
                <a:solidFill>
                  <a:srgbClr val="6B7480"/>
                </a:solidFill>
                <a:latin typeface="Arial"/>
              </a:rPr>
              <a:t>team accuracy</a:t>
            </a:r>
          </a:p>
        </p:txBody>
      </p:sp>
      <p:sp>
        <p:nvSpPr>
          <p:cNvPr id="24" name="Rounded Rectangle 23"/>
          <p:cNvSpPr/>
          <p:nvPr/>
        </p:nvSpPr>
        <p:spPr>
          <a:xfrm>
            <a:off x="812800" y="5524500"/>
            <a:ext cx="10566400" cy="635000"/>
          </a:xfrm>
          <a:prstGeom prst="roundRect">
            <a:avLst>
              <a:gd name="adj" fmla="val 10000"/>
            </a:avLst>
          </a:prstGeom>
          <a:solidFill>
            <a:srgbClr val="0017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03200" rIns="203200" tIns="203200" bIns="203200"/>
          <a:lstStyle/>
          <a:p>
            <a:pPr algn="ctr">
              <a:lnSpc>
                <a:spcPct val="115000"/>
              </a:lnSpc>
              <a:spcAft>
                <a:spcPts val="0"/>
              </a:spcAft>
            </a:pPr>
            <a:r>
              <a:rPr sz="1800" b="0">
                <a:solidFill>
                  <a:srgbClr val="F6F8FB"/>
                </a:solidFill>
                <a:latin typeface="Arial"/>
              </a:rPr>
              <a:t>Record every task once, then replay </a:t>
            </a:r>
            <a:r>
              <a:rPr sz="1800" b="1">
                <a:solidFill>
                  <a:srgbClr val="66B2F0"/>
                </a:solidFill>
                <a:latin typeface="Arial"/>
              </a:rPr>
              <a:t>200 random splits</a:t>
            </a:r>
            <a:r>
              <a:rPr sz="1800" b="0">
                <a:solidFill>
                  <a:srgbClr val="F6F8FB"/>
                </a:solidFill>
                <a:latin typeface="Arial"/>
              </a:rPr>
              <a:t>: half to calibrate CLIMB, half to test it.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18</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The promise holds on every setting</a:t>
            </a:r>
          </a:p>
        </p:txBody>
      </p:sp>
      <p:pic>
        <p:nvPicPr>
          <p:cNvPr id="5" name="Picture 4" descr="c_viol.png"/>
          <p:cNvPicPr>
            <a:picLocks noChangeAspect="1"/>
          </p:cNvPicPr>
          <p:nvPr/>
        </p:nvPicPr>
        <p:blipFill>
          <a:blip r:embed="rId3"/>
          <a:stretch>
            <a:fillRect/>
          </a:stretch>
        </p:blipFill>
        <p:spPr>
          <a:xfrm>
            <a:off x="812800" y="1999442"/>
            <a:ext cx="7302500" cy="3748115"/>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E3ECE2"/>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2F6B34"/>
                </a:solidFill>
                <a:latin typeface="Georgia"/>
              </a:rPr>
              <a:t>≤ 2%</a:t>
            </a:r>
          </a:p>
          <a:p>
            <a:pPr algn="l">
              <a:lnSpc>
                <a:spcPct val="115000"/>
              </a:lnSpc>
              <a:spcAft>
                <a:spcPts val="0"/>
              </a:spcAft>
            </a:pPr>
            <a:r>
              <a:rPr sz="1700" b="0">
                <a:solidFill>
                  <a:srgbClr val="333B47"/>
                </a:solidFill>
                <a:latin typeface="Arial"/>
              </a:rPr>
              <a:t>of splits broke the promise. Allowed: 10%.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19</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How much it saves</a:t>
            </a:r>
          </a:p>
        </p:txBody>
      </p:sp>
      <p:pic>
        <p:nvPicPr>
          <p:cNvPr id="5" name="Picture 4" descr="c_savings.png"/>
          <p:cNvPicPr>
            <a:picLocks noChangeAspect="1"/>
          </p:cNvPicPr>
          <p:nvPr/>
        </p:nvPicPr>
        <p:blipFill>
          <a:blip r:embed="rId3"/>
          <a:stretch>
            <a:fillRect/>
          </a:stretch>
        </p:blipFill>
        <p:spPr>
          <a:xfrm>
            <a:off x="812800" y="1997499"/>
            <a:ext cx="7302500" cy="3752001"/>
          </a:xfrm>
          <a:prstGeom prst="rect">
            <a:avLst/>
          </a:prstGeom>
        </p:spPr>
      </p:pic>
      <p:sp>
        <p:nvSpPr>
          <p:cNvPr id="6" name="Rounded Rectangle 5"/>
          <p:cNvSpPr/>
          <p:nvPr/>
        </p:nvSpPr>
        <p:spPr>
          <a:xfrm>
            <a:off x="8445500" y="2095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38% saved</a:t>
            </a:r>
          </a:p>
          <a:p>
            <a:pPr algn="l">
              <a:lnSpc>
                <a:spcPct val="115000"/>
              </a:lnSpc>
              <a:spcAft>
                <a:spcPts val="0"/>
              </a:spcAft>
            </a:pPr>
            <a:r>
              <a:rPr sz="1700" b="0">
                <a:solidFill>
                  <a:srgbClr val="333B47"/>
                </a:solidFill>
                <a:latin typeface="Arial"/>
              </a:rPr>
              <a:t>allowing 5 points of loss</a:t>
            </a:r>
          </a:p>
        </p:txBody>
      </p:sp>
      <p:sp>
        <p:nvSpPr>
          <p:cNvPr id="7" name="Rounded Rectangle 6"/>
          <p:cNvSpPr/>
          <p:nvPr/>
        </p:nvSpPr>
        <p:spPr>
          <a:xfrm>
            <a:off x="8445500" y="4000500"/>
            <a:ext cx="2933700" cy="1651000"/>
          </a:xfrm>
          <a:prstGeom prst="roundRect">
            <a:avLst>
              <a:gd name="adj" fmla="val 6923"/>
            </a:avLst>
          </a:prstGeom>
          <a:solidFill>
            <a:srgbClr val="E6EBF4"/>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00175A"/>
                </a:solidFill>
                <a:latin typeface="Georgia"/>
              </a:rPr>
              <a:t>65% saved</a:t>
            </a:r>
          </a:p>
          <a:p>
            <a:pPr algn="l">
              <a:lnSpc>
                <a:spcPct val="115000"/>
              </a:lnSpc>
              <a:spcAft>
                <a:spcPts val="0"/>
              </a:spcAft>
            </a:pPr>
            <a:r>
              <a:rPr sz="1700" b="0">
                <a:solidFill>
                  <a:srgbClr val="333B47"/>
                </a:solidFill>
                <a:latin typeface="Arial"/>
              </a:rPr>
              <a:t>allowing 10 points of loss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20</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RESULTS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Without the test, the promise breaks</a:t>
            </a:r>
          </a:p>
        </p:txBody>
      </p:sp>
      <p:pic>
        <p:nvPicPr>
          <p:cNvPr id="5" name="Picture 4" descr="c_tuned.png"/>
          <p:cNvPicPr>
            <a:picLocks noChangeAspect="1"/>
          </p:cNvPicPr>
          <p:nvPr/>
        </p:nvPicPr>
        <p:blipFill>
          <a:blip r:embed="rId3"/>
          <a:stretch>
            <a:fillRect/>
          </a:stretch>
        </p:blipFill>
        <p:spPr>
          <a:xfrm>
            <a:off x="812800" y="1721371"/>
            <a:ext cx="7302500" cy="4304257"/>
          </a:xfrm>
          <a:prstGeom prst="rect">
            <a:avLst/>
          </a:prstGeom>
        </p:spPr>
      </p:pic>
      <p:sp>
        <p:nvSpPr>
          <p:cNvPr id="6" name="Rounded Rectangle 5"/>
          <p:cNvSpPr/>
          <p:nvPr/>
        </p:nvSpPr>
        <p:spPr>
          <a:xfrm>
            <a:off x="8445500" y="2286000"/>
            <a:ext cx="2933700" cy="1905000"/>
          </a:xfrm>
          <a:prstGeom prst="roundRect">
            <a:avLst>
              <a:gd name="adj" fmla="val 6000"/>
            </a:avLst>
          </a:prstGeom>
          <a:solidFill>
            <a:srgbClr val="F6E3E0"/>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90500" rIns="190500" tIns="190500" bIns="190500"/>
          <a:lstStyle/>
          <a:p>
            <a:pPr algn="l">
              <a:lnSpc>
                <a:spcPct val="100000"/>
              </a:lnSpc>
              <a:spcAft>
                <a:spcPts val="600"/>
              </a:spcAft>
            </a:pPr>
            <a:r>
              <a:rPr sz="3600" b="1">
                <a:solidFill>
                  <a:srgbClr val="B03A2E"/>
                </a:solidFill>
                <a:latin typeface="Georgia"/>
              </a:rPr>
              <a:t>31%</a:t>
            </a:r>
          </a:p>
          <a:p>
            <a:pPr algn="l">
              <a:lnSpc>
                <a:spcPct val="115000"/>
              </a:lnSpc>
              <a:spcAft>
                <a:spcPts val="0"/>
              </a:spcAft>
            </a:pPr>
            <a:r>
              <a:rPr sz="1700" b="0">
                <a:solidFill>
                  <a:srgbClr val="333B47"/>
                </a:solidFill>
                <a:latin typeface="Arial"/>
              </a:rPr>
              <a:t>of splits broken at ε = 5 by the tuned rule. CLIMB: 0.6%.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21</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TAKEAWAYS</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600" b="1">
                <a:solidFill>
                  <a:srgbClr val="00175A"/>
                </a:solidFill>
                <a:latin typeface="Georgia"/>
              </a:rPr>
              <a:t>Call the team only when you must</a:t>
            </a:r>
          </a:p>
        </p:txBody>
      </p:sp>
      <p:sp>
        <p:nvSpPr>
          <p:cNvPr id="5" name="Rectangle 4"/>
          <p:cNvSpPr/>
          <p:nvPr/>
        </p:nvSpPr>
        <p:spPr>
          <a:xfrm>
            <a:off x="8128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128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Teams are costly</a:t>
            </a:r>
          </a:p>
          <a:p>
            <a:pPr algn="l">
              <a:lnSpc>
                <a:spcPct val="115000"/>
              </a:lnSpc>
              <a:spcAft>
                <a:spcPts val="0"/>
              </a:spcAft>
            </a:pPr>
            <a:r>
              <a:rPr sz="2000" b="0">
                <a:solidFill>
                  <a:srgbClr val="333B47"/>
                </a:solidFill>
                <a:latin typeface="Arial"/>
              </a:rPr>
              <a:t>and sometimes break right answers.</a:t>
            </a:r>
          </a:p>
        </p:txBody>
      </p:sp>
      <p:sp>
        <p:nvSpPr>
          <p:cNvPr id="7" name="Rectangle 6"/>
          <p:cNvSpPr/>
          <p:nvPr/>
        </p:nvSpPr>
        <p:spPr>
          <a:xfrm>
            <a:off x="440055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40055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CLIMB keeps a promise</a:t>
            </a:r>
          </a:p>
          <a:p>
            <a:pPr algn="l">
              <a:lnSpc>
                <a:spcPct val="115000"/>
              </a:lnSpc>
              <a:spcAft>
                <a:spcPts val="0"/>
              </a:spcAft>
            </a:pPr>
            <a:r>
              <a:rPr sz="2000" b="0">
                <a:solidFill>
                  <a:srgbClr val="333B47"/>
                </a:solidFill>
                <a:latin typeface="Arial"/>
              </a:rPr>
              <a:t>you set the loss, it finds the cheapest safe rule.</a:t>
            </a:r>
          </a:p>
        </p:txBody>
      </p:sp>
      <p:sp>
        <p:nvSpPr>
          <p:cNvPr id="9" name="Rectangle 8"/>
          <p:cNvSpPr/>
          <p:nvPr/>
        </p:nvSpPr>
        <p:spPr>
          <a:xfrm>
            <a:off x="7988300" y="2095500"/>
            <a:ext cx="3384550" cy="38100"/>
          </a:xfrm>
          <a:prstGeom prst="rect">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988300" y="2286000"/>
            <a:ext cx="3384550" cy="1651000"/>
          </a:xfrm>
          <a:prstGeom prst="rect">
            <a:avLst/>
          </a:prstGeom>
          <a:noFill/>
        </p:spPr>
        <p:txBody>
          <a:bodyPr wrap="square" lIns="0" rIns="0" tIns="0" bIns="0" anchor="t">
            <a:spAutoFit/>
          </a:bodyPr>
          <a:lstStyle/>
          <a:p>
            <a:pPr algn="l">
              <a:lnSpc>
                <a:spcPct val="115000"/>
              </a:lnSpc>
              <a:spcAft>
                <a:spcPts val="1000"/>
              </a:spcAft>
            </a:pPr>
            <a:r>
              <a:rPr sz="2800" b="1">
                <a:solidFill>
                  <a:srgbClr val="00175A"/>
                </a:solidFill>
                <a:latin typeface="Georgia"/>
              </a:rPr>
              <a:t>38–65% saved</a:t>
            </a:r>
          </a:p>
          <a:p>
            <a:pPr algn="l">
              <a:lnSpc>
                <a:spcPct val="115000"/>
              </a:lnSpc>
              <a:spcAft>
                <a:spcPts val="0"/>
              </a:spcAft>
            </a:pPr>
            <a:r>
              <a:rPr sz="2000" b="0">
                <a:solidFill>
                  <a:srgbClr val="333B47"/>
                </a:solidFill>
                <a:latin typeface="Arial"/>
              </a:rPr>
              <a:t>at 5 and 10 points, with the promise kept.</a:t>
            </a:r>
          </a:p>
        </p:txBody>
      </p:sp>
      <p:sp>
        <p:nvSpPr>
          <p:cNvPr id="11" name="TextBox 10"/>
          <p:cNvSpPr txBox="1"/>
          <p:nvPr/>
        </p:nvSpPr>
        <p:spPr>
          <a:xfrm>
            <a:off x="812800" y="4699000"/>
            <a:ext cx="10566400" cy="508000"/>
          </a:xfrm>
          <a:prstGeom prst="rect">
            <a:avLst/>
          </a:prstGeom>
          <a:noFill/>
        </p:spPr>
        <p:txBody>
          <a:bodyPr wrap="square" lIns="0" rIns="0" tIns="0" bIns="0" anchor="t">
            <a:spAutoFit/>
          </a:bodyPr>
          <a:lstStyle/>
          <a:p>
            <a:pPr algn="l">
              <a:lnSpc>
                <a:spcPct val="115000"/>
              </a:lnSpc>
              <a:spcAft>
                <a:spcPts val="0"/>
              </a:spcAft>
            </a:pPr>
            <a:r>
              <a:rPr sz="1800" b="0">
                <a:solidFill>
                  <a:srgbClr val="333B47"/>
                </a:solidFill>
                <a:latin typeface="Arial"/>
              </a:rPr>
              <a:t>Assumes calibration tasks resemble deployment tasks. Recalibrating takes under a second.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TextBox 1"/>
          <p:cNvSpPr txBox="1"/>
          <p:nvPr/>
        </p:nvSpPr>
        <p:spPr>
          <a:xfrm>
            <a:off x="812800" y="6413500"/>
            <a:ext cx="10566400" cy="215900"/>
          </a:xfrm>
          <a:prstGeom prst="rect">
            <a:avLst/>
          </a:prstGeom>
          <a:noFill/>
        </p:spPr>
        <p:txBody>
          <a:bodyPr wrap="square" lIns="0" rIns="0" tIns="0" bIns="0" anchor="t">
            <a:spAutoFit/>
          </a:bodyPr>
          <a:lstStyle/>
          <a:p>
            <a:pPr algn="r">
              <a:lnSpc>
                <a:spcPct val="115000"/>
              </a:lnSpc>
              <a:spcAft>
                <a:spcPts val="0"/>
              </a:spcAft>
            </a:pPr>
            <a:r>
              <a:rPr sz="1200" b="0">
                <a:solidFill>
                  <a:srgbClr val="6B7480"/>
                </a:solidFill>
                <a:latin typeface="Arial"/>
              </a:rPr>
              <a:t>22</a:t>
            </a:r>
          </a:p>
        </p:txBody>
      </p:sp>
      <p:sp>
        <p:nvSpPr>
          <p:cNvPr id="3" name="TextBox 2"/>
          <p:cNvSpPr txBox="1"/>
          <p:nvPr/>
        </p:nvSpPr>
        <p:spPr>
          <a:xfrm>
            <a:off x="812800" y="635000"/>
            <a:ext cx="10566400" cy="254000"/>
          </a:xfrm>
          <a:prstGeom prst="rect">
            <a:avLst/>
          </a:prstGeom>
          <a:noFill/>
        </p:spPr>
        <p:txBody>
          <a:bodyPr wrap="square" lIns="0" rIns="0" tIns="0" bIns="0" anchor="t">
            <a:spAutoFit/>
          </a:bodyPr>
          <a:lstStyle/>
          <a:p>
            <a:pPr algn="l">
              <a:lnSpc>
                <a:spcPct val="115000"/>
              </a:lnSpc>
              <a:spcAft>
                <a:spcPts val="0"/>
              </a:spcAft>
            </a:pPr>
            <a:r>
              <a:rPr sz="1300" b="1">
                <a:solidFill>
                  <a:srgbClr val="006FCF"/>
                </a:solidFill>
                <a:latin typeface="Arial"/>
              </a:rPr>
              <a:t>FOR AMEX</a:t>
            </a:r>
          </a:p>
        </p:txBody>
      </p:sp>
      <p:sp>
        <p:nvSpPr>
          <p:cNvPr id="4" name="TextBox 3"/>
          <p:cNvSpPr txBox="1"/>
          <p:nvPr/>
        </p:nvSpPr>
        <p:spPr>
          <a:xfrm>
            <a:off x="812800" y="889000"/>
            <a:ext cx="10566400" cy="571500"/>
          </a:xfrm>
          <a:prstGeom prst="rect">
            <a:avLst/>
          </a:prstGeom>
          <a:noFill/>
        </p:spPr>
        <p:txBody>
          <a:bodyPr wrap="square" lIns="0" rIns="0" tIns="0" bIns="0" anchor="t">
            <a:spAutoFit/>
          </a:bodyPr>
          <a:lstStyle/>
          <a:p>
            <a:pPr algn="l">
              <a:lnSpc>
                <a:spcPct val="105000"/>
              </a:lnSpc>
              <a:spcAft>
                <a:spcPts val="0"/>
              </a:spcAft>
            </a:pPr>
            <a:r>
              <a:rPr sz="3000" b="1">
                <a:solidFill>
                  <a:srgbClr val="00175A"/>
                </a:solidFill>
                <a:latin typeface="Georgia"/>
              </a:rPr>
              <a:t>What this offers Amex</a:t>
            </a:r>
          </a:p>
        </p:txBody>
      </p:sp>
      <p:sp>
        <p:nvSpPr>
          <p:cNvPr id="5" name="Oval 4"/>
          <p:cNvSpPr/>
          <p:nvPr/>
        </p:nvSpPr>
        <p:spPr>
          <a:xfrm>
            <a:off x="8128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1</a:t>
            </a:r>
          </a:p>
        </p:txBody>
      </p:sp>
      <p:sp>
        <p:nvSpPr>
          <p:cNvPr id="6" name="TextBox 5"/>
          <p:cNvSpPr txBox="1"/>
          <p:nvPr/>
        </p:nvSpPr>
        <p:spPr>
          <a:xfrm>
            <a:off x="13208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Fewer tokens, even on closed models</a:t>
            </a:r>
          </a:p>
        </p:txBody>
      </p:sp>
      <p:sp>
        <p:nvSpPr>
          <p:cNvPr id="7" name="Oval 6"/>
          <p:cNvSpPr/>
          <p:nvPr/>
        </p:nvSpPr>
        <p:spPr>
          <a:xfrm>
            <a:off x="6223000" y="1663700"/>
            <a:ext cx="381000" cy="381000"/>
          </a:xfrm>
          <a:prstGeom prst="ellipse">
            <a:avLst/>
          </a:prstGeom>
          <a:solidFill>
            <a:srgbClr val="006FC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0" rIns="0" tIns="0" bIns="0"/>
          <a:lstStyle/>
          <a:p>
            <a:pPr algn="ctr">
              <a:lnSpc>
                <a:spcPct val="115000"/>
              </a:lnSpc>
              <a:spcAft>
                <a:spcPts val="0"/>
              </a:spcAft>
            </a:pPr>
            <a:r>
              <a:rPr sz="2400" b="1">
                <a:solidFill>
                  <a:srgbClr val="F6F8FB"/>
                </a:solidFill>
                <a:latin typeface="Arial"/>
              </a:rPr>
              <a:t>2</a:t>
            </a:r>
          </a:p>
        </p:txBody>
      </p:sp>
      <p:sp>
        <p:nvSpPr>
          <p:cNvPr id="8" name="TextBox 7"/>
          <p:cNvSpPr txBox="1"/>
          <p:nvPr/>
        </p:nvSpPr>
        <p:spPr>
          <a:xfrm>
            <a:off x="6731000" y="1663700"/>
            <a:ext cx="4699000" cy="381000"/>
          </a:xfrm>
          <a:prstGeom prst="rect">
            <a:avLst/>
          </a:prstGeom>
          <a:noFill/>
        </p:spPr>
        <p:txBody>
          <a:bodyPr wrap="square" lIns="0" rIns="0" tIns="0" bIns="0" anchor="ctr">
            <a:spAutoFit/>
          </a:bodyPr>
          <a:lstStyle/>
          <a:p>
            <a:pPr algn="l">
              <a:lnSpc>
                <a:spcPct val="115000"/>
              </a:lnSpc>
              <a:spcAft>
                <a:spcPts val="0"/>
              </a:spcAft>
            </a:pPr>
            <a:r>
              <a:rPr sz="2000" b="1">
                <a:solidFill>
                  <a:srgbClr val="00175A"/>
                </a:solidFill>
                <a:latin typeface="Arial"/>
              </a:rPr>
              <a:t>Lessons for complex agent systems</a:t>
            </a:r>
          </a:p>
        </p:txBody>
      </p:sp>
      <p:sp>
        <p:nvSpPr>
          <p:cNvPr id="9" name="Rounded Rectangle 8"/>
          <p:cNvSpPr/>
          <p:nvPr/>
        </p:nvSpPr>
        <p:spPr>
          <a:xfrm>
            <a:off x="8128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Closed model</a:t>
            </a:r>
          </a:p>
          <a:p>
            <a:pPr algn="ctr">
              <a:lnSpc>
                <a:spcPct val="115000"/>
              </a:lnSpc>
              <a:spcAft>
                <a:spcPts val="0"/>
              </a:spcAft>
            </a:pPr>
            <a:r>
              <a:rPr sz="1300" b="0">
                <a:solidFill>
                  <a:srgbClr val="6B7480"/>
                </a:solidFill>
                <a:latin typeface="Arial"/>
              </a:rPr>
              <a:t>writes the output</a:t>
            </a:r>
          </a:p>
        </p:txBody>
      </p:sp>
      <p:sp>
        <p:nvSpPr>
          <p:cNvPr id="10" name="Right Arrow 9"/>
          <p:cNvSpPr/>
          <p:nvPr/>
        </p:nvSpPr>
        <p:spPr>
          <a:xfrm>
            <a:off x="23241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2540000" y="2286000"/>
            <a:ext cx="1473200" cy="889000"/>
          </a:xfrm>
          <a:prstGeom prst="roundRect">
            <a:avLst>
              <a:gd name="adj" fmla="val 10000"/>
            </a:avLst>
          </a:prstGeom>
          <a:solidFill>
            <a:srgbClr val="E6EBF4"/>
          </a:solidFill>
          <a:ln w="1905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Open model</a:t>
            </a:r>
          </a:p>
          <a:p>
            <a:pPr algn="ctr">
              <a:lnSpc>
                <a:spcPct val="115000"/>
              </a:lnSpc>
              <a:spcAft>
                <a:spcPts val="0"/>
              </a:spcAft>
            </a:pPr>
            <a:r>
              <a:rPr sz="1300" b="0">
                <a:solidFill>
                  <a:srgbClr val="6B7480"/>
                </a:solidFill>
                <a:latin typeface="Arial"/>
              </a:rPr>
              <a:t>reads it → log-probs</a:t>
            </a:r>
          </a:p>
        </p:txBody>
      </p:sp>
      <p:sp>
        <p:nvSpPr>
          <p:cNvPr id="12" name="Right Arrow 11"/>
          <p:cNvSpPr/>
          <p:nvPr/>
        </p:nvSpPr>
        <p:spPr>
          <a:xfrm>
            <a:off x="4051300" y="2603500"/>
            <a:ext cx="177800" cy="254000"/>
          </a:xfrm>
          <a:prstGeom prst="rightArrow">
            <a:avLst/>
          </a:prstGeom>
          <a:solidFill>
            <a:srgbClr val="6B74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267200" y="2286000"/>
            <a:ext cx="1473200" cy="889000"/>
          </a:xfrm>
          <a:prstGeom prst="roundRect">
            <a:avLst>
              <a:gd name="adj" fmla="val 10000"/>
            </a:avLst>
          </a:prstGeom>
          <a:solidFill>
            <a:srgbClr val="DDEDFB"/>
          </a:solidFill>
          <a:ln w="19050">
            <a:solidFill>
              <a:srgbClr val="006FCF"/>
            </a:solidFill>
          </a:ln>
          <a:effectLst/>
        </p:spPr>
        <p:style>
          <a:lnRef idx="1">
            <a:schemeClr val="accent1"/>
          </a:lnRef>
          <a:fillRef idx="3">
            <a:schemeClr val="accent1"/>
          </a:fillRef>
          <a:effectRef idx="2">
            <a:schemeClr val="accent1"/>
          </a:effectRef>
          <a:fontRef idx="minor">
            <a:schemeClr val="lt1"/>
          </a:fontRef>
        </p:style>
        <p:txBody>
          <a:bodyPr rtlCol="0" anchor="ctr" wrap="square" lIns="38100" rIns="38100" tIns="38100" bIns="38100"/>
          <a:lstStyle/>
          <a:p>
            <a:pPr algn="ctr">
              <a:lnSpc>
                <a:spcPct val="115000"/>
              </a:lnSpc>
              <a:spcAft>
                <a:spcPts val="200"/>
              </a:spcAft>
            </a:pPr>
            <a:r>
              <a:rPr sz="1600" b="1">
                <a:solidFill>
                  <a:srgbClr val="00175A"/>
                </a:solidFill>
                <a:latin typeface="Arial"/>
              </a:rPr>
              <a:t>CLIMB</a:t>
            </a:r>
          </a:p>
          <a:p>
            <a:pPr algn="ctr">
              <a:lnSpc>
                <a:spcPct val="115000"/>
              </a:lnSpc>
              <a:spcAft>
                <a:spcPts val="0"/>
              </a:spcAft>
            </a:pPr>
            <a:r>
              <a:rPr sz="1300" b="0">
                <a:solidFill>
                  <a:srgbClr val="6B7480"/>
                </a:solidFill>
                <a:latin typeface="Arial"/>
              </a:rPr>
              <a:t>uses them as S₀</a:t>
            </a:r>
          </a:p>
        </p:txBody>
      </p:sp>
      <p:sp>
        <p:nvSpPr>
          <p:cNvPr id="14" name="TextBox 13"/>
          <p:cNvSpPr txBox="1"/>
          <p:nvPr/>
        </p:nvSpPr>
        <p:spPr>
          <a:xfrm>
            <a:off x="812800" y="3270250"/>
            <a:ext cx="5016500" cy="254000"/>
          </a:xfrm>
          <a:prstGeom prst="rect">
            <a:avLst/>
          </a:prstGeom>
          <a:noFill/>
        </p:spPr>
        <p:txBody>
          <a:bodyPr wrap="square" lIns="0" rIns="0" tIns="0" bIns="0" anchor="t">
            <a:spAutoFit/>
          </a:bodyPr>
          <a:lstStyle/>
          <a:p>
            <a:pPr algn="l">
              <a:lnSpc>
                <a:spcPct val="115000"/>
              </a:lnSpc>
              <a:spcAft>
                <a:spcPts val="0"/>
              </a:spcAft>
            </a:pPr>
            <a:r>
              <a:rPr sz="1400" b="1">
                <a:solidFill>
                  <a:srgbClr val="006FCF"/>
                </a:solidFill>
                <a:latin typeface="Arial"/>
              </a:rPr>
              <a:t>Same idea as the reference model in PPO.</a:t>
            </a:r>
          </a:p>
        </p:txBody>
      </p:sp>
      <p:sp>
        <p:nvSpPr>
          <p:cNvPr id="15" name="TextBox 14"/>
          <p:cNvSpPr txBox="1"/>
          <p:nvPr/>
        </p:nvSpPr>
        <p:spPr>
          <a:xfrm>
            <a:off x="812800" y="3778250"/>
            <a:ext cx="5016500" cy="2095500"/>
          </a:xfrm>
          <a:prstGeom prst="rect">
            <a:avLst/>
          </a:prstGeom>
          <a:noFill/>
        </p:spPr>
        <p:txBody>
          <a:bodyPr wrap="square" lIns="0" rIns="0" tIns="0" bIns="0" anchor="t">
            <a:spAutoFit/>
          </a:bodyPr>
          <a:lstStyle/>
          <a:p>
            <a:pPr algn="l">
              <a:lnSpc>
                <a:spcPct val="115000"/>
              </a:lnSpc>
              <a:spcAft>
                <a:spcPts val="1000"/>
              </a:spcAft>
            </a:pPr>
            <a:r>
              <a:rPr sz="1600" b="0">
                <a:solidFill>
                  <a:srgbClr val="333B47"/>
                </a:solidFill>
                <a:latin typeface="Arial"/>
              </a:rPr>
              <a:t>• Feed the closed model’s output to an open model to get its </a:t>
            </a:r>
            <a:r>
              <a:rPr sz="1600" b="1">
                <a:solidFill>
                  <a:srgbClr val="333B47"/>
                </a:solidFill>
                <a:latin typeface="Arial"/>
              </a:rPr>
              <a:t>log-probs</a:t>
            </a:r>
          </a:p>
          <a:p>
            <a:pPr algn="l">
              <a:lnSpc>
                <a:spcPct val="115000"/>
              </a:lnSpc>
              <a:spcAft>
                <a:spcPts val="1000"/>
              </a:spcAft>
            </a:pPr>
            <a:r>
              <a:rPr sz="1600" b="0">
                <a:solidFill>
                  <a:srgbClr val="333B47"/>
                </a:solidFill>
                <a:latin typeface="Arial"/>
              </a:rPr>
              <a:t>• </a:t>
            </a:r>
            <a:r>
              <a:rPr sz="1600" b="1">
                <a:solidFill>
                  <a:srgbClr val="333B47"/>
                </a:solidFill>
                <a:latin typeface="Arial"/>
              </a:rPr>
              <a:t>38–65% fewer tokens</a:t>
            </a:r>
            <a:r>
              <a:rPr sz="1600" b="0">
                <a:solidFill>
                  <a:srgbClr val="333B47"/>
                </a:solidFill>
                <a:latin typeface="Arial"/>
              </a:rPr>
              <a:t> at 5–10 points in our tests</a:t>
            </a:r>
          </a:p>
          <a:p>
            <a:pPr algn="l">
              <a:lnSpc>
                <a:spcPct val="115000"/>
              </a:lnSpc>
              <a:spcAft>
                <a:spcPts val="1000"/>
              </a:spcAft>
            </a:pPr>
            <a:r>
              <a:rPr sz="1600" b="0">
                <a:solidFill>
                  <a:srgbClr val="333B47"/>
                </a:solidFill>
                <a:latin typeface="Arial"/>
              </a:rPr>
              <a:t>• Agreement of two cheap calls needs </a:t>
            </a:r>
            <a:r>
              <a:rPr sz="1600" b="1">
                <a:solidFill>
                  <a:srgbClr val="333B47"/>
                </a:solidFill>
                <a:latin typeface="Arial"/>
              </a:rPr>
              <a:t>no log-probs</a:t>
            </a:r>
          </a:p>
          <a:p>
            <a:pPr algn="l">
              <a:lnSpc>
                <a:spcPct val="115000"/>
              </a:lnSpc>
              <a:spcAft>
                <a:spcPts val="1000"/>
              </a:spcAft>
            </a:pPr>
            <a:r>
              <a:rPr sz="1600" b="0">
                <a:solidFill>
                  <a:srgbClr val="333B47"/>
                </a:solidFill>
                <a:latin typeface="Arial"/>
              </a:rPr>
              <a:t>• A weaker score saves less, the </a:t>
            </a:r>
            <a:r>
              <a:rPr sz="1600" b="1">
                <a:solidFill>
                  <a:srgbClr val="333B47"/>
                </a:solidFill>
                <a:latin typeface="Arial"/>
              </a:rPr>
              <a:t>promise still holds</a:t>
            </a:r>
          </a:p>
          <a:p>
            <a:pPr algn="l">
              <a:lnSpc>
                <a:spcPct val="115000"/>
              </a:lnSpc>
              <a:spcAft>
                <a:spcPts val="0"/>
              </a:spcAft>
            </a:pPr>
            <a:r>
              <a:rPr sz="1300" b="0">
                <a:solidFill>
                  <a:srgbClr val="6B7480"/>
                </a:solidFill>
                <a:latin typeface="Arial"/>
              </a:rPr>
              <a:t>Getting a closed model’s log-probs from an open model is a proposal, not yet tested.</a:t>
            </a:r>
          </a:p>
        </p:txBody>
      </p:sp>
      <p:sp>
        <p:nvSpPr>
          <p:cNvPr id="16" name="Rounded Rectangle 15"/>
          <p:cNvSpPr/>
          <p:nvPr/>
        </p:nvSpPr>
        <p:spPr>
          <a:xfrm>
            <a:off x="6223000" y="2286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More agents is not always better</a:t>
            </a:r>
          </a:p>
          <a:p>
            <a:pPr algn="l">
              <a:lnSpc>
                <a:spcPct val="115000"/>
              </a:lnSpc>
              <a:spcAft>
                <a:spcPts val="0"/>
              </a:spcAft>
            </a:pPr>
            <a:r>
              <a:rPr sz="1400" b="0">
                <a:solidFill>
                  <a:srgbClr val="6B7480"/>
                </a:solidFill>
                <a:latin typeface="Arial"/>
              </a:rPr>
              <a:t>Reviewers pass 23–58% of wrong drafts.</a:t>
            </a:r>
          </a:p>
        </p:txBody>
      </p:sp>
      <p:sp>
        <p:nvSpPr>
          <p:cNvPr id="17" name="Rounded Rectangle 16"/>
          <p:cNvSpPr/>
          <p:nvPr/>
        </p:nvSpPr>
        <p:spPr>
          <a:xfrm>
            <a:off x="6223000" y="3175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Route each task, not the whole system</a:t>
            </a:r>
          </a:p>
          <a:p>
            <a:pPr algn="l">
              <a:lnSpc>
                <a:spcPct val="115000"/>
              </a:lnSpc>
              <a:spcAft>
                <a:spcPts val="0"/>
              </a:spcAft>
            </a:pPr>
            <a:r>
              <a:rPr sz="1400" b="0">
                <a:solidFill>
                  <a:srgbClr val="6B7480"/>
                </a:solidFill>
                <a:latin typeface="Arial"/>
              </a:rPr>
              <a:t>Escalate only the doubtful tasks.</a:t>
            </a:r>
          </a:p>
        </p:txBody>
      </p:sp>
      <p:sp>
        <p:nvSpPr>
          <p:cNvPr id="18" name="Rounded Rectangle 17"/>
          <p:cNvSpPr/>
          <p:nvPr/>
        </p:nvSpPr>
        <p:spPr>
          <a:xfrm>
            <a:off x="6223000" y="4064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Cheap signals are strong</a:t>
            </a:r>
          </a:p>
          <a:p>
            <a:pPr algn="l">
              <a:lnSpc>
                <a:spcPct val="115000"/>
              </a:lnSpc>
              <a:spcAft>
                <a:spcPts val="0"/>
              </a:spcAft>
            </a:pPr>
            <a:r>
              <a:rPr sz="1400" b="0">
                <a:solidFill>
                  <a:srgbClr val="6B7480"/>
                </a:solidFill>
                <a:latin typeface="Arial"/>
              </a:rPr>
              <a:t>Two cheap answers agree → usually right.</a:t>
            </a:r>
          </a:p>
        </p:txBody>
      </p:sp>
      <p:sp>
        <p:nvSpPr>
          <p:cNvPr id="19" name="Rounded Rectangle 18"/>
          <p:cNvSpPr/>
          <p:nvPr/>
        </p:nvSpPr>
        <p:spPr>
          <a:xfrm>
            <a:off x="6223000" y="4953000"/>
            <a:ext cx="5156200" cy="762000"/>
          </a:xfrm>
          <a:prstGeom prst="roundRect">
            <a:avLst>
              <a:gd name="adj" fmla="val 10000"/>
            </a:avLst>
          </a:prstGeom>
          <a:solidFill>
            <a:srgbClr val="FFFFFF"/>
          </a:solidFill>
          <a:ln w="12700">
            <a:solidFill>
              <a:srgbClr val="D3DCE8"/>
            </a:solidFill>
          </a:ln>
          <a:effectLst/>
        </p:spPr>
        <p:style>
          <a:lnRef idx="1">
            <a:schemeClr val="accent1"/>
          </a:lnRef>
          <a:fillRef idx="3">
            <a:schemeClr val="accent1"/>
          </a:fillRef>
          <a:effectRef idx="2">
            <a:schemeClr val="accent1"/>
          </a:effectRef>
          <a:fontRef idx="minor">
            <a:schemeClr val="lt1"/>
          </a:fontRef>
        </p:style>
        <p:txBody>
          <a:bodyPr rtlCol="0" anchor="ctr" wrap="square" lIns="114300" rIns="114300" tIns="114300" bIns="114300"/>
          <a:lstStyle/>
          <a:p>
            <a:pPr algn="l">
              <a:lnSpc>
                <a:spcPct val="115000"/>
              </a:lnSpc>
              <a:spcAft>
                <a:spcPts val="400"/>
              </a:spcAft>
            </a:pPr>
            <a:r>
              <a:rPr sz="1700" b="1">
                <a:solidFill>
                  <a:srgbClr val="00175A"/>
                </a:solidFill>
                <a:latin typeface="Arial"/>
              </a:rPr>
              <a:t>Put a guarantee on any routing rule</a:t>
            </a:r>
          </a:p>
          <a:p>
            <a:pPr algn="l">
              <a:lnSpc>
                <a:spcPct val="115000"/>
              </a:lnSpc>
              <a:spcAft>
                <a:spcPts val="0"/>
              </a:spcAft>
            </a:pPr>
            <a:r>
              <a:rPr sz="1400" b="0">
                <a:solidFill>
                  <a:srgbClr val="6B7480"/>
                </a:solidFill>
                <a:latin typeface="Arial"/>
              </a:rPr>
              <a:t>Cascades, tool calls, human review.</a:t>
            </a:r>
          </a:p>
        </p:txBody>
      </p:sp>
      <p:sp>
        <p:nvSpPr>
          <p:cNvPr id="20" name="TextBox 19"/>
          <p:cNvSpPr txBox="1"/>
          <p:nvPr/>
        </p:nvSpPr>
        <p:spPr>
          <a:xfrm>
            <a:off x="6223000" y="5969000"/>
            <a:ext cx="5156200" cy="317500"/>
          </a:xfrm>
          <a:prstGeom prst="rect">
            <a:avLst/>
          </a:prstGeom>
          <a:noFill/>
        </p:spPr>
        <p:txBody>
          <a:bodyPr wrap="square" lIns="0" rIns="0" tIns="0" bIns="0" anchor="t">
            <a:spAutoFit/>
          </a:bodyPr>
          <a:lstStyle/>
          <a:p>
            <a:pPr algn="r">
              <a:lnSpc>
                <a:spcPct val="115000"/>
              </a:lnSpc>
              <a:spcAft>
                <a:spcPts val="0"/>
              </a:spcAft>
            </a:pPr>
            <a:r>
              <a:rPr sz="2200" b="1">
                <a:solidFill>
                  <a:srgbClr val="006FCF"/>
                </a:solidFill>
                <a:latin typeface="Georgia"/>
              </a:rPr>
              <a:t>Thank you. Questions?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