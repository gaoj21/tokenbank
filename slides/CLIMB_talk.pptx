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4"/>
    <p:sldId id="257" r:id="rId9"/>
    <p:sldId id="259" r:id="rId11"/>
    <p:sldId id="261" r:id="rId13"/>
    <p:sldId id="263" r:id="rId15"/>
    <p:sldId id="264" r:id="rId16"/>
    <p:sldId id="286" r:id="rId38"/>
    <p:sldId id="283" r:id="rId35"/>
    <p:sldId id="266" r:id="rId18"/>
    <p:sldId id="284" r:id="rId36"/>
    <p:sldId id="267" r:id="rId19"/>
    <p:sldId id="268" r:id="rId20"/>
    <p:sldId id="269" r:id="rId21"/>
    <p:sldId id="285" r:id="rId37"/>
    <p:sldId id="271" r:id="rId23"/>
    <p:sldId id="277" r:id="rId29"/>
    <p:sldId id="287" r:id="rId39"/>
    <p:sldId id="279" r:id="rId31"/>
    <p:sldId id="280" r:id="rId32"/>
    <p:sldId id="281" r:id="rId33"/>
    <p:sldId id="258" r:id="rId10"/>
    <p:sldId id="260" r:id="rId12"/>
    <p:sldId id="262" r:id="rId14"/>
    <p:sldId id="265" r:id="rId17"/>
    <p:sldId id="278" r:id="rId30"/>
    <p:sldId id="270" r:id="rId22"/>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 And it works: on all twelve of our settings the team is the most accurate, 2 to 21 points above a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A task stops when a score is above a threshold. So the real question, and the rest of the talk, is: which score, and above all, which threshold?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replace guessing with a promise? You pick only the tolerance, say 5 points, and the data picks the threshold. Here is the workflow. Take the labelled tasks and split them in two. On the calibration half, run the betting test on every candidate threshold, from strict to loose, and stop at the first failure. The thresholds before that failure are certified. Deploy the cheapest certified one. If none passes, always call the team. Then check on the test half, which calibration never saw: did the deployed threshold keep the loss within 5 points, and how many tokens did it save? In our experiments we repeat this split 200 times. In deployment, you only need the calibration half: the test half is simply your future tasks. Next, how the betting test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CLIMB checks a threshold: the betting test. Imagine a gambler who bets that a threshold is safe. He starts with one dollar. We reveal the labelled tasks one by one, and compare the threshold's answer with the team's on each. If both give the same result, which is most tasks, his money grows a little, times 1.03. If the threshold stops on a wrong cheap answer the team got right, he loses a lot, about half. If it keeps a right cheap answer the team broke, he wins a lot, times 1.5. If his money ever reaches 20 dollars, the threshold passes. If it never does,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tell safe thresholds from unsafe ones? Average the multiplier over tasks: it is one plus the bet size times the tolerance minus the threshold's true loss. A safe threshold loses less than the tolerance, so on average each task multiplies the money by more than one, and it grows. An unsafe one loses more, so each task multiplies it by less than one, and it shrinks. On the chart, three real thresholds from gpt-oss-120b on MuSiQue: the green one loses half a point and gets rich fast, the blue one loses 2 points and passes more slowly, the red one loses 6 points, more than the 5 allowed, and goes broke. The bet size is set from the earlier tasks only, never from the task being revealed.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threshold is actually unsafe,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an unsafe threshold passes at most 5 percent of the time. Twenty is just one over five percent. Stopping as soon as he reaches 20 is covered too: freeze the money there and the same argument holds. How do we get from one test to a threshold we can use? We test the thresholds in a fixed order, strict to loose, and stop at the first failure. Every threshold before that failure is certified. An unsafe threshold can only end up certified if the first unsafe threshold in the order passed its own test, and that happens at most 5 percent of the time. So with one 5 percent budget, every certified threshold is safe with probability at least 95 percent, and we deploy the cheapest of them. We do not need to split the 5 percent across thresholds. We check two families of rules, each at 5 percent, so 90 percent overall. A pass means we accept the threshold and are wrong at most 5 percent of the time, like a driving test: passing gets you a licence, it does not prove you can drive.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we read a pass? A bad rule reaches 20 dollars at most 5 percent of the time. So we agree: reach 20, and we accept the rule. That decision is wrong at most 5 percent of the time. Two readings are wrong. A pass does not prove the rule is good: a bad rule stays bad, we were just unlucky. And it does not mean 5 percent of passed rules are bad. It is like a driving test: if bad drivers pass at most 5 percent of the time, passing gets you a licence, it does not prove you can drive. We run two such tests, one per family, each at 5 percent, so the promise holds with 90 percent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this is how CLIMB sets the threshold. Each dot is one candidate threshold. On the left, a strict threshold: almost every task goes to the team. Moving right, the threshold gets looser, more tasks stop early, cheaper but riskier. We run the betting test on each, from strict to loose, and stop at the first failure. The threshold we deploy is the loosest one that passed, the star, at 57 percent of the team's tokens. Nobody picked it by hand: it comes from your tolerance and your data. On another model or task, the same steps give a different threshold. Stopping at the first failure means testing many thresholds adds no extra risk: to pass an unsafe one, the first unsafe one in the line would have to pass, and that happens at most 5 percent of the time.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detail of the bet. Skipping the team is not only a risk: sometimes the cheap answer is right and the team would have broken it. Usual tests count only the losses. Our bet also pays out on saved answers, so they offset lost ones. On the chart, every test is valid, but they certify very different savings: a worst-case bound certifies nothing, ignoring saved answers keeps 79 percent of tokens, CLIMB's bet 62.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3 models and 4 benchmarks: math, two open-book question answering sets and hard reasoning. We record every task once, then replay 200 random splits, half to calibrate, half to test. Left: the share of splits where CLIMB lost more than its tolerance. The guarantee allows 10 percent, we see at most 2. Right: the share of the team's tokens CLIMB uses. It saves 38 percent at a 5 point tolerance and 65 percent at 10. Savings are smallest on Gemma, where confidence points the wrong way, and the promise still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slide. Agent teams are more accurate, but they cost several times the tokens and sometimes break right answers. CLIMB tries cheap answers first and calls the team only when a cheap answer looks unreliable. You set how much accuracy you can lose, and the data sets the threshold: a betting test on a few hundred labelled tasks certifies the cheapest threshold that keeps this promise, with 90 percent probability. Across three models and four benchmarks it saves 38 to 65 percent of tokens, and the promise broke in at most 2 percent of splits. For Amex, it can sit in front of any multi-agent workflow.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step two, the threshold. Once we have a score, where do we set the line? Two shortcuts come to mind, and both break the promise. Left: fix one confidence threshold for every setting, chosen so its average cost matches CLIMB. It is fine on most settings, but loses 8 to 16 points on four of them. A threshold that is safe on all four gpt-oss-20b benchmarks loses up to 16 points on the other two models. The right threshold depends on the model and the task. Right: tune the threshold on each setting's own data, picking the cheapest one whose loss on the sample is within 5 points. A threshold tuned to the edge on one sample tends to cross it on the next: it breaks the promise on 31 percent of splits. So we need a threshold set from each setting's data, with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betting test? We need a test that, on a few hundred labelled tasks, accepts an unsafe threshold at most 5 percent of the time. Three things make this hard here. First, the loss is signed: a cheap answer can lose a right answer, but it can also save one the team breaks, and teams break up to 9 percent. Classic bounds such as Hoeffding have to cover the whole range from minus one to one and certify nothing. Ignoring the saves throws that credit away. Second, most tasks have loss zero, so the loss varies little. A good test should use that. Third, we test many thresholds, and splitting the 5 percent among them would make each test much stricter. The betting test handles all three. It bets on the signed loss, its bet size adapts to the variance it has seen, and in a strict-to-loose sequence each test can use the full 5 percent. The guarantee needs no model of the data, only that calibration tasks look like deployment tasks. On the chart, every test is valid, but CLIMB's test certifies a threshold at 62 percent of the team's tokens, against 79 to 100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exactly what CLIMB does for one threshold. Take the calibration tasks in random order and start with one dollar. For each task, the threshold either stops early and keeps the cheap answer, or escalates and uses the team's answer. The loss is the team's correctness minus ours: plus one if we lost a right answer, minus one if we saved one, zero otherwise. An escalated task always has loss zero. The bet size is set from the earlier tasks only, never from the current one, and is capped so one loss at most halves the money. Multiply the money by one plus bet size times tolerance minus loss. In the example, with bet size 0.5 and a 5 point tolerance, task 3 loses a right answer and the money halves, task 4 saves one and it grows by half. If the money ever reaches 20 dollars, the threshold is certified and we move to the next, looser one. If it never does, we stop: no looser threshold is deployed. We run this for options A and B, each at 5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the rule a threshold, and not something more complex? Think of it as packing a bag. Stopping a task early saves the team's tokens on it, but risks the accuracy the team would have added, its gain. You can afford a total risk of epsilon. To save the most tokens, you stop first the tasks with the least gain per token saved, exactly like a knapsack. Now, if the gain falls as confidence rises, those are the most confident tasks. So the best rule stops every task above some confidence, and escalates the rest: a threshold. The paper proves this as a proposition. Does the gain fall with confidence? On the right, the gain from calling the team in each fifth of tasks, on the nine settings where confidence ranks answers the right way. It falls from 17 points on the least confident fifth to 4 to 6 on the confident ones, and it falls on eight of the nine. On Gemma's three backwards settings it does not, and there the guarantee still holds, the savings come from agreement. So theory gives the form of the rule. What it cannot give is where the line goes: that depends on the unknown gain, and the data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CLIMB really stay inside the loss we allowed? Here is the accuracy itself. Left: always calling the team, in orange, against CLIMB at a 5 point tolerance, in green, on each of the 12 settings. The bars are close. Right: how many points CLIMB loses against the team, averaged over 200 random splits. Allowed 5 points, it loses between 1.1 and 2.8. Allowed 10, between 1.8 and 7.2. Every bar sits below its line. These are averages. Single splits can go above the line, and the previous slide counted how often: at most 2 percent of splits, against the 10 percent the guarantee allows.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4" name="TextBox 3"/>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5" name="Rounded Rectangle 4"/>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6" name="Right Arrow 5"/>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8" name="Right Arrow 7"/>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0" name="TextBox 9"/>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1" name="Rounded Rectangle 10"/>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2" name="Right Arrow 11"/>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4" name="Right Arrow 13"/>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6" name="Right Arrow 15"/>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8" name="Right Arrow 17"/>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0" name="Left Arrow 19"/>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
        <p:nvSpPr>
          <p:cNvPr id="22" name="Rounded Rectangle 21"/>
          <p:cNvSpPr/>
          <p:nvPr/>
        </p:nvSpPr>
        <p:spPr>
          <a:xfrm>
            <a:off x="8445500" y="16510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 Best on 12 / 12 settings.</a:t>
            </a:r>
          </a:p>
        </p:txBody>
      </p:sp>
      <p:sp>
        <p:nvSpPr>
          <p:cNvPr id="23" name="TextBox 2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4" name="Picture 3" descr="c_accuracy.png"/>
          <p:cNvPicPr>
            <a:picLocks noChangeAspect="1"/>
          </p:cNvPicPr>
          <p:nvPr/>
        </p:nvPicPr>
        <p:blipFill>
          <a:blip r:embed="rId3"/>
          <a:stretch>
            <a:fillRect/>
          </a:stretch>
        </p:blipFill>
        <p:spPr>
          <a:xfrm>
            <a:off x="812800" y="1922942"/>
            <a:ext cx="7302500" cy="3901114"/>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6" name="Rounded Rectangle 5"/>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4" name="TextBox 3"/>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5" name="Picture 4" descr="c_cost_n.png"/>
          <p:cNvPicPr>
            <a:picLocks noChangeAspect="1"/>
          </p:cNvPicPr>
          <p:nvPr/>
        </p:nvPicPr>
        <p:blipFill>
          <a:blip r:embed="rId3"/>
          <a:stretch>
            <a:fillRect/>
          </a:stretch>
        </p:blipFill>
        <p:spPr>
          <a:xfrm>
            <a:off x="925882" y="2159000"/>
            <a:ext cx="4853835" cy="3937000"/>
          </a:xfrm>
          <a:prstGeom prst="rect">
            <a:avLst/>
          </a:prstGeom>
        </p:spPr>
      </p:pic>
      <p:sp>
        <p:nvSpPr>
          <p:cNvPr id="6" name="TextBox 5"/>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7" name="Picture 6" descr="c_flows_n.png"/>
          <p:cNvPicPr>
            <a:picLocks noChangeAspect="1"/>
          </p:cNvPicPr>
          <p:nvPr/>
        </p:nvPicPr>
        <p:blipFill>
          <a:blip r:embed="rId4"/>
          <a:stretch>
            <a:fillRect/>
          </a:stretch>
        </p:blipFill>
        <p:spPr>
          <a:xfrm>
            <a:off x="6299200" y="2168345"/>
            <a:ext cx="5080000" cy="3918309"/>
          </a:xfrm>
          <a:prstGeom prst="rect">
            <a:avLst/>
          </a:prstGeom>
        </p:spPr>
      </p:pic>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4" name="Rounded Rectangle 3"/>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5" name="Right Arrow 4"/>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7" name="Right Arrow 6"/>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9" name="Right Arrow 8"/>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1" name="Rounded Rectangle 10"/>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2" name="Rounded Rectangle 11"/>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
        <p:nvSpPr>
          <p:cNvPr id="13" name="TextBox 1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4" name="Rounded Rectangle 3"/>
          <p:cNvSpPr/>
          <p:nvPr/>
        </p:nvSpPr>
        <p:spPr>
          <a:xfrm>
            <a:off x="812800" y="1619250"/>
            <a:ext cx="105664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Stop if score &gt; threshold.  The key question: which threshold?</a:t>
            </a:r>
          </a:p>
        </p:txBody>
      </p:sp>
      <p:sp>
        <p:nvSpPr>
          <p:cNvPr id="5" name="Rectangle 4"/>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7" name="Right Arrow 6"/>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0" name="Right Arrow 9"/>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4" name="Rounded Rectangle 3"/>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5" name="Rounded Rectangle 4"/>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6" name="Rounded Rectangle 5"/>
          <p:cNvSpPr/>
          <p:nvPr/>
        </p:nvSpPr>
        <p:spPr>
          <a:xfrm>
            <a:off x="6223000" y="1841500"/>
            <a:ext cx="2451100" cy="3429000"/>
          </a:xfrm>
          <a:prstGeom prst="roundRect">
            <a:avLst>
              <a:gd name="adj" fmla="val 4663"/>
            </a:avLst>
          </a:prstGeom>
          <a:solidFill>
            <a:srgbClr val="DDEDFB"/>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betting test: the core</a:t>
            </a:r>
          </a:p>
        </p:txBody>
      </p:sp>
      <p:sp>
        <p:nvSpPr>
          <p:cNvPr id="7" name="Rounded Rectangle 6"/>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8" name="TextBox 7"/>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5" name="Rounded Rectangle 4"/>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7" name="TextBox 6"/>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8" name="Rounded Rectangle 7"/>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0" name="TextBox 9"/>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1" name="TextBox 10"/>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2" name="TextBox 11"/>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3" name="Rectangle 12"/>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5" name="TextBox 14"/>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6" name="TextBox 15"/>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7" name="Rectangle 16"/>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19" name="TextBox 18"/>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0" name="Rectangle 19"/>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2" name="TextBox 21"/>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3" name="Rectangle 22"/>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5" name="TextBox 24"/>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6" name="TextBox 25"/>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7" name="TextBox 26"/>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8" name="TextBox 27"/>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29" name="Rounded Rectangle 28"/>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0" name="Rounded Rectangle 29"/>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TextBox 30"/>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2" name="Rounded Rectangle 31"/>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3" name="Rounded Rectangle 32"/>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4" name="TextBox 33"/>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5" name="TextBox 34"/>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6" name="TextBox 35"/>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
        <p:nvSpPr>
          <p:cNvPr id="37" name="TextBox 3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5" name="Picture 4"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6" name="TextBox 5"/>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7" name="Picture 6"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8" name="TextBox 7"/>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9" name="TextBox 8"/>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0" name="TextBox 9"/>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1" name="Rounded Rectangle 10"/>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2" name="Rounded Rectangle 11"/>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3" name="Rounded Rectangle 12"/>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RULE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4" name="Picture 3" descr="c_maxloss.png"/>
          <p:cNvPicPr>
            <a:picLocks noChangeAspect="1"/>
          </p:cNvPicPr>
          <p:nvPr/>
        </p:nvPicPr>
        <p:blipFill>
          <a:blip r:embed="rId3"/>
          <a:stretch>
            <a:fillRect/>
          </a:stretch>
        </p:blipFill>
        <p:spPr>
          <a:xfrm>
            <a:off x="812800" y="2379642"/>
            <a:ext cx="7302500" cy="29877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6" name="TextBox 5"/>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 calibrate, then test</a:t>
            </a:r>
          </a:p>
        </p:txBody>
      </p:sp>
      <p:sp>
        <p:nvSpPr>
          <p:cNvPr id="4" name="TextBox 3"/>
          <p:cNvSpPr txBox="1"/>
          <p:nvPr/>
        </p:nvSpPr>
        <p:spPr>
          <a:xfrm>
            <a:off x="812800" y="14351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You pick only ε, e.g. “lose at most 5 points”.  The data picks the threshold.</a:t>
            </a:r>
          </a:p>
        </p:txBody>
      </p:sp>
      <p:sp>
        <p:nvSpPr>
          <p:cNvPr id="5" name="Rounded Rectangle 4"/>
          <p:cNvSpPr/>
          <p:nvPr/>
        </p:nvSpPr>
        <p:spPr>
          <a:xfrm>
            <a:off x="812800" y="1968500"/>
            <a:ext cx="1524000" cy="3619500"/>
          </a:xfrm>
          <a:prstGeom prst="roundRect">
            <a:avLst>
              <a:gd name="adj" fmla="val 7500"/>
            </a:avLst>
          </a:prstGeom>
          <a:solidFill>
            <a:srgbClr val="E9EEF5"/>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800"/>
              </a:spcAft>
            </a:pPr>
            <a:r>
              <a:rPr sz="1800" b="1">
                <a:solidFill>
                  <a:srgbClr val="00175A"/>
                </a:solidFill>
                <a:latin typeface="Arial"/>
              </a:rPr>
              <a:t>Labelled tasks</a:t>
            </a:r>
          </a:p>
          <a:p>
            <a:pPr algn="ctr">
              <a:lnSpc>
                <a:spcPct val="115000"/>
              </a:lnSpc>
              <a:spcAft>
                <a:spcPts val="0"/>
              </a:spcAft>
            </a:pPr>
            <a:r>
              <a:rPr sz="1400" b="0">
                <a:solidFill>
                  <a:srgbClr val="6B7480"/>
                </a:solidFill>
                <a:latin typeface="Arial"/>
              </a:rPr>
              <a:t>split in two at random</a:t>
            </a:r>
          </a:p>
        </p:txBody>
      </p:sp>
      <p:sp>
        <p:nvSpPr>
          <p:cNvPr id="6" name="Rounded Rectangle 5"/>
          <p:cNvSpPr/>
          <p:nvPr/>
        </p:nvSpPr>
        <p:spPr>
          <a:xfrm>
            <a:off x="2730500" y="222250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1700" b="1">
                <a:solidFill>
                  <a:srgbClr val="00175A"/>
                </a:solidFill>
                <a:latin typeface="Arial"/>
              </a:rPr>
              <a:t>Calibration half</a:t>
            </a:r>
          </a:p>
        </p:txBody>
      </p:sp>
      <p:sp>
        <p:nvSpPr>
          <p:cNvPr id="7" name="Rounded Rectangle 6"/>
          <p:cNvSpPr/>
          <p:nvPr/>
        </p:nvSpPr>
        <p:spPr>
          <a:xfrm>
            <a:off x="2730500" y="441325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400"/>
              </a:spcAft>
            </a:pPr>
            <a:r>
              <a:rPr sz="1700" b="1">
                <a:solidFill>
                  <a:srgbClr val="00175A"/>
                </a:solidFill>
                <a:latin typeface="Arial"/>
              </a:rPr>
              <a:t>Test half</a:t>
            </a:r>
          </a:p>
          <a:p>
            <a:pPr algn="ctr">
              <a:lnSpc>
                <a:spcPct val="115000"/>
              </a:lnSpc>
              <a:spcAft>
                <a:spcPts val="0"/>
              </a:spcAft>
            </a:pPr>
            <a:r>
              <a:rPr sz="1300" b="0">
                <a:solidFill>
                  <a:srgbClr val="6B7480"/>
                </a:solidFill>
                <a:latin typeface="Arial"/>
              </a:rPr>
              <a:t>unseen in calibration</a:t>
            </a:r>
          </a:p>
        </p:txBody>
      </p:sp>
      <p:sp>
        <p:nvSpPr>
          <p:cNvPr id="8" name="Right Arrow 7"/>
          <p:cNvSpPr/>
          <p:nvPr/>
        </p:nvSpPr>
        <p:spPr>
          <a:xfrm>
            <a:off x="23876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2387600" y="482600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3688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11700" y="1968500"/>
            <a:ext cx="3556000" cy="1587500"/>
          </a:xfrm>
          <a:prstGeom prst="roundRect">
            <a:avLst>
              <a:gd name="adj" fmla="val 7199"/>
            </a:avLst>
          </a:prstGeom>
          <a:solidFill>
            <a:srgbClr val="00175A"/>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8700" y="2070100"/>
            <a:ext cx="3302000" cy="228600"/>
          </a:xfrm>
          <a:prstGeom prst="rect">
            <a:avLst/>
          </a:prstGeom>
          <a:noFill/>
        </p:spPr>
        <p:txBody>
          <a:bodyPr wrap="square" lIns="0" rIns="0" tIns="0" bIns="0" anchor="t">
            <a:spAutoFit/>
          </a:bodyPr>
          <a:lstStyle/>
          <a:p>
            <a:pPr algn="ctr">
              <a:lnSpc>
                <a:spcPct val="115000"/>
              </a:lnSpc>
              <a:spcAft>
                <a:spcPts val="0"/>
              </a:spcAft>
            </a:pPr>
            <a:r>
              <a:rPr sz="1700" b="1">
                <a:solidFill>
                  <a:srgbClr val="F6F8FB"/>
                </a:solidFill>
                <a:latin typeface="Arial"/>
              </a:rPr>
              <a:t>Betting test on each threshold</a:t>
            </a:r>
          </a:p>
        </p:txBody>
      </p:sp>
      <p:sp>
        <p:nvSpPr>
          <p:cNvPr id="13" name="Rounded Rectangle 12"/>
          <p:cNvSpPr/>
          <p:nvPr/>
        </p:nvSpPr>
        <p:spPr>
          <a:xfrm>
            <a:off x="50927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4" name="Rounded Rectangle 13"/>
          <p:cNvSpPr/>
          <p:nvPr/>
        </p:nvSpPr>
        <p:spPr>
          <a:xfrm>
            <a:off x="56769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5" name="Rounded Rectangle 14"/>
          <p:cNvSpPr/>
          <p:nvPr/>
        </p:nvSpPr>
        <p:spPr>
          <a:xfrm>
            <a:off x="62611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6" name="Rounded Rectangle 15"/>
          <p:cNvSpPr/>
          <p:nvPr/>
        </p:nvSpPr>
        <p:spPr>
          <a:xfrm>
            <a:off x="6845300" y="2425700"/>
            <a:ext cx="482600" cy="482600"/>
          </a:xfrm>
          <a:prstGeom prst="roundRect">
            <a:avLst>
              <a:gd name="adj" fmla="val 10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B03A2E"/>
                </a:solidFill>
                <a:latin typeface="Arial"/>
              </a:rPr>
              <a:t>✗</a:t>
            </a:r>
          </a:p>
        </p:txBody>
      </p:sp>
      <p:sp>
        <p:nvSpPr>
          <p:cNvPr id="17" name="Rounded Rectangle 16"/>
          <p:cNvSpPr/>
          <p:nvPr/>
        </p:nvSpPr>
        <p:spPr>
          <a:xfrm>
            <a:off x="7429500" y="2425700"/>
            <a:ext cx="482600" cy="482600"/>
          </a:xfrm>
          <a:prstGeom prst="roundRect">
            <a:avLst>
              <a:gd name="adj" fmla="val 10000"/>
            </a:avLst>
          </a:prstGeom>
          <a:solidFill>
            <a:srgbClr val="FFFFFF"/>
          </a:solidFill>
          <a:ln w="2540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6B7480"/>
                </a:solidFill>
                <a:latin typeface="Arial"/>
              </a:rPr>
              <a:t>–</a:t>
            </a:r>
          </a:p>
        </p:txBody>
      </p:sp>
      <p:sp>
        <p:nvSpPr>
          <p:cNvPr id="18" name="TextBox 17"/>
          <p:cNvSpPr txBox="1"/>
          <p:nvPr/>
        </p:nvSpPr>
        <p:spPr>
          <a:xfrm>
            <a:off x="4838700" y="3035300"/>
            <a:ext cx="3302000" cy="381000"/>
          </a:xfrm>
          <a:prstGeom prst="rect">
            <a:avLst/>
          </a:prstGeom>
          <a:noFill/>
        </p:spPr>
        <p:txBody>
          <a:bodyPr wrap="square" lIns="0" rIns="0" tIns="0" bIns="0" anchor="t">
            <a:spAutoFit/>
          </a:bodyPr>
          <a:lstStyle/>
          <a:p>
            <a:pPr algn="ctr">
              <a:lnSpc>
                <a:spcPct val="115000"/>
              </a:lnSpc>
              <a:spcAft>
                <a:spcPts val="0"/>
              </a:spcAft>
            </a:pPr>
            <a:r>
              <a:rPr sz="1400" b="0">
                <a:solidFill>
                  <a:srgbClr val="C3D3EC"/>
                </a:solidFill>
                <a:latin typeface="Arial"/>
              </a:rPr>
              <a:t>strict → loose, stop at the first failure</a:t>
            </a:r>
          </a:p>
        </p:txBody>
      </p:sp>
      <p:sp>
        <p:nvSpPr>
          <p:cNvPr id="19" name="Right Arrow 18"/>
          <p:cNvSpPr/>
          <p:nvPr/>
        </p:nvSpPr>
        <p:spPr>
          <a:xfrm>
            <a:off x="8318500" y="2635250"/>
            <a:ext cx="3556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24900" y="1968500"/>
            <a:ext cx="2654300" cy="1587500"/>
          </a:xfrm>
          <a:prstGeom prst="roundRect">
            <a:avLst>
              <a:gd name="adj" fmla="val 7199"/>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800"/>
              </a:spcAft>
            </a:pPr>
            <a:r>
              <a:rPr sz="1400" b="0">
                <a:solidFill>
                  <a:srgbClr val="00175A"/>
                </a:solidFill>
                <a:latin typeface="Arial"/>
              </a:rPr>
              <a:t>Certified: before the first failure</a:t>
            </a:r>
          </a:p>
          <a:p>
            <a:pPr algn="ctr">
              <a:lnSpc>
                <a:spcPct val="115000"/>
              </a:lnSpc>
              <a:spcAft>
                <a:spcPts val="800"/>
              </a:spcAft>
            </a:pPr>
            <a:r>
              <a:rPr sz="1700" b="1">
                <a:solidFill>
                  <a:srgbClr val="006FCF"/>
                </a:solidFill>
                <a:latin typeface="Arial"/>
              </a:rPr>
              <a:t>★ Deploy the cheapest</a:t>
            </a:r>
          </a:p>
          <a:p>
            <a:pPr algn="ctr">
              <a:lnSpc>
                <a:spcPct val="115000"/>
              </a:lnSpc>
              <a:spcAft>
                <a:spcPts val="0"/>
              </a:spcAft>
            </a:pPr>
            <a:r>
              <a:rPr sz="1300" b="0">
                <a:solidFill>
                  <a:srgbClr val="6B7480"/>
                </a:solidFill>
                <a:latin typeface="Arial"/>
              </a:rPr>
              <a:t>None passes? Always the team.</a:t>
            </a:r>
          </a:p>
        </p:txBody>
      </p:sp>
      <p:sp>
        <p:nvSpPr>
          <p:cNvPr id="21" name="Down Arrow 20"/>
          <p:cNvSpPr/>
          <p:nvPr/>
        </p:nvSpPr>
        <p:spPr>
          <a:xfrm>
            <a:off x="9893300" y="3619500"/>
            <a:ext cx="317500" cy="635000"/>
          </a:xfrm>
          <a:prstGeom prst="down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4368800" y="4826000"/>
            <a:ext cx="4305300" cy="254000"/>
          </a:xfrm>
          <a:prstGeom prst="rightArrow">
            <a:avLst/>
          </a:prstGeom>
          <a:solidFill>
            <a:srgbClr val="D3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11700" y="4508500"/>
            <a:ext cx="3556000" cy="228600"/>
          </a:xfrm>
          <a:prstGeom prst="rect">
            <a:avLst/>
          </a:prstGeom>
          <a:noFill/>
        </p:spPr>
        <p:txBody>
          <a:bodyPr wrap="square" lIns="0" rIns="0" tIns="0" bIns="0" anchor="t">
            <a:spAutoFit/>
          </a:bodyPr>
          <a:lstStyle/>
          <a:p>
            <a:pPr algn="ctr">
              <a:lnSpc>
                <a:spcPct val="115000"/>
              </a:lnSpc>
              <a:spcAft>
                <a:spcPts val="0"/>
              </a:spcAft>
            </a:pPr>
            <a:r>
              <a:rPr sz="1400" b="0">
                <a:solidFill>
                  <a:srgbClr val="6B7480"/>
                </a:solidFill>
                <a:latin typeface="Arial"/>
              </a:rPr>
              <a:t>apply the ★ threshold to unseen tasks</a:t>
            </a:r>
          </a:p>
        </p:txBody>
      </p:sp>
      <p:sp>
        <p:nvSpPr>
          <p:cNvPr id="24" name="Rounded Rectangle 23"/>
          <p:cNvSpPr/>
          <p:nvPr/>
        </p:nvSpPr>
        <p:spPr>
          <a:xfrm>
            <a:off x="8724900" y="4318000"/>
            <a:ext cx="2654300" cy="1270000"/>
          </a:xfrm>
          <a:prstGeom prst="roundRect">
            <a:avLst>
              <a:gd name="adj" fmla="val 9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600"/>
              </a:spcAft>
            </a:pPr>
            <a:r>
              <a:rPr sz="1900" b="1">
                <a:solidFill>
                  <a:srgbClr val="2F6B34"/>
                </a:solidFill>
                <a:latin typeface="Arial"/>
              </a:rPr>
              <a:t>Check the promise</a:t>
            </a:r>
          </a:p>
          <a:p>
            <a:pPr algn="ctr">
              <a:lnSpc>
                <a:spcPct val="115000"/>
              </a:lnSpc>
              <a:spcAft>
                <a:spcPts val="0"/>
              </a:spcAft>
            </a:pPr>
            <a:r>
              <a:rPr sz="1500" b="0">
                <a:solidFill>
                  <a:srgbClr val="00175A"/>
                </a:solidFill>
                <a:latin typeface="Arial"/>
              </a:rPr>
              <a:t>Loss ≤ ε?  Tokens saved?</a:t>
            </a:r>
          </a:p>
        </p:txBody>
      </p:sp>
      <p:sp>
        <p:nvSpPr>
          <p:cNvPr id="25" name="TextBox 24"/>
          <p:cNvSpPr txBox="1"/>
          <p:nvPr/>
        </p:nvSpPr>
        <p:spPr>
          <a:xfrm>
            <a:off x="812800" y="5810250"/>
            <a:ext cx="10566400" cy="3810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In our experiments: 200 random splits.  In deployment: only the calibration half, the test half is your future tasks.</a:t>
            </a:r>
          </a:p>
        </p:txBody>
      </p:sp>
      <p:sp>
        <p:nvSpPr>
          <p:cNvPr id="26" name="TextBox 2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betting test: start with $1, bet the threshold is safe</a:t>
            </a:r>
          </a:p>
        </p:txBody>
      </p:sp>
      <p:sp>
        <p:nvSpPr>
          <p:cNvPr id="4" name="TextBox 3"/>
          <p:cNvSpPr txBox="1"/>
          <p:nvPr/>
        </p:nvSpPr>
        <p:spPr>
          <a:xfrm>
            <a:off x="812800" y="15875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Reveal the labelled tasks one by one. Each task multiplies the money:</a:t>
            </a:r>
          </a:p>
        </p:txBody>
      </p:sp>
      <p:sp>
        <p:nvSpPr>
          <p:cNvPr id="5" name="Rounded Rectangle 4"/>
          <p:cNvSpPr/>
          <p:nvPr/>
        </p:nvSpPr>
        <p:spPr>
          <a:xfrm>
            <a:off x="812800" y="2032000"/>
            <a:ext cx="3111500" cy="2159000"/>
          </a:xfrm>
          <a:prstGeom prst="roundRect">
            <a:avLst>
              <a:gd name="adj" fmla="val 5294"/>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wrong, team right</a:t>
            </a:r>
          </a:p>
          <a:p>
            <a:pPr algn="ctr">
              <a:lnSpc>
                <a:spcPct val="115000"/>
              </a:lnSpc>
              <a:spcAft>
                <a:spcPts val="800"/>
              </a:spcAft>
            </a:pPr>
            <a:r>
              <a:rPr sz="4400" b="1">
                <a:solidFill>
                  <a:srgbClr val="B03A2E"/>
                </a:solidFill>
                <a:latin typeface="Georgia"/>
              </a:rPr>
              <a:t>× 0.53</a:t>
            </a:r>
          </a:p>
          <a:p>
            <a:pPr algn="ctr">
              <a:lnSpc>
                <a:spcPct val="115000"/>
              </a:lnSpc>
              <a:spcAft>
                <a:spcPts val="0"/>
              </a:spcAft>
            </a:pPr>
            <a:r>
              <a:rPr sz="2000" b="1">
                <a:solidFill>
                  <a:srgbClr val="B03A2E"/>
                </a:solidFill>
                <a:latin typeface="Arial"/>
              </a:rPr>
              <a:t>lose a lot</a:t>
            </a:r>
          </a:p>
        </p:txBody>
      </p:sp>
      <p:sp>
        <p:nvSpPr>
          <p:cNvPr id="6" name="Rounded Rectangle 5"/>
          <p:cNvSpPr/>
          <p:nvPr/>
        </p:nvSpPr>
        <p:spPr>
          <a:xfrm>
            <a:off x="4464050" y="2032000"/>
            <a:ext cx="3111500" cy="2159000"/>
          </a:xfrm>
          <a:prstGeom prst="roundRect">
            <a:avLst>
              <a:gd name="adj" fmla="val 5294"/>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Same result</a:t>
            </a:r>
          </a:p>
          <a:p>
            <a:pPr algn="ctr">
              <a:lnSpc>
                <a:spcPct val="115000"/>
              </a:lnSpc>
              <a:spcAft>
                <a:spcPts val="800"/>
              </a:spcAft>
            </a:pPr>
            <a:r>
              <a:rPr sz="4400" b="1">
                <a:solidFill>
                  <a:srgbClr val="00175A"/>
                </a:solidFill>
                <a:latin typeface="Georgia"/>
              </a:rPr>
              <a:t>× 1.03</a:t>
            </a:r>
          </a:p>
          <a:p>
            <a:pPr algn="ctr">
              <a:lnSpc>
                <a:spcPct val="115000"/>
              </a:lnSpc>
              <a:spcAft>
                <a:spcPts val="0"/>
              </a:spcAft>
            </a:pPr>
            <a:r>
              <a:rPr sz="2000" b="1">
                <a:solidFill>
                  <a:srgbClr val="00175A"/>
                </a:solidFill>
                <a:latin typeface="Arial"/>
              </a:rPr>
              <a:t>win a little (most tasks)</a:t>
            </a:r>
          </a:p>
        </p:txBody>
      </p:sp>
      <p:sp>
        <p:nvSpPr>
          <p:cNvPr id="7" name="Rounded Rectangle 6"/>
          <p:cNvSpPr/>
          <p:nvPr/>
        </p:nvSpPr>
        <p:spPr>
          <a:xfrm>
            <a:off x="8115300" y="2032000"/>
            <a:ext cx="3111500" cy="2159000"/>
          </a:xfrm>
          <a:prstGeom prst="roundRect">
            <a:avLst>
              <a:gd name="adj" fmla="val 5294"/>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right, team wrong</a:t>
            </a:r>
          </a:p>
          <a:p>
            <a:pPr algn="ctr">
              <a:lnSpc>
                <a:spcPct val="115000"/>
              </a:lnSpc>
              <a:spcAft>
                <a:spcPts val="800"/>
              </a:spcAft>
            </a:pPr>
            <a:r>
              <a:rPr sz="4400" b="1">
                <a:solidFill>
                  <a:srgbClr val="2F6B34"/>
                </a:solidFill>
                <a:latin typeface="Georgia"/>
              </a:rPr>
              <a:t>× 1.53</a:t>
            </a:r>
          </a:p>
          <a:p>
            <a:pPr algn="ctr">
              <a:lnSpc>
                <a:spcPct val="115000"/>
              </a:lnSpc>
              <a:spcAft>
                <a:spcPts val="0"/>
              </a:spcAft>
            </a:pPr>
            <a:r>
              <a:rPr sz="2000" b="1">
                <a:solidFill>
                  <a:srgbClr val="2F6B34"/>
                </a:solidFill>
                <a:latin typeface="Arial"/>
              </a:rPr>
              <a:t>win a lot</a:t>
            </a:r>
          </a:p>
        </p:txBody>
      </p:sp>
      <p:sp>
        <p:nvSpPr>
          <p:cNvPr id="8" name="Rounded Rectangle 7"/>
          <p:cNvSpPr/>
          <p:nvPr/>
        </p:nvSpPr>
        <p:spPr>
          <a:xfrm>
            <a:off x="812800" y="44450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0"/>
              </a:spcAft>
            </a:pPr>
            <a:r>
              <a:rPr sz="2400" b="1">
                <a:solidFill>
                  <a:srgbClr val="F6F8FB"/>
                </a:solidFill>
                <a:latin typeface="Georgia"/>
              </a:rPr>
              <a:t>Money ever reaches $20  →  pass.     Never reaches it  →  fail.</a:t>
            </a:r>
          </a:p>
        </p:txBody>
      </p:sp>
      <p:sp>
        <p:nvSpPr>
          <p:cNvPr id="9" name="TextBox 8"/>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Multiplier = 1 + λ (ε − loss), loss = 1, 0 or −1. Shown for ε = 5 points and bet size λ = 0.5.</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Safe thresholds get rich, unsafe ones go broke</a:t>
            </a:r>
          </a:p>
        </p:txBody>
      </p:sp>
      <p:pic>
        <p:nvPicPr>
          <p:cNvPr id="4" name="Picture 3" descr="c_wealth.png"/>
          <p:cNvPicPr>
            <a:picLocks noChangeAspect="1"/>
          </p:cNvPicPr>
          <p:nvPr/>
        </p:nvPicPr>
        <p:blipFill>
          <a:blip r:embed="rId3"/>
          <a:stretch>
            <a:fillRect/>
          </a:stretch>
        </p:blipFill>
        <p:spPr>
          <a:xfrm>
            <a:off x="812800" y="1915559"/>
            <a:ext cx="6985000" cy="3788881"/>
          </a:xfrm>
          <a:prstGeom prst="rect">
            <a:avLst/>
          </a:prstGeom>
        </p:spPr>
      </p:pic>
      <p:sp>
        <p:nvSpPr>
          <p:cNvPr id="5" name="Rounded Rectangle 4"/>
          <p:cNvSpPr/>
          <p:nvPr/>
        </p:nvSpPr>
        <p:spPr>
          <a:xfrm>
            <a:off x="8191500" y="1651000"/>
            <a:ext cx="3187700" cy="1397000"/>
          </a:xfrm>
          <a:prstGeom prst="roundRect">
            <a:avLst>
              <a:gd name="adj" fmla="val 8181"/>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400"/>
              </a:spcAft>
            </a:pPr>
            <a:r>
              <a:rPr sz="1800" b="1">
                <a:solidFill>
                  <a:srgbClr val="66B2F0"/>
                </a:solidFill>
                <a:latin typeface="Arial"/>
              </a:rPr>
              <a:t>Average multiplier</a:t>
            </a:r>
          </a:p>
          <a:p>
            <a:pPr algn="ctr">
              <a:lnSpc>
                <a:spcPct val="115000"/>
              </a:lnSpc>
              <a:spcAft>
                <a:spcPts val="400"/>
              </a:spcAft>
            </a:pPr>
            <a:r>
              <a:rPr sz="3000" b="1">
                <a:solidFill>
                  <a:srgbClr val="F6F8FB"/>
                </a:solidFill>
                <a:latin typeface="Georgia"/>
              </a:rPr>
              <a:t>1 + λ (ε − μ)</a:t>
            </a:r>
          </a:p>
          <a:p>
            <a:pPr algn="ctr">
              <a:lnSpc>
                <a:spcPct val="115000"/>
              </a:lnSpc>
              <a:spcAft>
                <a:spcPts val="0"/>
              </a:spcAft>
            </a:pPr>
            <a:r>
              <a:rPr sz="1500" b="0">
                <a:solidFill>
                  <a:srgbClr val="C3D3EC"/>
                </a:solidFill>
                <a:latin typeface="Arial"/>
              </a:rPr>
              <a:t>μ: the threshold’s true average loss</a:t>
            </a:r>
          </a:p>
        </p:txBody>
      </p:sp>
      <p:sp>
        <p:nvSpPr>
          <p:cNvPr id="6" name="Rounded Rectangle 5"/>
          <p:cNvSpPr/>
          <p:nvPr/>
        </p:nvSpPr>
        <p:spPr>
          <a:xfrm>
            <a:off x="8191500" y="3175000"/>
            <a:ext cx="3187700" cy="1270000"/>
          </a:xfrm>
          <a:prstGeom prst="roundRect">
            <a:avLst>
              <a:gd name="adj" fmla="val 9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2F6B34"/>
                </a:solidFill>
                <a:latin typeface="Arial"/>
              </a:rPr>
              <a:t>Safe: μ &lt; ε</a:t>
            </a:r>
          </a:p>
          <a:p>
            <a:pPr algn="l">
              <a:lnSpc>
                <a:spcPct val="115000"/>
              </a:lnSpc>
              <a:spcAft>
                <a:spcPts val="0"/>
              </a:spcAft>
            </a:pPr>
            <a:r>
              <a:rPr sz="1700" b="0">
                <a:solidFill>
                  <a:srgbClr val="333B47"/>
                </a:solidFill>
                <a:latin typeface="Arial"/>
              </a:rPr>
              <a:t>average &gt; 1: money grows, passes</a:t>
            </a:r>
          </a:p>
        </p:txBody>
      </p:sp>
      <p:sp>
        <p:nvSpPr>
          <p:cNvPr id="7" name="Rounded Rectangle 6"/>
          <p:cNvSpPr/>
          <p:nvPr/>
        </p:nvSpPr>
        <p:spPr>
          <a:xfrm>
            <a:off x="8191500" y="4572000"/>
            <a:ext cx="3187700" cy="1270000"/>
          </a:xfrm>
          <a:prstGeom prst="roundRect">
            <a:avLst>
              <a:gd name="adj" fmla="val 9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B03A2E"/>
                </a:solidFill>
                <a:latin typeface="Arial"/>
              </a:rPr>
              <a:t>Unsafe: μ &gt; ε</a:t>
            </a:r>
          </a:p>
          <a:p>
            <a:pPr algn="l">
              <a:lnSpc>
                <a:spcPct val="115000"/>
              </a:lnSpc>
              <a:spcAft>
                <a:spcPts val="0"/>
              </a:spcAft>
            </a:pPr>
            <a:r>
              <a:rPr sz="1700" b="0">
                <a:solidFill>
                  <a:srgbClr val="333B47"/>
                </a:solidFill>
                <a:latin typeface="Arial"/>
              </a:rPr>
              <a:t>average &lt; 1: money shrinks, fails</a:t>
            </a:r>
          </a:p>
        </p:txBody>
      </p:sp>
      <p:sp>
        <p:nvSpPr>
          <p:cNvPr id="8" name="TextBox 7"/>
          <p:cNvSpPr txBox="1"/>
          <p:nvPr/>
        </p:nvSpPr>
        <p:spPr>
          <a:xfrm>
            <a:off x="8191500" y="5937250"/>
            <a:ext cx="3187700" cy="317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Bet size λ: set from earlier tasks only.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An unsafe threshold rarely gets there</a:t>
            </a:r>
          </a:p>
        </p:txBody>
      </p:sp>
      <p:sp>
        <p:nvSpPr>
          <p:cNvPr id="4" name="Rounded Rectangle 3"/>
          <p:cNvSpPr/>
          <p:nvPr/>
        </p:nvSpPr>
        <p:spPr>
          <a:xfrm>
            <a:off x="812800" y="1651000"/>
            <a:ext cx="3111500" cy="952500"/>
          </a:xfrm>
          <a:prstGeom prst="roundRect">
            <a:avLst>
              <a:gd name="adj" fmla="val 10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600"/>
              </a:spcAft>
            </a:pPr>
            <a:r>
              <a:rPr sz="2400" b="1">
                <a:solidFill>
                  <a:srgbClr val="B03A2E"/>
                </a:solidFill>
                <a:latin typeface="Arial"/>
              </a:rPr>
              <a:t>Unsafe threshold</a:t>
            </a:r>
          </a:p>
          <a:p>
            <a:pPr algn="ctr">
              <a:lnSpc>
                <a:spcPct val="115000"/>
              </a:lnSpc>
              <a:spcAft>
                <a:spcPts val="0"/>
              </a:spcAft>
            </a:pPr>
            <a:r>
              <a:rPr sz="1700" b="0">
                <a:solidFill>
                  <a:srgbClr val="333B47"/>
                </a:solidFill>
                <a:latin typeface="Arial"/>
              </a:rPr>
              <a:t>each bet loses on average</a:t>
            </a:r>
          </a:p>
        </p:txBody>
      </p:sp>
      <p:sp>
        <p:nvSpPr>
          <p:cNvPr id="5" name="Right Arrow 4"/>
          <p:cNvSpPr/>
          <p:nvPr/>
        </p:nvSpPr>
        <p:spPr>
          <a:xfrm>
            <a:off x="3987800" y="196850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64050" y="1651000"/>
            <a:ext cx="3111500" cy="952500"/>
          </a:xfrm>
          <a:prstGeom prst="roundRect">
            <a:avLst>
              <a:gd name="adj" fmla="val 10000"/>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600"/>
              </a:spcAft>
            </a:pPr>
            <a:r>
              <a:rPr sz="2400" b="1">
                <a:solidFill>
                  <a:srgbClr val="00175A"/>
                </a:solidFill>
                <a:latin typeface="Arial"/>
              </a:rPr>
              <a:t>Average ≤ $1</a:t>
            </a:r>
          </a:p>
          <a:p>
            <a:pPr algn="ctr">
              <a:lnSpc>
                <a:spcPct val="115000"/>
              </a:lnSpc>
              <a:spcAft>
                <a:spcPts val="0"/>
              </a:spcAft>
            </a:pPr>
            <a:r>
              <a:rPr sz="1700" b="0">
                <a:solidFill>
                  <a:srgbClr val="333B47"/>
                </a:solidFill>
                <a:latin typeface="Arial"/>
              </a:rPr>
              <a:t>never grows on average</a:t>
            </a:r>
          </a:p>
        </p:txBody>
      </p:sp>
      <p:sp>
        <p:nvSpPr>
          <p:cNvPr id="7" name="Right Arrow 6"/>
          <p:cNvSpPr/>
          <p:nvPr/>
        </p:nvSpPr>
        <p:spPr>
          <a:xfrm>
            <a:off x="7639050" y="196850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15300" y="1651000"/>
            <a:ext cx="3111500" cy="952500"/>
          </a:xfrm>
          <a:prstGeom prst="roundRect">
            <a:avLst>
              <a:gd name="adj" fmla="val 10000"/>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600"/>
              </a:spcAft>
            </a:pPr>
            <a:r>
              <a:rPr sz="2400" b="1">
                <a:solidFill>
                  <a:srgbClr val="00175A"/>
                </a:solidFill>
                <a:latin typeface="Arial"/>
              </a:rPr>
              <a:t>Never below $0</a:t>
            </a:r>
          </a:p>
          <a:p>
            <a:pPr algn="ctr">
              <a:lnSpc>
                <a:spcPct val="115000"/>
              </a:lnSpc>
              <a:spcAft>
                <a:spcPts val="0"/>
              </a:spcAft>
            </a:pPr>
            <a:r>
              <a:rPr sz="1700" b="0">
                <a:solidFill>
                  <a:srgbClr val="333B47"/>
                </a:solidFill>
                <a:latin typeface="Arial"/>
              </a:rPr>
              <a:t>a loss at most halves it</a:t>
            </a:r>
          </a:p>
        </p:txBody>
      </p:sp>
      <p:sp>
        <p:nvSpPr>
          <p:cNvPr id="9" name="Rounded Rectangle 8"/>
          <p:cNvSpPr/>
          <p:nvPr/>
        </p:nvSpPr>
        <p:spPr>
          <a:xfrm>
            <a:off x="812800" y="2794000"/>
            <a:ext cx="10566400" cy="952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600"/>
              </a:spcAft>
            </a:pPr>
            <a:r>
              <a:rPr sz="3000" b="1">
                <a:solidFill>
                  <a:srgbClr val="F6F8FB"/>
                </a:solidFill>
                <a:latin typeface="Georgia"/>
              </a:rPr>
              <a:t>1  ≥  average wealth  ≥  20 × P(reach $20)</a:t>
            </a:r>
          </a:p>
          <a:p>
            <a:pPr algn="ctr">
              <a:lnSpc>
                <a:spcPct val="115000"/>
              </a:lnSpc>
              <a:spcAft>
                <a:spcPts val="0"/>
              </a:spcAft>
            </a:pPr>
            <a:r>
              <a:rPr sz="2400" b="1">
                <a:solidFill>
                  <a:srgbClr val="F6F8FB"/>
                </a:solidFill>
                <a:latin typeface="Arial"/>
              </a:rPr>
              <a:t>so  </a:t>
            </a:r>
            <a:r>
              <a:rPr sz="2400" b="1">
                <a:solidFill>
                  <a:srgbClr val="66B2F0"/>
                </a:solidFill>
                <a:latin typeface="Arial"/>
              </a:rPr>
              <a:t>P(an unsafe threshold passes)  ≤  1/20  =  5%</a:t>
            </a:r>
          </a:p>
        </p:txBody>
      </p:sp>
      <p:sp>
        <p:nvSpPr>
          <p:cNvPr id="10" name="TextBox 9"/>
          <p:cNvSpPr txBox="1"/>
          <p:nvPr/>
        </p:nvSpPr>
        <p:spPr>
          <a:xfrm>
            <a:off x="812800" y="3886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6FCF"/>
                </a:solidFill>
                <a:latin typeface="Arial"/>
              </a:rPr>
              <a:t>From one test to a threshold we can deploy</a:t>
            </a:r>
          </a:p>
        </p:txBody>
      </p:sp>
      <p:sp>
        <p:nvSpPr>
          <p:cNvPr id="11" name="Rounded Rectangle 10"/>
          <p:cNvSpPr/>
          <p:nvPr/>
        </p:nvSpPr>
        <p:spPr>
          <a:xfrm>
            <a:off x="812800" y="4254500"/>
            <a:ext cx="3111500" cy="1841500"/>
          </a:xfrm>
          <a:prstGeom prst="roundRect">
            <a:avLst>
              <a:gd name="adj" fmla="val 6206"/>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2400" b="1">
                <a:solidFill>
                  <a:srgbClr val="00175A"/>
                </a:solidFill>
                <a:latin typeface="Arial"/>
              </a:rPr>
              <a:t>One threshold</a:t>
            </a:r>
          </a:p>
          <a:p>
            <a:pPr algn="ctr">
              <a:lnSpc>
                <a:spcPct val="115000"/>
              </a:lnSpc>
              <a:spcAft>
                <a:spcPts val="0"/>
              </a:spcAft>
            </a:pPr>
            <a:r>
              <a:rPr sz="1800" b="0">
                <a:solidFill>
                  <a:srgbClr val="333B47"/>
                </a:solidFill>
                <a:latin typeface="Arial"/>
              </a:rPr>
              <a:t>An unsafe one passes ≤ 5%.</a:t>
            </a:r>
          </a:p>
        </p:txBody>
      </p:sp>
      <p:sp>
        <p:nvSpPr>
          <p:cNvPr id="12" name="Right Arrow 11"/>
          <p:cNvSpPr/>
          <p:nvPr/>
        </p:nvSpPr>
        <p:spPr>
          <a:xfrm>
            <a:off x="3987800" y="501650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64050" y="4254500"/>
            <a:ext cx="3111500" cy="1841500"/>
          </a:xfrm>
          <a:prstGeom prst="roundRect">
            <a:avLst>
              <a:gd name="adj" fmla="val 6206"/>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2400" b="1">
                <a:solidFill>
                  <a:srgbClr val="00175A"/>
                </a:solidFill>
                <a:latin typeface="Arial"/>
              </a:rPr>
              <a:t>Strict → loose</a:t>
            </a:r>
          </a:p>
          <a:p>
            <a:pPr algn="ctr">
              <a:lnSpc>
                <a:spcPct val="115000"/>
              </a:lnSpc>
              <a:spcAft>
                <a:spcPts val="0"/>
              </a:spcAft>
            </a:pPr>
            <a:r>
              <a:rPr sz="1800" b="0">
                <a:solidFill>
                  <a:srgbClr val="333B47"/>
                </a:solidFill>
                <a:latin typeface="Arial"/>
              </a:rPr>
              <a:t>Stop at the first failure.  An unsafe one gets in only if the </a:t>
            </a:r>
            <a:r>
              <a:rPr sz="1800" b="1">
                <a:solidFill>
                  <a:srgbClr val="333B47"/>
                </a:solidFill>
                <a:latin typeface="Arial"/>
              </a:rPr>
              <a:t>first</a:t>
            </a:r>
            <a:r>
              <a:rPr sz="1800" b="0">
                <a:solidFill>
                  <a:srgbClr val="333B47"/>
                </a:solidFill>
                <a:latin typeface="Arial"/>
              </a:rPr>
              <a:t> unsafe one passes: ≤ 5%.</a:t>
            </a:r>
          </a:p>
        </p:txBody>
      </p:sp>
      <p:sp>
        <p:nvSpPr>
          <p:cNvPr id="14" name="Right Arrow 13"/>
          <p:cNvSpPr/>
          <p:nvPr/>
        </p:nvSpPr>
        <p:spPr>
          <a:xfrm>
            <a:off x="7639050" y="501650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15300" y="4254500"/>
            <a:ext cx="3111500" cy="1841500"/>
          </a:xfrm>
          <a:prstGeom prst="roundRect">
            <a:avLst>
              <a:gd name="adj" fmla="val 620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2400" b="1">
                <a:solidFill>
                  <a:srgbClr val="2F6B34"/>
                </a:solidFill>
                <a:latin typeface="Arial"/>
              </a:rPr>
              <a:t>Certified set</a:t>
            </a:r>
          </a:p>
          <a:p>
            <a:pPr algn="ctr">
              <a:lnSpc>
                <a:spcPct val="115000"/>
              </a:lnSpc>
              <a:spcAft>
                <a:spcPts val="0"/>
              </a:spcAft>
            </a:pPr>
            <a:r>
              <a:rPr sz="1800" b="0">
                <a:solidFill>
                  <a:srgbClr val="333B47"/>
                </a:solidFill>
                <a:latin typeface="Arial"/>
              </a:rPr>
              <a:t>All safe with prob. ≥ 95%.  ★ Deploy the cheapest.</a:t>
            </a:r>
          </a:p>
        </p:txBody>
      </p:sp>
      <p:sp>
        <p:nvSpPr>
          <p:cNvPr id="16" name="TextBox 1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a pass means, and what it does not</a:t>
            </a:r>
          </a:p>
        </p:txBody>
      </p:sp>
      <p:sp>
        <p:nvSpPr>
          <p:cNvPr id="4" name="Rounded Rectangle 3"/>
          <p:cNvSpPr/>
          <p:nvPr/>
        </p:nvSpPr>
        <p:spPr>
          <a:xfrm>
            <a:off x="812800" y="1714500"/>
            <a:ext cx="10566400" cy="1079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800"/>
              </a:spcAft>
            </a:pPr>
            <a:r>
              <a:rPr sz="2800" b="1">
                <a:solidFill>
                  <a:srgbClr val="F6F8FB"/>
                </a:solidFill>
                <a:latin typeface="Georgia"/>
              </a:rPr>
              <a:t>A bad rule reaches $20 at most 5% of the time.</a:t>
            </a:r>
          </a:p>
          <a:p>
            <a:pPr algn="ctr">
              <a:lnSpc>
                <a:spcPct val="115000"/>
              </a:lnSpc>
              <a:spcAft>
                <a:spcPts val="0"/>
              </a:spcAft>
            </a:pPr>
            <a:r>
              <a:rPr sz="2200" b="1">
                <a:solidFill>
                  <a:srgbClr val="66B2F0"/>
                </a:solidFill>
                <a:latin typeface="Arial"/>
              </a:rPr>
              <a:t>So: reach $20 → accept the rule.  This is wrong at most 5% of the time.</a:t>
            </a:r>
          </a:p>
        </p:txBody>
      </p:sp>
      <p:sp>
        <p:nvSpPr>
          <p:cNvPr id="5" name="Rounded Rectangle 4"/>
          <p:cNvSpPr/>
          <p:nvPr/>
        </p:nvSpPr>
        <p:spPr>
          <a:xfrm>
            <a:off x="812800" y="3111500"/>
            <a:ext cx="3111500" cy="1460500"/>
          </a:xfrm>
          <a:prstGeom prst="roundRect">
            <a:avLst>
              <a:gd name="adj" fmla="val 782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2F6B34"/>
                </a:solidFill>
                <a:latin typeface="Arial"/>
              </a:rPr>
              <a:t>Right</a:t>
            </a:r>
          </a:p>
          <a:p>
            <a:pPr algn="ctr">
              <a:lnSpc>
                <a:spcPct val="115000"/>
              </a:lnSpc>
              <a:spcAft>
                <a:spcPts val="0"/>
              </a:spcAft>
            </a:pPr>
            <a:r>
              <a:rPr sz="1700" b="0">
                <a:solidFill>
                  <a:srgbClr val="00175A"/>
                </a:solidFill>
                <a:latin typeface="Arial"/>
              </a:rPr>
              <a:t>“We accept it, and are wrong at most 5% of the time.”</a:t>
            </a:r>
          </a:p>
        </p:txBody>
      </p:sp>
      <p:sp>
        <p:nvSpPr>
          <p:cNvPr id="6" name="Rounded Rectangle 5"/>
          <p:cNvSpPr/>
          <p:nvPr/>
        </p:nvSpPr>
        <p:spPr>
          <a:xfrm>
            <a:off x="446405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“Reaching $20 proves the rule is good.”</a:t>
            </a:r>
          </a:p>
        </p:txBody>
      </p:sp>
      <p:sp>
        <p:nvSpPr>
          <p:cNvPr id="7" name="Rounded Rectangle 6"/>
          <p:cNvSpPr/>
          <p:nvPr/>
        </p:nvSpPr>
        <p:spPr>
          <a:xfrm>
            <a:off x="811530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“5% of the rules that pass are bad.”</a:t>
            </a:r>
          </a:p>
        </p:txBody>
      </p:sp>
      <p:sp>
        <p:nvSpPr>
          <p:cNvPr id="8" name="Rounded Rectangle 7"/>
          <p:cNvSpPr/>
          <p:nvPr/>
        </p:nvSpPr>
        <p:spPr>
          <a:xfrm>
            <a:off x="812800" y="4826000"/>
            <a:ext cx="10566400" cy="1270000"/>
          </a:xfrm>
          <a:prstGeom prst="roundRect">
            <a:avLst>
              <a:gd name="adj" fmla="val 9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800"/>
              </a:spcAft>
            </a:pPr>
            <a:r>
              <a:rPr sz="1900" b="1">
                <a:solidFill>
                  <a:srgbClr val="00175A"/>
                </a:solidFill>
                <a:latin typeface="Arial"/>
              </a:rPr>
              <a:t>Like a driving test.</a:t>
            </a:r>
            <a:r>
              <a:rPr sz="1900" b="0">
                <a:solidFill>
                  <a:srgbClr val="00175A"/>
                </a:solidFill>
                <a:latin typeface="Arial"/>
              </a:rPr>
              <a:t> Bad drivers pass at most 5% of the time. Passing gets you a licence, it does not prove you can drive.</a:t>
            </a:r>
          </a:p>
          <a:p>
            <a:pPr algn="l">
              <a:lnSpc>
                <a:spcPct val="115000"/>
              </a:lnSpc>
              <a:spcAft>
                <a:spcPts val="0"/>
              </a:spcAft>
            </a:pPr>
            <a:r>
              <a:rPr sz="1800" b="0">
                <a:solidFill>
                  <a:srgbClr val="6B7480"/>
                </a:solidFill>
                <a:latin typeface="Arial"/>
              </a:rPr>
              <a:t>Two families, 5% each  →  the promise holds with probability ≥ 90%.</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Putting it together: how CLIMB sets the threshold</a:t>
            </a:r>
          </a:p>
        </p:txBody>
      </p:sp>
      <p:pic>
        <p:nvPicPr>
          <p:cNvPr id="4" name="Picture 3" descr="c_sweep.png"/>
          <p:cNvPicPr>
            <a:picLocks noChangeAspect="1"/>
          </p:cNvPicPr>
          <p:nvPr/>
        </p:nvPicPr>
        <p:blipFill>
          <a:blip r:embed="rId3"/>
          <a:stretch>
            <a:fillRect/>
          </a:stretch>
        </p:blipFill>
        <p:spPr>
          <a:xfrm>
            <a:off x="2179492" y="1587500"/>
            <a:ext cx="7833014" cy="4445000"/>
          </a:xfrm>
          <a:prstGeom prst="rect">
            <a:avLst/>
          </a:prstGeom>
        </p:spPr>
      </p:pic>
      <p:sp>
        <p:nvSpPr>
          <p:cNvPr id="5" name="TextBox 4"/>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threshold on the direct answer’s confidence, one calibration half. Two-rung thresholds are tested the same way, the cheaper is kept.</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bet on saved answers too? It saves more</a:t>
            </a:r>
          </a:p>
        </p:txBody>
      </p:sp>
      <p:pic>
        <p:nvPicPr>
          <p:cNvPr id="4" name="Picture 3" descr="c_tests.png"/>
          <p:cNvPicPr>
            <a:picLocks noChangeAspect="1"/>
          </p:cNvPicPr>
          <p:nvPr/>
        </p:nvPicPr>
        <p:blipFill>
          <a:blip r:embed="rId3"/>
          <a:stretch>
            <a:fillRect/>
          </a:stretch>
        </p:blipFill>
        <p:spPr>
          <a:xfrm>
            <a:off x="812800" y="2378610"/>
            <a:ext cx="7302500" cy="2608779"/>
          </a:xfrm>
          <a:prstGeom prst="rect">
            <a:avLst/>
          </a:prstGeom>
        </p:spPr>
      </p:pic>
      <p:sp>
        <p:nvSpPr>
          <p:cNvPr id="5" name="Rounded Rectangle 4"/>
          <p:cNvSpPr/>
          <p:nvPr/>
        </p:nvSpPr>
        <p:spPr>
          <a:xfrm>
            <a:off x="8445500" y="1905000"/>
            <a:ext cx="2933700" cy="1778000"/>
          </a:xfrm>
          <a:prstGeom prst="roundRect">
            <a:avLst>
              <a:gd name="adj" fmla="val 6428"/>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33B47"/>
                </a:solidFill>
                <a:latin typeface="Arial"/>
              </a:rPr>
              <a:t>of the team’s tokens when saves count. Losses only: 79%.</a:t>
            </a:r>
          </a:p>
        </p:txBody>
      </p:sp>
      <p:sp>
        <p:nvSpPr>
          <p:cNvPr id="6" name="TextBox 5"/>
          <p:cNvSpPr txBox="1"/>
          <p:nvPr/>
        </p:nvSpPr>
        <p:spPr>
          <a:xfrm>
            <a:off x="8445500" y="3937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Teams break right answers on up to 9% of tasks. The bet gives the rule credit for them.</a:t>
            </a:r>
          </a:p>
        </p:txBody>
      </p:sp>
      <p:sp>
        <p:nvSpPr>
          <p:cNvPr id="7" name="TextBox 6"/>
          <p:cNvSpPr txBox="1"/>
          <p:nvPr/>
        </p:nvSpPr>
        <p:spPr>
          <a:xfrm>
            <a:off x="812800" y="5778500"/>
            <a:ext cx="7302500" cy="2540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Tokens each valid test can certify at ε = 5. Lower is better.</a:t>
            </a:r>
          </a:p>
        </p:txBody>
      </p:sp>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DEPTH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4" name="TextBox 3"/>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5" name="Rounded Rectangle 4"/>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6" name="Right Arrow 5"/>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8" name="TextBox 7"/>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9" name="TextBox 8"/>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0" name="Rounded Rectangle 9"/>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1" name="Right Arrow 10"/>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3" name="TextBox 12"/>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4" name="Rounded Rectangle 13"/>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4" name="TextBox 3"/>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5" name="TextBox 4"/>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6" name="TextBox 5"/>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8" name="TextBox 7"/>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9" name="Rounded Rectangle 8"/>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0" name="Rounded Rectangle 9"/>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3" name="TextBox 12"/>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4" name="Rounded Rectangle 13"/>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5" name="Rounded Rectangle 14"/>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8" name="TextBox 17"/>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19" name="Rounded Rectangle 18"/>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0" name="Rounded Rectangle 19"/>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
        <p:nvSpPr>
          <p:cNvPr id="24" name="TextBox 2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4" name="Picture 3" descr="c_viol.png"/>
          <p:cNvPicPr>
            <a:picLocks noChangeAspect="1"/>
          </p:cNvPicPr>
          <p:nvPr/>
        </p:nvPicPr>
        <p:blipFill>
          <a:blip r:embed="rId3"/>
          <a:stretch>
            <a:fillRect/>
          </a:stretch>
        </p:blipFill>
        <p:spPr>
          <a:xfrm>
            <a:off x="812800" y="1999442"/>
            <a:ext cx="7302500" cy="37481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4" name="Picture 3" descr="c_savings.png"/>
          <p:cNvPicPr>
            <a:picLocks noChangeAspect="1"/>
          </p:cNvPicPr>
          <p:nvPr/>
        </p:nvPicPr>
        <p:blipFill>
          <a:blip r:embed="rId3"/>
          <a:stretch>
            <a:fillRect/>
          </a:stretch>
        </p:blipFill>
        <p:spPr>
          <a:xfrm>
            <a:off x="812800" y="1997499"/>
            <a:ext cx="7302500" cy="3752001"/>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6" name="Rounded Rectangle 5"/>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These thresholds keep the promise and save 38–65%</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Splits that broke the promise (%)</a:t>
            </a:r>
          </a:p>
        </p:txBody>
      </p:sp>
      <p:pic>
        <p:nvPicPr>
          <p:cNvPr id="5" name="Picture 4" descr="c_viol.png"/>
          <p:cNvPicPr>
            <a:picLocks noChangeAspect="1"/>
          </p:cNvPicPr>
          <p:nvPr/>
        </p:nvPicPr>
        <p:blipFill>
          <a:blip r:embed="rId3"/>
          <a:stretch>
            <a:fillRect/>
          </a:stretch>
        </p:blipFill>
        <p:spPr>
          <a:xfrm>
            <a:off x="812800" y="1998307"/>
            <a:ext cx="5080000" cy="2607384"/>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Tokens used (% of the team’s)</a:t>
            </a:r>
          </a:p>
        </p:txBody>
      </p:sp>
      <p:pic>
        <p:nvPicPr>
          <p:cNvPr id="7" name="Picture 6" descr="c_savings.png"/>
          <p:cNvPicPr>
            <a:picLocks noChangeAspect="1"/>
          </p:cNvPicPr>
          <p:nvPr/>
        </p:nvPicPr>
        <p:blipFill>
          <a:blip r:embed="rId4"/>
          <a:stretch>
            <a:fillRect/>
          </a:stretch>
        </p:blipFill>
        <p:spPr>
          <a:xfrm>
            <a:off x="6299200" y="1996955"/>
            <a:ext cx="5080000" cy="261008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 65% saved</a:t>
            </a:r>
          </a:p>
          <a:p>
            <a:pPr algn="l">
              <a:lnSpc>
                <a:spcPct val="115000"/>
              </a:lnSpc>
              <a:spcAft>
                <a:spcPts val="0"/>
              </a:spcAft>
            </a:pPr>
            <a:r>
              <a:rPr sz="1700" b="0">
                <a:solidFill>
                  <a:srgbClr val="333B47"/>
                </a:solidFill>
                <a:latin typeface="Arial"/>
              </a:rPr>
              <a:t>allowing 5 / 10 points of loss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4" name="Picture 3" descr="c_tuned.png"/>
          <p:cNvPicPr>
            <a:picLocks noChangeAspect="1"/>
          </p:cNvPicPr>
          <p:nvPr/>
        </p:nvPicPr>
        <p:blipFill>
          <a:blip r:embed="rId3"/>
          <a:stretch>
            <a:fillRect/>
          </a:stretch>
        </p:blipFill>
        <p:spPr>
          <a:xfrm>
            <a:off x="812800" y="1721371"/>
            <a:ext cx="7302500" cy="4304257"/>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4" name="Rectangle 3"/>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6" name="Rectangle 5"/>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Data-set threshold</a:t>
            </a:r>
          </a:p>
          <a:p>
            <a:pPr algn="l">
              <a:lnSpc>
                <a:spcPct val="115000"/>
              </a:lnSpc>
              <a:spcAft>
                <a:spcPts val="0"/>
              </a:spcAft>
            </a:pPr>
            <a:r>
              <a:rPr sz="2000" b="0">
                <a:solidFill>
                  <a:srgbClr val="333B47"/>
                </a:solidFill>
                <a:latin typeface="Arial"/>
              </a:rPr>
              <a:t>you set the loss, a betting test finds the cheapest safe threshold.</a:t>
            </a:r>
          </a:p>
        </p:txBody>
      </p:sp>
      <p:sp>
        <p:nvSpPr>
          <p:cNvPr id="8" name="Rectangle 7"/>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0" name="TextBox 9"/>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4" name="Oval 3"/>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6" name="Oval 5"/>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8" name="Rounded Rectangle 7"/>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9" name="Right Arrow 8"/>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1" name="Right Arrow 10"/>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3" name="TextBox 12"/>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4" name="TextBox 13"/>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5" name="Rounded Rectangle 14"/>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6" name="Rounded Rectangle 15"/>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7" name="Rounded Rectangle 16"/>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8" name="Rounded Rectangle 17"/>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19" name="TextBox 18"/>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
        <p:nvSpPr>
          <p:cNvPr id="20" name="TextBox 1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2667000"/>
            <a:ext cx="10566400" cy="7620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Backup</a:t>
            </a:r>
          </a:p>
        </p:txBody>
      </p:sp>
      <p:sp>
        <p:nvSpPr>
          <p:cNvPr id="3" name="TextBox 2"/>
          <p:cNvSpPr txBox="1"/>
          <p:nvPr/>
        </p:nvSpPr>
        <p:spPr>
          <a:xfrm>
            <a:off x="812800" y="368300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6B7480"/>
                </a:solidFill>
                <a:latin typeface="Arial"/>
              </a:rPr>
              <a:t>Details for questions</a:t>
            </a:r>
          </a:p>
        </p:txBody>
      </p:sp>
      <p:sp>
        <p:nvSpPr>
          <p:cNvPr id="4" name="TextBox 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EXECUTIVE SUMMARY</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Call the team only when you must, with a guarantee</a:t>
            </a:r>
          </a:p>
        </p:txBody>
      </p:sp>
      <p:sp>
        <p:nvSpPr>
          <p:cNvPr id="4" name="Rounded Rectangle 3"/>
          <p:cNvSpPr/>
          <p:nvPr/>
        </p:nvSpPr>
        <p:spPr>
          <a:xfrm>
            <a:off x="812800" y="16827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Problem</a:t>
            </a:r>
          </a:p>
        </p:txBody>
      </p:sp>
      <p:sp>
        <p:nvSpPr>
          <p:cNvPr id="5" name="Rounded Rectangle 4"/>
          <p:cNvSpPr/>
          <p:nvPr/>
        </p:nvSpPr>
        <p:spPr>
          <a:xfrm>
            <a:off x="2844800" y="16827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Agent teams are more accurate, but use up to </a:t>
            </a:r>
            <a:r>
              <a:rPr sz="2100" b="1">
                <a:solidFill>
                  <a:srgbClr val="00175A"/>
                </a:solidFill>
                <a:latin typeface="Arial"/>
              </a:rPr>
              <a:t>6.3×</a:t>
            </a:r>
            <a:r>
              <a:rPr sz="2100" b="0">
                <a:solidFill>
                  <a:srgbClr val="00175A"/>
                </a:solidFill>
                <a:latin typeface="Arial"/>
              </a:rPr>
              <a:t> the tokens of a single agent and break right answers on up to </a:t>
            </a:r>
            <a:r>
              <a:rPr sz="2100" b="1">
                <a:solidFill>
                  <a:srgbClr val="00175A"/>
                </a:solidFill>
                <a:latin typeface="Arial"/>
              </a:rPr>
              <a:t>9%</a:t>
            </a:r>
            <a:r>
              <a:rPr sz="2100" b="0">
                <a:solidFill>
                  <a:srgbClr val="00175A"/>
                </a:solidFill>
                <a:latin typeface="Arial"/>
              </a:rPr>
              <a:t> of tasks.</a:t>
            </a:r>
          </a:p>
        </p:txBody>
      </p:sp>
      <p:sp>
        <p:nvSpPr>
          <p:cNvPr id="6" name="Rounded Rectangle 5"/>
          <p:cNvSpPr/>
          <p:nvPr/>
        </p:nvSpPr>
        <p:spPr>
          <a:xfrm>
            <a:off x="812800" y="25844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Idea</a:t>
            </a:r>
          </a:p>
        </p:txBody>
      </p:sp>
      <p:sp>
        <p:nvSpPr>
          <p:cNvPr id="7" name="Rounded Rectangle 6"/>
          <p:cNvSpPr/>
          <p:nvPr/>
        </p:nvSpPr>
        <p:spPr>
          <a:xfrm>
            <a:off x="2844800" y="25844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Try cheap answers first. Call the team only when a cheap answer looks unreliable (</a:t>
            </a:r>
            <a:r>
              <a:rPr sz="2100" b="1">
                <a:solidFill>
                  <a:srgbClr val="00175A"/>
                </a:solidFill>
                <a:latin typeface="Arial"/>
              </a:rPr>
              <a:t>confidence</a:t>
            </a:r>
            <a:r>
              <a:rPr sz="2100" b="0">
                <a:solidFill>
                  <a:srgbClr val="00175A"/>
                </a:solidFill>
                <a:latin typeface="Arial"/>
              </a:rPr>
              <a:t>, </a:t>
            </a:r>
            <a:r>
              <a:rPr sz="2100" b="1">
                <a:solidFill>
                  <a:srgbClr val="00175A"/>
                </a:solidFill>
                <a:latin typeface="Arial"/>
              </a:rPr>
              <a:t>agreement</a:t>
            </a:r>
            <a:r>
              <a:rPr sz="2100" b="0">
                <a:solidFill>
                  <a:srgbClr val="00175A"/>
                </a:solidFill>
                <a:latin typeface="Arial"/>
              </a:rPr>
              <a:t>).</a:t>
            </a:r>
          </a:p>
        </p:txBody>
      </p:sp>
      <p:sp>
        <p:nvSpPr>
          <p:cNvPr id="8" name="Rounded Rectangle 7"/>
          <p:cNvSpPr/>
          <p:nvPr/>
        </p:nvSpPr>
        <p:spPr>
          <a:xfrm>
            <a:off x="812800" y="3486150"/>
            <a:ext cx="1905000" cy="762000"/>
          </a:xfrm>
          <a:prstGeom prst="roundRect">
            <a:avLst>
              <a:gd name="adj" fmla="val 10000"/>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Guarantee</a:t>
            </a:r>
          </a:p>
        </p:txBody>
      </p:sp>
      <p:sp>
        <p:nvSpPr>
          <p:cNvPr id="9" name="Rounded Rectangle 8"/>
          <p:cNvSpPr/>
          <p:nvPr/>
        </p:nvSpPr>
        <p:spPr>
          <a:xfrm>
            <a:off x="2844800" y="3486150"/>
            <a:ext cx="8534400" cy="762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You set the accuracy you can lose. The </a:t>
            </a:r>
            <a:r>
              <a:rPr sz="2100" b="1">
                <a:solidFill>
                  <a:srgbClr val="00175A"/>
                </a:solidFill>
                <a:latin typeface="Arial"/>
              </a:rPr>
              <a:t>data sets the threshold</a:t>
            </a:r>
            <a:r>
              <a:rPr sz="2100" b="0">
                <a:solidFill>
                  <a:srgbClr val="00175A"/>
                </a:solidFill>
                <a:latin typeface="Arial"/>
              </a:rPr>
              <a:t>: a </a:t>
            </a:r>
            <a:r>
              <a:rPr sz="2100" b="1">
                <a:solidFill>
                  <a:srgbClr val="00175A"/>
                </a:solidFill>
                <a:latin typeface="Arial"/>
              </a:rPr>
              <a:t>betting test</a:t>
            </a:r>
            <a:r>
              <a:rPr sz="2100" b="0">
                <a:solidFill>
                  <a:srgbClr val="00175A"/>
                </a:solidFill>
                <a:latin typeface="Arial"/>
              </a:rPr>
              <a:t> certifies the cheapest one that keeps it, </a:t>
            </a:r>
            <a:r>
              <a:rPr sz="2100" b="1">
                <a:solidFill>
                  <a:srgbClr val="00175A"/>
                </a:solidFill>
                <a:latin typeface="Arial"/>
              </a:rPr>
              <a:t>90%</a:t>
            </a:r>
            <a:r>
              <a:rPr sz="2100" b="0">
                <a:solidFill>
                  <a:srgbClr val="00175A"/>
                </a:solidFill>
                <a:latin typeface="Arial"/>
              </a:rPr>
              <a:t> of the time.</a:t>
            </a:r>
          </a:p>
        </p:txBody>
      </p:sp>
      <p:sp>
        <p:nvSpPr>
          <p:cNvPr id="10" name="Rounded Rectangle 9"/>
          <p:cNvSpPr/>
          <p:nvPr/>
        </p:nvSpPr>
        <p:spPr>
          <a:xfrm>
            <a:off x="812800" y="43878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Result</a:t>
            </a:r>
          </a:p>
        </p:txBody>
      </p:sp>
      <p:sp>
        <p:nvSpPr>
          <p:cNvPr id="11" name="Rounded Rectangle 10"/>
          <p:cNvSpPr/>
          <p:nvPr/>
        </p:nvSpPr>
        <p:spPr>
          <a:xfrm>
            <a:off x="2844800" y="43878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1">
                <a:solidFill>
                  <a:srgbClr val="00175A"/>
                </a:solidFill>
                <a:latin typeface="Arial"/>
              </a:rPr>
              <a:t>38–65% fewer tokens</a:t>
            </a:r>
            <a:r>
              <a:rPr sz="2100" b="0">
                <a:solidFill>
                  <a:srgbClr val="00175A"/>
                </a:solidFill>
                <a:latin typeface="Arial"/>
              </a:rPr>
              <a:t> on 3 models × 4 benchmarks. The promise broke in </a:t>
            </a:r>
            <a:r>
              <a:rPr sz="2100" b="1">
                <a:solidFill>
                  <a:srgbClr val="00175A"/>
                </a:solidFill>
                <a:latin typeface="Arial"/>
              </a:rPr>
              <a:t>≤ 2%</a:t>
            </a:r>
            <a:r>
              <a:rPr sz="2100" b="0">
                <a:solidFill>
                  <a:srgbClr val="00175A"/>
                </a:solidFill>
                <a:latin typeface="Arial"/>
              </a:rPr>
              <a:t> of splits (10% allowed).</a:t>
            </a:r>
          </a:p>
        </p:txBody>
      </p:sp>
      <p:sp>
        <p:nvSpPr>
          <p:cNvPr id="12" name="Rounded Rectangle 11"/>
          <p:cNvSpPr/>
          <p:nvPr/>
        </p:nvSpPr>
        <p:spPr>
          <a:xfrm>
            <a:off x="812800" y="52895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For Amex</a:t>
            </a:r>
          </a:p>
        </p:txBody>
      </p:sp>
      <p:sp>
        <p:nvSpPr>
          <p:cNvPr id="13" name="Rounded Rectangle 12"/>
          <p:cNvSpPr/>
          <p:nvPr/>
        </p:nvSpPr>
        <p:spPr>
          <a:xfrm>
            <a:off x="2844800" y="52895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Sits in front of any multi-agent workflow. Lessons for designing complex agent systems.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Two shortcuts, and both break the promise</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One threshold for all settings</a:t>
            </a:r>
          </a:p>
        </p:txBody>
      </p:sp>
      <p:pic>
        <p:nvPicPr>
          <p:cNvPr id="5" name="Picture 4" descr="c_fixed.png"/>
          <p:cNvPicPr>
            <a:picLocks noChangeAspect="1"/>
          </p:cNvPicPr>
          <p:nvPr/>
        </p:nvPicPr>
        <p:blipFill>
          <a:blip r:embed="rId3"/>
          <a:stretch>
            <a:fillRect/>
          </a:stretch>
        </p:blipFill>
        <p:spPr>
          <a:xfrm>
            <a:off x="812800" y="1944723"/>
            <a:ext cx="5080000" cy="2651053"/>
          </a:xfrm>
          <a:prstGeom prst="rect">
            <a:avLst/>
          </a:prstGeom>
        </p:spPr>
      </p:pic>
      <p:sp>
        <p:nvSpPr>
          <p:cNvPr id="6" name="TextBox 5"/>
          <p:cNvSpPr txBox="1"/>
          <p:nvPr/>
        </p:nvSpPr>
        <p:spPr>
          <a:xfrm>
            <a:off x="8128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Above ε on </a:t>
            </a:r>
            <a:r>
              <a:rPr sz="1800" b="1">
                <a:solidFill>
                  <a:srgbClr val="B03A2E"/>
                </a:solidFill>
                <a:latin typeface="Arial"/>
              </a:rPr>
              <a:t>4 of 12 settings, up to 16 points.</a:t>
            </a:r>
          </a:p>
        </p:txBody>
      </p:sp>
      <p:sp>
        <p:nvSpPr>
          <p:cNvPr id="7" name="TextBox 6"/>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Tuned on each setting’s data, no test</a:t>
            </a:r>
          </a:p>
        </p:txBody>
      </p:sp>
      <p:pic>
        <p:nvPicPr>
          <p:cNvPr id="8" name="Picture 7" descr="c_tuned.png"/>
          <p:cNvPicPr>
            <a:picLocks noChangeAspect="1"/>
          </p:cNvPicPr>
          <p:nvPr/>
        </p:nvPicPr>
        <p:blipFill>
          <a:blip r:embed="rId4"/>
          <a:stretch>
            <a:fillRect/>
          </a:stretch>
        </p:blipFill>
        <p:spPr>
          <a:xfrm>
            <a:off x="6522949" y="1905000"/>
            <a:ext cx="4632501" cy="2730500"/>
          </a:xfrm>
          <a:prstGeom prst="rect">
            <a:avLst/>
          </a:prstGeom>
        </p:spPr>
      </p:pic>
      <p:sp>
        <p:nvSpPr>
          <p:cNvPr id="9" name="TextBox 8"/>
          <p:cNvSpPr txBox="1"/>
          <p:nvPr/>
        </p:nvSpPr>
        <p:spPr>
          <a:xfrm>
            <a:off x="62992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Breaks the promise on </a:t>
            </a:r>
            <a:r>
              <a:rPr sz="1800" b="1">
                <a:solidFill>
                  <a:srgbClr val="B03A2E"/>
                </a:solidFill>
                <a:latin typeface="Arial"/>
              </a:rPr>
              <a:t>31% of splits</a:t>
            </a:r>
            <a:r>
              <a:rPr sz="1800" b="0">
                <a:solidFill>
                  <a:srgbClr val="333B47"/>
                </a:solidFill>
                <a:latin typeface="Arial"/>
              </a:rPr>
              <a:t> at ε = 5.</a:t>
            </a:r>
          </a:p>
        </p:txBody>
      </p:sp>
      <p:sp>
        <p:nvSpPr>
          <p:cNvPr id="10" name="Rounded Rectangle 9"/>
          <p:cNvSpPr/>
          <p:nvPr/>
        </p:nvSpPr>
        <p:spPr>
          <a:xfrm>
            <a:off x="812800" y="52705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400"/>
              </a:spcAft>
            </a:pPr>
            <a:r>
              <a:rPr sz="2400" b="1">
                <a:solidFill>
                  <a:srgbClr val="F6F8FB"/>
                </a:solidFill>
                <a:latin typeface="Georgia"/>
              </a:rPr>
              <a:t>The right threshold depends on the model and task.</a:t>
            </a:r>
          </a:p>
          <a:p>
            <a:pPr algn="ctr">
              <a:lnSpc>
                <a:spcPct val="115000"/>
              </a:lnSpc>
              <a:spcAft>
                <a:spcPts val="0"/>
              </a:spcAft>
            </a:pPr>
            <a:r>
              <a:rPr sz="2000" b="1">
                <a:solidFill>
                  <a:srgbClr val="66B2F0"/>
                </a:solidFill>
                <a:latin typeface="Arial"/>
              </a:rPr>
              <a:t>We need it set from each setting’s data, with a guarantee.</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betting test?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We need: accept an unsafe threshold at most 5% of the time, from a few hundred tasks.</a:t>
            </a:r>
          </a:p>
        </p:txBody>
      </p:sp>
      <p:sp>
        <p:nvSpPr>
          <p:cNvPr id="5" name="Rounded Rectangle 4"/>
          <p:cNvSpPr/>
          <p:nvPr/>
        </p:nvSpPr>
        <p:spPr>
          <a:xfrm>
            <a:off x="812800" y="19050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Saves count</a:t>
            </a:r>
          </a:p>
          <a:p>
            <a:pPr algn="l">
              <a:lnSpc>
                <a:spcPct val="115000"/>
              </a:lnSpc>
              <a:spcAft>
                <a:spcPts val="0"/>
              </a:spcAft>
            </a:pPr>
            <a:r>
              <a:rPr sz="1500" b="0">
                <a:solidFill>
                  <a:srgbClr val="333B47"/>
                </a:solidFill>
                <a:latin typeface="Arial"/>
              </a:rPr>
              <a:t>A cheap answer can also save one the team breaks (up to 9%). The bet credits it.</a:t>
            </a:r>
          </a:p>
        </p:txBody>
      </p:sp>
      <p:sp>
        <p:nvSpPr>
          <p:cNvPr id="6" name="Rounded Rectangle 5"/>
          <p:cNvSpPr/>
          <p:nvPr/>
        </p:nvSpPr>
        <p:spPr>
          <a:xfrm>
            <a:off x="812800" y="29527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Uses low variance</a:t>
            </a:r>
          </a:p>
          <a:p>
            <a:pPr algn="l">
              <a:lnSpc>
                <a:spcPct val="115000"/>
              </a:lnSpc>
              <a:spcAft>
                <a:spcPts val="0"/>
              </a:spcAft>
            </a:pPr>
            <a:r>
              <a:rPr sz="1500" b="0">
                <a:solidFill>
                  <a:srgbClr val="333B47"/>
                </a:solidFill>
                <a:latin typeface="Arial"/>
              </a:rPr>
              <a:t>Most tasks lose 0. The bet size adapts to what it has seen.</a:t>
            </a:r>
          </a:p>
        </p:txBody>
      </p:sp>
      <p:sp>
        <p:nvSpPr>
          <p:cNvPr id="7" name="Rounded Rectangle 6"/>
          <p:cNvSpPr/>
          <p:nvPr/>
        </p:nvSpPr>
        <p:spPr>
          <a:xfrm>
            <a:off x="812800" y="40005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Many thresholds, full 5%</a:t>
            </a:r>
          </a:p>
          <a:p>
            <a:pPr algn="l">
              <a:lnSpc>
                <a:spcPct val="115000"/>
              </a:lnSpc>
              <a:spcAft>
                <a:spcPts val="0"/>
              </a:spcAft>
            </a:pPr>
            <a:r>
              <a:rPr sz="1500" b="0">
                <a:solidFill>
                  <a:srgbClr val="333B47"/>
                </a:solidFill>
                <a:latin typeface="Arial"/>
              </a:rPr>
              <a:t>Tested strict → loose, each test keeps the whole 5%.</a:t>
            </a:r>
          </a:p>
        </p:txBody>
      </p:sp>
      <p:sp>
        <p:nvSpPr>
          <p:cNvPr id="8" name="Rounded Rectangle 7"/>
          <p:cNvSpPr/>
          <p:nvPr/>
        </p:nvSpPr>
        <p:spPr>
          <a:xfrm>
            <a:off x="812800" y="50482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Any data</a:t>
            </a:r>
          </a:p>
          <a:p>
            <a:pPr algn="l">
              <a:lnSpc>
                <a:spcPct val="115000"/>
              </a:lnSpc>
              <a:spcAft>
                <a:spcPts val="0"/>
              </a:spcAft>
            </a:pPr>
            <a:r>
              <a:rPr sz="1500" b="0">
                <a:solidFill>
                  <a:srgbClr val="333B47"/>
                </a:solidFill>
                <a:latin typeface="Arial"/>
              </a:rPr>
              <a:t>No model of the score. Only: calibration looks like deployment.</a:t>
            </a:r>
          </a:p>
        </p:txBody>
      </p:sp>
      <p:sp>
        <p:nvSpPr>
          <p:cNvPr id="9" name="TextBox 8"/>
          <p:cNvSpPr txBox="1"/>
          <p:nvPr/>
        </p:nvSpPr>
        <p:spPr>
          <a:xfrm>
            <a:off x="5270500" y="1905000"/>
            <a:ext cx="61087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All valid. Which one saves the most?</a:t>
            </a:r>
          </a:p>
        </p:txBody>
      </p:sp>
      <p:pic>
        <p:nvPicPr>
          <p:cNvPr id="10" name="Picture 9" descr="c_tests.png"/>
          <p:cNvPicPr>
            <a:picLocks noChangeAspect="1"/>
          </p:cNvPicPr>
          <p:nvPr/>
        </p:nvPicPr>
        <p:blipFill>
          <a:blip r:embed="rId3"/>
          <a:stretch>
            <a:fillRect/>
          </a:stretch>
        </p:blipFill>
        <p:spPr>
          <a:xfrm>
            <a:off x="5270500" y="2464849"/>
            <a:ext cx="6108700" cy="2182300"/>
          </a:xfrm>
          <a:prstGeom prst="rect">
            <a:avLst/>
          </a:prstGeom>
        </p:spPr>
      </p:pic>
      <p:sp>
        <p:nvSpPr>
          <p:cNvPr id="11" name="Rounded Rectangle 10"/>
          <p:cNvSpPr/>
          <p:nvPr/>
        </p:nvSpPr>
        <p:spPr>
          <a:xfrm>
            <a:off x="5270500" y="5080000"/>
            <a:ext cx="6108700" cy="984250"/>
          </a:xfrm>
          <a:prstGeom prst="roundRect">
            <a:avLst>
              <a:gd name="adj" fmla="val 10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 vs 79–100%</a:t>
            </a:r>
          </a:p>
          <a:p>
            <a:pPr algn="l">
              <a:lnSpc>
                <a:spcPct val="115000"/>
              </a:lnSpc>
              <a:spcAft>
                <a:spcPts val="0"/>
              </a:spcAft>
            </a:pPr>
            <a:r>
              <a:rPr sz="1700" b="0">
                <a:solidFill>
                  <a:srgbClr val="333B47"/>
                </a:solidFill>
                <a:latin typeface="Arial"/>
              </a:rPr>
              <a:t>of the team’s tokens at ε = 5</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In CLIMB: testing one threshold, task by task</a:t>
            </a:r>
          </a:p>
        </p:txBody>
      </p:sp>
      <p:sp>
        <p:nvSpPr>
          <p:cNvPr id="4" name="Rectangle 3"/>
          <p:cNvSpPr/>
          <p:nvPr/>
        </p:nvSpPr>
        <p:spPr>
          <a:xfrm>
            <a:off x="812800" y="1587500"/>
            <a:ext cx="596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Task</a:t>
            </a:r>
          </a:p>
        </p:txBody>
      </p:sp>
      <p:sp>
        <p:nvSpPr>
          <p:cNvPr id="5" name="Rectangle 4"/>
          <p:cNvSpPr/>
          <p:nvPr/>
        </p:nvSpPr>
        <p:spPr>
          <a:xfrm>
            <a:off x="812800" y="1993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1</a:t>
            </a:r>
          </a:p>
        </p:txBody>
      </p:sp>
      <p:sp>
        <p:nvSpPr>
          <p:cNvPr id="6" name="Rectangle 5"/>
          <p:cNvSpPr/>
          <p:nvPr/>
        </p:nvSpPr>
        <p:spPr>
          <a:xfrm>
            <a:off x="812800" y="2501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2</a:t>
            </a:r>
          </a:p>
        </p:txBody>
      </p:sp>
      <p:sp>
        <p:nvSpPr>
          <p:cNvPr id="7" name="Rectangle 6"/>
          <p:cNvSpPr/>
          <p:nvPr/>
        </p:nvSpPr>
        <p:spPr>
          <a:xfrm>
            <a:off x="812800" y="3009900"/>
            <a:ext cx="596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3</a:t>
            </a:r>
          </a:p>
        </p:txBody>
      </p:sp>
      <p:sp>
        <p:nvSpPr>
          <p:cNvPr id="8" name="Rectangle 7"/>
          <p:cNvSpPr/>
          <p:nvPr/>
        </p:nvSpPr>
        <p:spPr>
          <a:xfrm>
            <a:off x="812800" y="3517900"/>
            <a:ext cx="596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4</a:t>
            </a:r>
          </a:p>
        </p:txBody>
      </p:sp>
      <p:sp>
        <p:nvSpPr>
          <p:cNvPr id="9" name="Rectangle 8"/>
          <p:cNvSpPr/>
          <p:nvPr/>
        </p:nvSpPr>
        <p:spPr>
          <a:xfrm>
            <a:off x="812800" y="4025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5</a:t>
            </a:r>
          </a:p>
        </p:txBody>
      </p:sp>
      <p:sp>
        <p:nvSpPr>
          <p:cNvPr id="10" name="Rectangle 9"/>
          <p:cNvSpPr/>
          <p:nvPr/>
        </p:nvSpPr>
        <p:spPr>
          <a:xfrm>
            <a:off x="812800" y="4533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11" name="Rectangle 10"/>
          <p:cNvSpPr/>
          <p:nvPr/>
        </p:nvSpPr>
        <p:spPr>
          <a:xfrm>
            <a:off x="1447800" y="1587500"/>
            <a:ext cx="1168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Score &gt; t?</a:t>
            </a:r>
          </a:p>
        </p:txBody>
      </p:sp>
      <p:sp>
        <p:nvSpPr>
          <p:cNvPr id="12" name="Rectangle 11"/>
          <p:cNvSpPr/>
          <p:nvPr/>
        </p:nvSpPr>
        <p:spPr>
          <a:xfrm>
            <a:off x="1447800" y="1993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3" name="Rectangle 12"/>
          <p:cNvSpPr/>
          <p:nvPr/>
        </p:nvSpPr>
        <p:spPr>
          <a:xfrm>
            <a:off x="1447800" y="2501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no → team</a:t>
            </a:r>
          </a:p>
        </p:txBody>
      </p:sp>
      <p:sp>
        <p:nvSpPr>
          <p:cNvPr id="14" name="Rectangle 13"/>
          <p:cNvSpPr/>
          <p:nvPr/>
        </p:nvSpPr>
        <p:spPr>
          <a:xfrm>
            <a:off x="1447800" y="3009900"/>
            <a:ext cx="1168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5" name="Rectangle 14"/>
          <p:cNvSpPr/>
          <p:nvPr/>
        </p:nvSpPr>
        <p:spPr>
          <a:xfrm>
            <a:off x="1447800" y="3517900"/>
            <a:ext cx="1168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6" name="Rectangle 15"/>
          <p:cNvSpPr/>
          <p:nvPr/>
        </p:nvSpPr>
        <p:spPr>
          <a:xfrm>
            <a:off x="1447800" y="4025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7" name="Rectangle 16"/>
          <p:cNvSpPr/>
          <p:nvPr/>
        </p:nvSpPr>
        <p:spPr>
          <a:xfrm>
            <a:off x="1447800" y="4533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18" name="Rectangle 17"/>
          <p:cNvSpPr/>
          <p:nvPr/>
        </p:nvSpPr>
        <p:spPr>
          <a:xfrm>
            <a:off x="2654300" y="1587500"/>
            <a:ext cx="1104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Our answer</a:t>
            </a:r>
          </a:p>
        </p:txBody>
      </p:sp>
      <p:sp>
        <p:nvSpPr>
          <p:cNvPr id="19" name="Rectangle 18"/>
          <p:cNvSpPr/>
          <p:nvPr/>
        </p:nvSpPr>
        <p:spPr>
          <a:xfrm>
            <a:off x="2654300" y="1993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0" name="Rectangle 19"/>
          <p:cNvSpPr/>
          <p:nvPr/>
        </p:nvSpPr>
        <p:spPr>
          <a:xfrm>
            <a:off x="2654300" y="2501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team’s</a:t>
            </a:r>
          </a:p>
        </p:txBody>
      </p:sp>
      <p:sp>
        <p:nvSpPr>
          <p:cNvPr id="21" name="Rectangle 20"/>
          <p:cNvSpPr/>
          <p:nvPr/>
        </p:nvSpPr>
        <p:spPr>
          <a:xfrm>
            <a:off x="2654300" y="3009900"/>
            <a:ext cx="1104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22" name="Rectangle 21"/>
          <p:cNvSpPr/>
          <p:nvPr/>
        </p:nvSpPr>
        <p:spPr>
          <a:xfrm>
            <a:off x="2654300" y="3517900"/>
            <a:ext cx="1104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3" name="Rectangle 22"/>
          <p:cNvSpPr/>
          <p:nvPr/>
        </p:nvSpPr>
        <p:spPr>
          <a:xfrm>
            <a:off x="2654300" y="4025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4" name="Rectangle 23"/>
          <p:cNvSpPr/>
          <p:nvPr/>
        </p:nvSpPr>
        <p:spPr>
          <a:xfrm>
            <a:off x="2654300" y="4533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25" name="Rectangle 24"/>
          <p:cNvSpPr/>
          <p:nvPr/>
        </p:nvSpPr>
        <p:spPr>
          <a:xfrm>
            <a:off x="3797300" y="1587500"/>
            <a:ext cx="723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Team</a:t>
            </a:r>
          </a:p>
        </p:txBody>
      </p:sp>
      <p:sp>
        <p:nvSpPr>
          <p:cNvPr id="26" name="Rectangle 25"/>
          <p:cNvSpPr/>
          <p:nvPr/>
        </p:nvSpPr>
        <p:spPr>
          <a:xfrm>
            <a:off x="3797300" y="1993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7" name="Rectangle 26"/>
          <p:cNvSpPr/>
          <p:nvPr/>
        </p:nvSpPr>
        <p:spPr>
          <a:xfrm>
            <a:off x="3797300" y="2501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8" name="Rectangle 27"/>
          <p:cNvSpPr/>
          <p:nvPr/>
        </p:nvSpPr>
        <p:spPr>
          <a:xfrm>
            <a:off x="3797300" y="3009900"/>
            <a:ext cx="723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9" name="Rectangle 28"/>
          <p:cNvSpPr/>
          <p:nvPr/>
        </p:nvSpPr>
        <p:spPr>
          <a:xfrm>
            <a:off x="3797300" y="3517900"/>
            <a:ext cx="723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30" name="Rectangle 29"/>
          <p:cNvSpPr/>
          <p:nvPr/>
        </p:nvSpPr>
        <p:spPr>
          <a:xfrm>
            <a:off x="3797300" y="4025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31" name="Rectangle 30"/>
          <p:cNvSpPr/>
          <p:nvPr/>
        </p:nvSpPr>
        <p:spPr>
          <a:xfrm>
            <a:off x="3797300" y="4533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2" name="Rectangle 31"/>
          <p:cNvSpPr/>
          <p:nvPr/>
        </p:nvSpPr>
        <p:spPr>
          <a:xfrm>
            <a:off x="4559300" y="1587500"/>
            <a:ext cx="1041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Loss ℓ</a:t>
            </a:r>
          </a:p>
        </p:txBody>
      </p:sp>
      <p:sp>
        <p:nvSpPr>
          <p:cNvPr id="33" name="Rectangle 32"/>
          <p:cNvSpPr/>
          <p:nvPr/>
        </p:nvSpPr>
        <p:spPr>
          <a:xfrm>
            <a:off x="4559300" y="1993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4" name="Rectangle 33"/>
          <p:cNvSpPr/>
          <p:nvPr/>
        </p:nvSpPr>
        <p:spPr>
          <a:xfrm>
            <a:off x="4559300" y="2501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5" name="Rectangle 34"/>
          <p:cNvSpPr/>
          <p:nvPr/>
        </p:nvSpPr>
        <p:spPr>
          <a:xfrm>
            <a:off x="4559300" y="3009900"/>
            <a:ext cx="1041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B03A2E"/>
                </a:solidFill>
                <a:latin typeface="Arial"/>
              </a:rPr>
              <a:t>+1 lost</a:t>
            </a:r>
          </a:p>
        </p:txBody>
      </p:sp>
      <p:sp>
        <p:nvSpPr>
          <p:cNvPr id="36" name="Rectangle 35"/>
          <p:cNvSpPr/>
          <p:nvPr/>
        </p:nvSpPr>
        <p:spPr>
          <a:xfrm>
            <a:off x="4559300" y="3517900"/>
            <a:ext cx="1041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2F6B34"/>
                </a:solidFill>
                <a:latin typeface="Arial"/>
              </a:rPr>
              <a:t>−1 saved</a:t>
            </a:r>
          </a:p>
        </p:txBody>
      </p:sp>
      <p:sp>
        <p:nvSpPr>
          <p:cNvPr id="37" name="Rectangle 36"/>
          <p:cNvSpPr/>
          <p:nvPr/>
        </p:nvSpPr>
        <p:spPr>
          <a:xfrm>
            <a:off x="4559300" y="4025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8" name="Rectangle 37"/>
          <p:cNvSpPr/>
          <p:nvPr/>
        </p:nvSpPr>
        <p:spPr>
          <a:xfrm>
            <a:off x="4559300" y="4533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9" name="Rectangle 38"/>
          <p:cNvSpPr/>
          <p:nvPr/>
        </p:nvSpPr>
        <p:spPr>
          <a:xfrm>
            <a:off x="56388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 money</a:t>
            </a:r>
          </a:p>
        </p:txBody>
      </p:sp>
      <p:sp>
        <p:nvSpPr>
          <p:cNvPr id="40" name="Rectangle 39"/>
          <p:cNvSpPr/>
          <p:nvPr/>
        </p:nvSpPr>
        <p:spPr>
          <a:xfrm>
            <a:off x="56388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1" name="Rectangle 40"/>
          <p:cNvSpPr/>
          <p:nvPr/>
        </p:nvSpPr>
        <p:spPr>
          <a:xfrm>
            <a:off x="56388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2" name="Rectangle 41"/>
          <p:cNvSpPr/>
          <p:nvPr/>
        </p:nvSpPr>
        <p:spPr>
          <a:xfrm>
            <a:off x="56388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 0.53</a:t>
            </a:r>
          </a:p>
        </p:txBody>
      </p:sp>
      <p:sp>
        <p:nvSpPr>
          <p:cNvPr id="43" name="Rectangle 42"/>
          <p:cNvSpPr/>
          <p:nvPr/>
        </p:nvSpPr>
        <p:spPr>
          <a:xfrm>
            <a:off x="56388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2F6B34"/>
                </a:solidFill>
                <a:latin typeface="Arial"/>
              </a:rPr>
              <a:t>× 1.53</a:t>
            </a:r>
          </a:p>
        </p:txBody>
      </p:sp>
      <p:sp>
        <p:nvSpPr>
          <p:cNvPr id="44" name="Rectangle 43"/>
          <p:cNvSpPr/>
          <p:nvPr/>
        </p:nvSpPr>
        <p:spPr>
          <a:xfrm>
            <a:off x="56388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5" name="Rectangle 44"/>
          <p:cNvSpPr/>
          <p:nvPr/>
        </p:nvSpPr>
        <p:spPr>
          <a:xfrm>
            <a:off x="56388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46" name="Rectangle 45"/>
          <p:cNvSpPr/>
          <p:nvPr/>
        </p:nvSpPr>
        <p:spPr>
          <a:xfrm>
            <a:off x="65913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Money</a:t>
            </a:r>
          </a:p>
        </p:txBody>
      </p:sp>
      <p:sp>
        <p:nvSpPr>
          <p:cNvPr id="47" name="Rectangle 46"/>
          <p:cNvSpPr/>
          <p:nvPr/>
        </p:nvSpPr>
        <p:spPr>
          <a:xfrm>
            <a:off x="65913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$1.03</a:t>
            </a:r>
          </a:p>
        </p:txBody>
      </p:sp>
      <p:sp>
        <p:nvSpPr>
          <p:cNvPr id="48" name="Rectangle 47"/>
          <p:cNvSpPr/>
          <p:nvPr/>
        </p:nvSpPr>
        <p:spPr>
          <a:xfrm>
            <a:off x="65913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$1.05</a:t>
            </a:r>
          </a:p>
        </p:txBody>
      </p:sp>
      <p:sp>
        <p:nvSpPr>
          <p:cNvPr id="49" name="Rectangle 48"/>
          <p:cNvSpPr/>
          <p:nvPr/>
        </p:nvSpPr>
        <p:spPr>
          <a:xfrm>
            <a:off x="65913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$0.55</a:t>
            </a:r>
          </a:p>
        </p:txBody>
      </p:sp>
      <p:sp>
        <p:nvSpPr>
          <p:cNvPr id="50" name="Rectangle 49"/>
          <p:cNvSpPr/>
          <p:nvPr/>
        </p:nvSpPr>
        <p:spPr>
          <a:xfrm>
            <a:off x="65913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$0.84</a:t>
            </a:r>
          </a:p>
        </p:txBody>
      </p:sp>
      <p:sp>
        <p:nvSpPr>
          <p:cNvPr id="51" name="Rectangle 50"/>
          <p:cNvSpPr/>
          <p:nvPr/>
        </p:nvSpPr>
        <p:spPr>
          <a:xfrm>
            <a:off x="65913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$0.86</a:t>
            </a:r>
          </a:p>
        </p:txBody>
      </p:sp>
      <p:sp>
        <p:nvSpPr>
          <p:cNvPr id="52" name="Rectangle 51"/>
          <p:cNvSpPr/>
          <p:nvPr/>
        </p:nvSpPr>
        <p:spPr>
          <a:xfrm>
            <a:off x="65913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 $20?</a:t>
            </a:r>
          </a:p>
        </p:txBody>
      </p:sp>
      <p:sp>
        <p:nvSpPr>
          <p:cNvPr id="53" name="TextBox 52"/>
          <p:cNvSpPr txBox="1"/>
          <p:nvPr/>
        </p:nvSpPr>
        <p:spPr>
          <a:xfrm>
            <a:off x="812800" y="5080000"/>
            <a:ext cx="6819900" cy="381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ε = 5 points, bet size λ = 0.5.  Escalated tasks use the team’s answer: loss 0.</a:t>
            </a:r>
          </a:p>
        </p:txBody>
      </p:sp>
      <p:sp>
        <p:nvSpPr>
          <p:cNvPr id="54" name="Rounded Rectangle 53"/>
          <p:cNvSpPr/>
          <p:nvPr/>
        </p:nvSpPr>
        <p:spPr>
          <a:xfrm>
            <a:off x="7874000" y="1587500"/>
            <a:ext cx="3505200" cy="3873500"/>
          </a:xfrm>
          <a:prstGeom prst="roundRect">
            <a:avLst>
              <a:gd name="adj" fmla="val 326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9700" rIns="139700" tIns="139700" bIns="139700"/>
          <a:lstStyle/>
          <a:p>
            <a:pPr algn="l">
              <a:lnSpc>
                <a:spcPct val="115000"/>
              </a:lnSpc>
              <a:spcAft>
                <a:spcPts val="1000"/>
              </a:spcAft>
            </a:pPr>
            <a:r>
              <a:rPr sz="1800" b="1">
                <a:solidFill>
                  <a:srgbClr val="66B2F0"/>
                </a:solidFill>
                <a:latin typeface="Arial"/>
              </a:rPr>
              <a:t>Each threshold, strict → loose</a:t>
            </a:r>
          </a:p>
          <a:p>
            <a:pPr algn="l">
              <a:lnSpc>
                <a:spcPct val="115000"/>
              </a:lnSpc>
              <a:spcAft>
                <a:spcPts val="800"/>
              </a:spcAft>
            </a:pPr>
            <a:r>
              <a:rPr sz="1500" b="1">
                <a:solidFill>
                  <a:srgbClr val="F6F8FB"/>
                </a:solidFill>
                <a:latin typeface="Arial"/>
              </a:rPr>
              <a:t>1</a:t>
            </a:r>
            <a:r>
              <a:rPr sz="1500" b="0">
                <a:solidFill>
                  <a:srgbClr val="F6F8FB"/>
                </a:solidFill>
                <a:latin typeface="Arial"/>
              </a:rPr>
              <a:t>  Tasks in random order, $1.</a:t>
            </a:r>
          </a:p>
          <a:p>
            <a:pPr algn="l">
              <a:lnSpc>
                <a:spcPct val="115000"/>
              </a:lnSpc>
              <a:spcAft>
                <a:spcPts val="800"/>
              </a:spcAft>
            </a:pPr>
            <a:r>
              <a:rPr sz="1500" b="1">
                <a:solidFill>
                  <a:srgbClr val="F6F8FB"/>
                </a:solidFill>
                <a:latin typeface="Arial"/>
              </a:rPr>
              <a:t>2</a:t>
            </a:r>
            <a:r>
              <a:rPr sz="1500" b="0">
                <a:solidFill>
                  <a:srgbClr val="F6F8FB"/>
                </a:solidFill>
                <a:latin typeface="Arial"/>
              </a:rPr>
              <a:t>  ℓ = team right − ours right.</a:t>
            </a:r>
          </a:p>
          <a:p>
            <a:pPr algn="l">
              <a:lnSpc>
                <a:spcPct val="115000"/>
              </a:lnSpc>
              <a:spcAft>
                <a:spcPts val="800"/>
              </a:spcAft>
            </a:pPr>
            <a:r>
              <a:rPr sz="1500" b="1">
                <a:solidFill>
                  <a:srgbClr val="F6F8FB"/>
                </a:solidFill>
                <a:latin typeface="Arial"/>
              </a:rPr>
              <a:t>3</a:t>
            </a:r>
            <a:r>
              <a:rPr sz="1500" b="0">
                <a:solidFill>
                  <a:srgbClr val="F6F8FB"/>
                </a:solidFill>
                <a:latin typeface="Arial"/>
              </a:rPr>
              <a:t>  λ from </a:t>
            </a:r>
            <a:r>
              <a:rPr sz="1500" b="1">
                <a:solidFill>
                  <a:srgbClr val="F6F8FB"/>
                </a:solidFill>
                <a:latin typeface="Arial"/>
              </a:rPr>
              <a:t>earlier tasks only</a:t>
            </a:r>
            <a:r>
              <a:rPr sz="1500" b="0">
                <a:solidFill>
                  <a:srgbClr val="F6F8FB"/>
                </a:solidFill>
                <a:latin typeface="Arial"/>
              </a:rPr>
              <a:t>. A loss at most halves the money.</a:t>
            </a:r>
          </a:p>
          <a:p>
            <a:pPr algn="l">
              <a:lnSpc>
                <a:spcPct val="115000"/>
              </a:lnSpc>
              <a:spcAft>
                <a:spcPts val="800"/>
              </a:spcAft>
            </a:pPr>
            <a:r>
              <a:rPr sz="1500" b="1">
                <a:solidFill>
                  <a:srgbClr val="F6F8FB"/>
                </a:solidFill>
                <a:latin typeface="Arial"/>
              </a:rPr>
              <a:t>4</a:t>
            </a:r>
            <a:r>
              <a:rPr sz="1500" b="0">
                <a:solidFill>
                  <a:srgbClr val="F6F8FB"/>
                </a:solidFill>
                <a:latin typeface="Arial"/>
              </a:rPr>
              <a:t>  Money × (1 + λ (ε − ℓ)).</a:t>
            </a:r>
          </a:p>
          <a:p>
            <a:pPr algn="l">
              <a:lnSpc>
                <a:spcPct val="115000"/>
              </a:lnSpc>
              <a:spcAft>
                <a:spcPts val="0"/>
              </a:spcAft>
            </a:pPr>
            <a:r>
              <a:rPr sz="1500" b="1">
                <a:solidFill>
                  <a:srgbClr val="F6F8FB"/>
                </a:solidFill>
                <a:latin typeface="Arial"/>
              </a:rPr>
              <a:t>5</a:t>
            </a:r>
            <a:r>
              <a:rPr sz="1500" b="0">
                <a:solidFill>
                  <a:srgbClr val="F6F8FB"/>
                </a:solidFill>
                <a:latin typeface="Arial"/>
              </a:rPr>
              <a:t>  Ever ≥ $20: certified, next threshold. Never: stop.</a:t>
            </a:r>
          </a:p>
        </p:txBody>
      </p:sp>
      <p:sp>
        <p:nvSpPr>
          <p:cNvPr id="55" name="Rounded Rectangle 54"/>
          <p:cNvSpPr/>
          <p:nvPr/>
        </p:nvSpPr>
        <p:spPr>
          <a:xfrm>
            <a:off x="812800" y="5651500"/>
            <a:ext cx="10566400" cy="508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1800" b="1">
                <a:solidFill>
                  <a:srgbClr val="00175A"/>
                </a:solidFill>
                <a:latin typeface="Arial"/>
              </a:rPr>
              <a:t>Options A and B are each tested this way at 5%, so both hold together with probability ≥ 90%.</a:t>
            </a:r>
          </a:p>
        </p:txBody>
      </p:sp>
      <p:sp>
        <p:nvSpPr>
          <p:cNvPr id="56" name="TextBox 5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threshold? It is the best rule</a:t>
            </a:r>
          </a:p>
        </p:txBody>
      </p:sp>
      <p:sp>
        <p:nvSpPr>
          <p:cNvPr id="4" name="TextBox 3"/>
          <p:cNvSpPr txBox="1"/>
          <p:nvPr/>
        </p:nvSpPr>
        <p:spPr>
          <a:xfrm>
            <a:off x="812800" y="1714500"/>
            <a:ext cx="5207000" cy="635000"/>
          </a:xfrm>
          <a:prstGeom prst="rect">
            <a:avLst/>
          </a:prstGeom>
          <a:noFill/>
        </p:spPr>
        <p:txBody>
          <a:bodyPr wrap="square" lIns="0" rIns="0" tIns="0" bIns="0" anchor="t">
            <a:spAutoFit/>
          </a:bodyPr>
          <a:lstStyle/>
          <a:p>
            <a:pPr algn="l">
              <a:lnSpc>
                <a:spcPct val="115000"/>
              </a:lnSpc>
              <a:spcAft>
                <a:spcPts val="0"/>
              </a:spcAft>
            </a:pPr>
            <a:r>
              <a:rPr sz="2200" b="0">
                <a:solidFill>
                  <a:srgbClr val="00175A"/>
                </a:solidFill>
                <a:latin typeface="Arial"/>
              </a:rPr>
              <a:t>Stop the tasks where the team adds </a:t>
            </a:r>
            <a:r>
              <a:rPr sz="2200" b="1">
                <a:solidFill>
                  <a:srgbClr val="00175A"/>
                </a:solidFill>
                <a:latin typeface="Arial"/>
              </a:rPr>
              <a:t>least</a:t>
            </a:r>
            <a:r>
              <a:rPr sz="2200" b="0">
                <a:solidFill>
                  <a:srgbClr val="00175A"/>
                </a:solidFill>
                <a:latin typeface="Arial"/>
              </a:rPr>
              <a:t>.</a:t>
            </a:r>
          </a:p>
        </p:txBody>
      </p:sp>
      <p:sp>
        <p:nvSpPr>
          <p:cNvPr id="5" name="TextBox 4"/>
          <p:cNvSpPr txBox="1"/>
          <p:nvPr/>
        </p:nvSpPr>
        <p:spPr>
          <a:xfrm>
            <a:off x="812800" y="2540000"/>
            <a:ext cx="5207000" cy="635000"/>
          </a:xfrm>
          <a:prstGeom prst="rect">
            <a:avLst/>
          </a:prstGeom>
          <a:noFill/>
        </p:spPr>
        <p:txBody>
          <a:bodyPr wrap="square" lIns="0" rIns="0" tIns="0" bIns="0" anchor="t">
            <a:spAutoFit/>
          </a:bodyPr>
          <a:lstStyle/>
          <a:p>
            <a:pPr algn="l">
              <a:lnSpc>
                <a:spcPct val="115000"/>
              </a:lnSpc>
              <a:spcAft>
                <a:spcPts val="0"/>
              </a:spcAft>
            </a:pPr>
            <a:r>
              <a:rPr sz="2200" b="0">
                <a:solidFill>
                  <a:srgbClr val="00175A"/>
                </a:solidFill>
                <a:latin typeface="Arial"/>
              </a:rPr>
              <a:t>The team adds least where confidence is </a:t>
            </a:r>
            <a:r>
              <a:rPr sz="2200" b="1">
                <a:solidFill>
                  <a:srgbClr val="00175A"/>
                </a:solidFill>
                <a:latin typeface="Arial"/>
              </a:rPr>
              <a:t>high</a:t>
            </a:r>
            <a:r>
              <a:rPr sz="2200" b="0">
                <a:solidFill>
                  <a:srgbClr val="00175A"/>
                </a:solidFill>
                <a:latin typeface="Arial"/>
              </a:rPr>
              <a:t>.</a:t>
            </a:r>
          </a:p>
        </p:txBody>
      </p:sp>
      <p:sp>
        <p:nvSpPr>
          <p:cNvPr id="6" name="TextBox 5"/>
          <p:cNvSpPr txBox="1"/>
          <p:nvPr/>
        </p:nvSpPr>
        <p:spPr>
          <a:xfrm>
            <a:off x="812800" y="3556000"/>
            <a:ext cx="5207000" cy="254000"/>
          </a:xfrm>
          <a:prstGeom prst="rect">
            <a:avLst/>
          </a:prstGeom>
          <a:noFill/>
        </p:spPr>
        <p:txBody>
          <a:bodyPr wrap="square" lIns="0" rIns="0" tIns="0" bIns="0" anchor="t">
            <a:spAutoFit/>
          </a:bodyPr>
          <a:lstStyle/>
          <a:p>
            <a:pPr algn="l">
              <a:lnSpc>
                <a:spcPct val="115000"/>
              </a:lnSpc>
              <a:spcAft>
                <a:spcPts val="0"/>
              </a:spcAft>
            </a:pPr>
            <a:r>
              <a:rPr sz="2000" b="1">
                <a:solidFill>
                  <a:srgbClr val="006FCF"/>
                </a:solidFill>
                <a:latin typeface="Arial"/>
              </a:rPr>
              <a:t>So the best rule is a threshold:</a:t>
            </a:r>
          </a:p>
        </p:txBody>
      </p:sp>
      <p:sp>
        <p:nvSpPr>
          <p:cNvPr id="7" name="Rectangle 6"/>
          <p:cNvSpPr/>
          <p:nvPr/>
        </p:nvSpPr>
        <p:spPr>
          <a:xfrm>
            <a:off x="812800" y="3937000"/>
            <a:ext cx="2984500" cy="635000"/>
          </a:xfrm>
          <a:prstGeom prst="rect">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2000" b="1">
                <a:solidFill>
                  <a:srgbClr val="00175A"/>
                </a:solidFill>
                <a:latin typeface="Arial"/>
              </a:rPr>
              <a:t>below t: call the team</a:t>
            </a:r>
          </a:p>
        </p:txBody>
      </p:sp>
      <p:sp>
        <p:nvSpPr>
          <p:cNvPr id="8" name="Rectangle 7"/>
          <p:cNvSpPr/>
          <p:nvPr/>
        </p:nvSpPr>
        <p:spPr>
          <a:xfrm>
            <a:off x="3797300" y="3937000"/>
            <a:ext cx="2222500" cy="635000"/>
          </a:xfrm>
          <a:prstGeom prst="rect">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2000" b="1">
                <a:solidFill>
                  <a:srgbClr val="2F6B34"/>
                </a:solidFill>
                <a:latin typeface="Arial"/>
              </a:rPr>
              <a:t>above t: stop</a:t>
            </a:r>
          </a:p>
        </p:txBody>
      </p:sp>
      <p:sp>
        <p:nvSpPr>
          <p:cNvPr id="9" name="Rectangle 8"/>
          <p:cNvSpPr/>
          <p:nvPr/>
        </p:nvSpPr>
        <p:spPr>
          <a:xfrm>
            <a:off x="3759200" y="3810000"/>
            <a:ext cx="76200" cy="8890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6000" y="4730750"/>
            <a:ext cx="508000" cy="215900"/>
          </a:xfrm>
          <a:prstGeom prst="rect">
            <a:avLst/>
          </a:prstGeom>
          <a:noFill/>
        </p:spPr>
        <p:txBody>
          <a:bodyPr wrap="square" lIns="0" rIns="0" tIns="0" bIns="0" anchor="t">
            <a:spAutoFit/>
          </a:bodyPr>
          <a:lstStyle/>
          <a:p>
            <a:pPr algn="ctr">
              <a:lnSpc>
                <a:spcPct val="115000"/>
              </a:lnSpc>
              <a:spcAft>
                <a:spcPts val="0"/>
              </a:spcAft>
            </a:pPr>
            <a:r>
              <a:rPr sz="2200" b="1">
                <a:solidFill>
                  <a:srgbClr val="B03A2E"/>
                </a:solidFill>
                <a:latin typeface="Arial"/>
              </a:rPr>
              <a:t>t</a:t>
            </a:r>
          </a:p>
        </p:txBody>
      </p:sp>
      <p:sp>
        <p:nvSpPr>
          <p:cNvPr id="11" name="TextBox 10"/>
          <p:cNvSpPr txBox="1"/>
          <p:nvPr/>
        </p:nvSpPr>
        <p:spPr>
          <a:xfrm>
            <a:off x="812800" y="4730750"/>
            <a:ext cx="2540000" cy="2159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low confidence</a:t>
            </a:r>
          </a:p>
        </p:txBody>
      </p:sp>
      <p:sp>
        <p:nvSpPr>
          <p:cNvPr id="12" name="TextBox 11"/>
          <p:cNvSpPr txBox="1"/>
          <p:nvPr/>
        </p:nvSpPr>
        <p:spPr>
          <a:xfrm>
            <a:off x="4749800" y="4730750"/>
            <a:ext cx="1270000" cy="215900"/>
          </a:xfrm>
          <a:prstGeom prst="rect">
            <a:avLst/>
          </a:prstGeom>
          <a:noFill/>
        </p:spPr>
        <p:txBody>
          <a:bodyPr wrap="square" lIns="0" rIns="0" tIns="0" bIns="0" anchor="t">
            <a:spAutoFit/>
          </a:bodyPr>
          <a:lstStyle/>
          <a:p>
            <a:pPr algn="r">
              <a:lnSpc>
                <a:spcPct val="115000"/>
              </a:lnSpc>
              <a:spcAft>
                <a:spcPts val="0"/>
              </a:spcAft>
            </a:pPr>
            <a:r>
              <a:rPr sz="1600" b="0">
                <a:solidFill>
                  <a:srgbClr val="6B7480"/>
                </a:solidFill>
                <a:latin typeface="Arial"/>
              </a:rPr>
              <a:t>high</a:t>
            </a:r>
          </a:p>
        </p:txBody>
      </p:sp>
      <p:sp>
        <p:nvSpPr>
          <p:cNvPr id="13" name="TextBox 12"/>
          <p:cNvSpPr txBox="1"/>
          <p:nvPr/>
        </p:nvSpPr>
        <p:spPr>
          <a:xfrm>
            <a:off x="6350000" y="1524000"/>
            <a:ext cx="50292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Gain from the team, by confidence</a:t>
            </a:r>
          </a:p>
        </p:txBody>
      </p:sp>
      <p:pic>
        <p:nvPicPr>
          <p:cNvPr id="14" name="Picture 13" descr="c_monotone.png"/>
          <p:cNvPicPr>
            <a:picLocks noChangeAspect="1"/>
          </p:cNvPicPr>
          <p:nvPr/>
        </p:nvPicPr>
        <p:blipFill>
          <a:blip r:embed="rId3"/>
          <a:stretch>
            <a:fillRect/>
          </a:stretch>
        </p:blipFill>
        <p:spPr>
          <a:xfrm>
            <a:off x="6354298" y="1968500"/>
            <a:ext cx="5020603" cy="3352800"/>
          </a:xfrm>
          <a:prstGeom prst="rect">
            <a:avLst/>
          </a:prstGeom>
        </p:spPr>
      </p:pic>
      <p:sp>
        <p:nvSpPr>
          <p:cNvPr id="15" name="Rounded Rectangle 14"/>
          <p:cNvSpPr/>
          <p:nvPr/>
        </p:nvSpPr>
        <p:spPr>
          <a:xfrm>
            <a:off x="812800" y="5524500"/>
            <a:ext cx="10566400" cy="571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2200" b="0">
                <a:solidFill>
                  <a:srgbClr val="F6F8FB"/>
                </a:solidFill>
                <a:latin typeface="Arial"/>
              </a:rPr>
              <a:t>Theory gives the </a:t>
            </a:r>
            <a:r>
              <a:rPr sz="2200" b="1">
                <a:solidFill>
                  <a:srgbClr val="F6F8FB"/>
                </a:solidFill>
                <a:latin typeface="Arial"/>
              </a:rPr>
              <a:t>form</a:t>
            </a:r>
            <a:r>
              <a:rPr sz="2200" b="0">
                <a:solidFill>
                  <a:srgbClr val="F6F8FB"/>
                </a:solidFill>
                <a:latin typeface="Arial"/>
              </a:rPr>
              <a:t>.  </a:t>
            </a:r>
            <a:r>
              <a:rPr sz="2200" b="1">
                <a:solidFill>
                  <a:srgbClr val="66B2F0"/>
                </a:solidFill>
                <a:latin typeface="Arial"/>
              </a:rPr>
              <a:t>The data decides where t goes.</a:t>
            </a:r>
          </a:p>
        </p:txBody>
      </p:sp>
      <p:sp>
        <p:nvSpPr>
          <p:cNvPr id="16" name="TextBox 1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Accuracy with CLIMB stays within the loss you allow</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Accuracy (%)</a:t>
            </a:r>
          </a:p>
        </p:txBody>
      </p:sp>
      <p:pic>
        <p:nvPicPr>
          <p:cNvPr id="5" name="Picture 4" descr="c_acccmp.png"/>
          <p:cNvPicPr>
            <a:picLocks noChangeAspect="1"/>
          </p:cNvPicPr>
          <p:nvPr/>
        </p:nvPicPr>
        <p:blipFill>
          <a:blip r:embed="rId3"/>
          <a:stretch>
            <a:fillRect/>
          </a:stretch>
        </p:blipFill>
        <p:spPr>
          <a:xfrm>
            <a:off x="812800" y="1996955"/>
            <a:ext cx="5080000" cy="2610088"/>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Points lost vs always calling the team</a:t>
            </a:r>
          </a:p>
        </p:txBody>
      </p:sp>
      <p:pic>
        <p:nvPicPr>
          <p:cNvPr id="7" name="Picture 6" descr="c_drop.png"/>
          <p:cNvPicPr>
            <a:picLocks noChangeAspect="1"/>
          </p:cNvPicPr>
          <p:nvPr/>
        </p:nvPicPr>
        <p:blipFill>
          <a:blip r:embed="rId4"/>
          <a:stretch>
            <a:fillRect/>
          </a:stretch>
        </p:blipFill>
        <p:spPr>
          <a:xfrm>
            <a:off x="6299200" y="2021685"/>
            <a:ext cx="5080000" cy="256062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1.1–2.8 points lost</a:t>
            </a:r>
          </a:p>
          <a:p>
            <a:pPr algn="l">
              <a:lnSpc>
                <a:spcPct val="115000"/>
              </a:lnSpc>
              <a:spcAft>
                <a:spcPts val="0"/>
              </a:spcAft>
            </a:pPr>
            <a:r>
              <a:rPr sz="1700" b="0">
                <a:solidFill>
                  <a:srgbClr val="333B47"/>
                </a:solidFill>
                <a:latin typeface="Arial"/>
              </a:rPr>
              <a:t>allowed 5, on average over splits</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1.8–7.2 points lost</a:t>
            </a:r>
          </a:p>
          <a:p>
            <a:pPr algn="l">
              <a:lnSpc>
                <a:spcPct val="115000"/>
              </a:lnSpc>
              <a:spcAft>
                <a:spcPts val="0"/>
              </a:spcAft>
            </a:pPr>
            <a:r>
              <a:rPr sz="1700" b="0">
                <a:solidFill>
                  <a:srgbClr val="333B47"/>
                </a:solidFill>
                <a:latin typeface="Arial"/>
              </a:rPr>
              <a:t>allowed 10, on average over splits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