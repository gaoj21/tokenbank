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of LLM agents can be more accurate than one model call, but they cost several times as much. This talk is about when the team is worth calling, and how to skip it safely.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team is a standard plan, execute, review pipeline. Each bar is one model on one benchmark. The team uses 1.3 to 6.3 times the tokens of a single agent answering on its 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 tasks the single agent got wrong and the team fixed. Red: tasks the single agent got right and the team got wrong. The team wins on balance, but it also breaks answers, up to 9 percent of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the broken answers come from? In 84 percent of them the executor's first draft is already wrong, and the reviewer accepts it. Reviewers accept 23 to 58 percent of wrong answers. This is not just noise: rerunning the team reproduces about half of these losses.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is a ladder. Try the cheapest configuration first: a direct answer. If it looks reliable, stop. Otherwise try a single agent. Only if that also looks unreliable, call the full team. All three use the same model. The question is how to decide 'looks reliable'.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know a cheap answer is reliable? The first signal is free: the model's own confidence, its average token probability. Above the dashed line, confident answers are more often right. On three Gemma settings it points the wrong way: the model is confidently wrong. So any rule built on this signal must be checked, not trusted.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signal is also nearly free. The direct answer and the single agent answer independently. When they agree, the single agent is much more often right, for example 99 against 77 percent on gpt-oss-20b MATH. So CLIMB stops on agreeing tasks first.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natural shortcut is to pick a threshold by hand or by intuition. These rules can look fine on average but lose a lot on some settings. A fixed confidence threshold with the same average cost as CLIMB loses up to 16 points. Always using the single agent loses up to 9. CLIMB at a 5 point tolerance loses at most 2.8. In deployment, nothing tells you which setting is the bad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CLIMB turns this into a promise. You choose how much accuracy you can give up, say 5 points. CLIMB looks at a few hundred labelled tasks and returns the cheapest rule that keeps that promise, with 90 percent probability. If no cheaper rule qualifies, it simply calls the team every time, so the worst case is no savings, not lost accuracy.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real example: gpt-oss-120b on MuSiQue. Each dot is one possible threshold. On the left, almost everything goes to the team: safe but expensive. Moving right, more tasks stop early: cheaper but riskier. CLIMB tests them in this order and stops at the first one that fails. It deploys the cheapest one that passed, the star, at 57 percent of the tokens. Some grey dots are still under the line: the test is cautious, it needs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the test decide pass or fail? Think of a gambler who bets that skipping the team is harmless. Start with one dollar. For each calibration task, if skipping did no harm, the gambler wins a little. If it broke an answer, the gambler loses. If the wealth ever reaches 20 times the start, the rule passes. A safe rule makes the gambler rich fast. A rule that loses 6 points makes the gambler broke. The bet size adapts to how often skipping changes anything, which makes the test efficient.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detail matters a lot. Skipping the team is not only a risk. Sometimes the cheap answer is right and the team would have broken it. Standard tests count only the losses. CLIMB counts both sides, so these saved answers offset the lost ones.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the choice of test matter? Every test here is valid, they differ only in how much they can certify. A worst-case bound certifies nothing cheaper than the team. Ignoring the saved answers keeps 79 percent of tokens. CLIMB's test, which counts both sides and adapts to the variance, keeps 62 percent.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 on three open models and four benchmarks: math, two open-book question answering sets, and hard reasoning. We record every rung for every task once, then replay 200 random splits: half to calibrate CLIMB, half to evaluate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the promise hold? For each setting, the share of splits where CLIMB lost more than its tolerance. The guarantee allows up to 10 percent. We see at most 2 percent. A separate check with 5,000 random calibration draws per setting gives at most 3.4 percent.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much does it save? Each bar is the share of the team's tokens CLIMB uses. At a 5 point tolerance it saves 38 percent on average, at 10 points 65 percent. Savings are smallest where confidence points the wrong way, on Gemma, and the guarantee still holds there: CLIMB just calls the team more often.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not just tune the threshold on the same data, without the test? It is cheaper on paper, but it breaks the promise: at 5 points it fails on 31 percent of splits on average, against at most 2 percent for CLIMB. A rule tuned to the edge on one sample tends to cross it on the next. The extra tokens CLIMB spends are the price of the guarantee.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 up. Agent teams are expensive and sometimes hurt. CLIMB calls them only when cheaper answers cannot be certified, keeps a user-chosen accuracy promise, and saves 38 to 65 percent of tokens. The guarantee assumes calibration tasks look like deployment tasks.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12800" y="1905000"/>
            <a:ext cx="10566400" cy="254000"/>
          </a:xfrm>
          <a:prstGeom prst="rect">
            <a:avLst/>
          </a:prstGeom>
          <a:noFill/>
        </p:spPr>
        <p:txBody>
          <a:bodyPr wrap="square" lIns="0" rIns="0" tIns="0" bIns="0" anchor="t">
            <a:spAutoFit/>
          </a:bodyPr>
          <a:lstStyle/>
          <a:p>
            <a:pPr algn="l">
              <a:lnSpc>
                <a:spcPct val="115000"/>
              </a:lnSpc>
              <a:spcAft>
                <a:spcPts val="0"/>
              </a:spcAft>
            </a:pPr>
            <a:r>
              <a:rPr sz="1600" b="1">
                <a:solidFill>
                  <a:srgbClr val="F0A66B"/>
                </a:solidFill>
                <a:latin typeface="Arial"/>
              </a:rPr>
              <a:t>CLIMB</a:t>
            </a:r>
          </a:p>
        </p:txBody>
      </p:sp>
      <p:sp>
        <p:nvSpPr>
          <p:cNvPr id="3" name="TextBox 2"/>
          <p:cNvSpPr txBox="1"/>
          <p:nvPr/>
        </p:nvSpPr>
        <p:spPr>
          <a:xfrm>
            <a:off x="812800" y="2222500"/>
            <a:ext cx="10566400" cy="825500"/>
          </a:xfrm>
          <a:prstGeom prst="rect">
            <a:avLst/>
          </a:prstGeom>
          <a:noFill/>
        </p:spPr>
        <p:txBody>
          <a:bodyPr wrap="square" lIns="0" rIns="0" tIns="0" bIns="0" anchor="t">
            <a:spAutoFit/>
          </a:bodyPr>
          <a:lstStyle/>
          <a:p>
            <a:pPr algn="l">
              <a:lnSpc>
                <a:spcPct val="115000"/>
              </a:lnSpc>
              <a:spcAft>
                <a:spcPts val="0"/>
              </a:spcAft>
            </a:pPr>
            <a:r>
              <a:rPr sz="5600" b="1">
                <a:solidFill>
                  <a:srgbClr val="F7F6F2"/>
                </a:solidFill>
                <a:latin typeface="Georgia"/>
              </a:rPr>
              <a:t>When to Call the Team</a:t>
            </a:r>
          </a:p>
        </p:txBody>
      </p:sp>
      <p:sp>
        <p:nvSpPr>
          <p:cNvPr id="4" name="TextBox 3"/>
          <p:cNvSpPr txBox="1"/>
          <p:nvPr/>
        </p:nvSpPr>
        <p:spPr>
          <a:xfrm>
            <a:off x="812800" y="3143250"/>
            <a:ext cx="10566400" cy="381000"/>
          </a:xfrm>
          <a:prstGeom prst="rect">
            <a:avLst/>
          </a:prstGeom>
          <a:noFill/>
        </p:spPr>
        <p:txBody>
          <a:bodyPr wrap="square" lIns="0" rIns="0" tIns="0" bIns="0" anchor="t">
            <a:spAutoFit/>
          </a:bodyPr>
          <a:lstStyle/>
          <a:p>
            <a:pPr algn="l">
              <a:lnSpc>
                <a:spcPct val="115000"/>
              </a:lnSpc>
              <a:spcAft>
                <a:spcPts val="0"/>
              </a:spcAft>
            </a:pPr>
            <a:r>
              <a:rPr sz="2400" b="0">
                <a:solidFill>
                  <a:srgbClr val="C9D1E0"/>
                </a:solidFill>
                <a:latin typeface="Arial"/>
              </a:rPr>
              <a:t>Save tokens on multi-agent LLM pipelines, with a guarantee on accuracy</a:t>
            </a:r>
          </a:p>
        </p:txBody>
      </p:sp>
      <p:sp>
        <p:nvSpPr>
          <p:cNvPr id="5" name="Rectangle 4"/>
          <p:cNvSpPr/>
          <p:nvPr/>
        </p:nvSpPr>
        <p:spPr>
          <a:xfrm>
            <a:off x="812800" y="3810000"/>
            <a:ext cx="1524000" cy="31750"/>
          </a:xfrm>
          <a:prstGeom prst="rect">
            <a:avLst/>
          </a:prstGeom>
          <a:solidFill>
            <a:srgbClr val="F0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064000"/>
            <a:ext cx="10566400" cy="317500"/>
          </a:xfrm>
          <a:prstGeom prst="rect">
            <a:avLst/>
          </a:prstGeom>
          <a:noFill/>
        </p:spPr>
        <p:txBody>
          <a:bodyPr wrap="square" lIns="0" rIns="0" tIns="0" bIns="0" anchor="t">
            <a:spAutoFit/>
          </a:bodyPr>
          <a:lstStyle/>
          <a:p>
            <a:pPr algn="l">
              <a:lnSpc>
                <a:spcPct val="115000"/>
              </a:lnSpc>
              <a:spcAft>
                <a:spcPts val="0"/>
              </a:spcAft>
            </a:pPr>
            <a:r>
              <a:rPr sz="1800" b="0">
                <a:solidFill>
                  <a:srgbClr val="C9D1E0"/>
                </a:solidFill>
                <a:latin typeface="Arial"/>
              </a:rPr>
              <a:t>Jianjun Gao, Jinxin Liu, Dongyun Lin, Hongyun Cai, Zheng 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6B7280"/>
                </a:solidFill>
                <a:latin typeface="Arial"/>
              </a:rPr>
              <a:t>2</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B4541A"/>
                </a:solidFill>
                <a:latin typeface="Arial"/>
              </a:rPr>
              <a:t>THE PROBLEM</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000" b="1">
                <a:solidFill>
                  <a:srgbClr val="14213D"/>
                </a:solidFill>
                <a:latin typeface="Georgia"/>
              </a:rPr>
              <a:t>Agent teams cost several times more</a:t>
            </a:r>
          </a:p>
        </p:txBody>
      </p:sp>
      <p:pic>
        <p:nvPicPr>
          <p:cNvPr id="5" name="Picture 4" descr="c_cost.png"/>
          <p:cNvPicPr>
            <a:picLocks noChangeAspect="1"/>
          </p:cNvPicPr>
          <p:nvPr/>
        </p:nvPicPr>
        <p:blipFill>
          <a:blip r:embed="rId3"/>
          <a:stretch>
            <a:fillRect/>
          </a:stretch>
        </p:blipFill>
        <p:spPr>
          <a:xfrm>
            <a:off x="812800" y="1937672"/>
            <a:ext cx="7302500" cy="3871655"/>
          </a:xfrm>
          <a:prstGeom prst="rect">
            <a:avLst/>
          </a:prstGeom>
        </p:spPr>
      </p:pic>
      <p:sp>
        <p:nvSpPr>
          <p:cNvPr id="6" name="Rounded Rectangle 5"/>
          <p:cNvSpPr/>
          <p:nvPr/>
        </p:nvSpPr>
        <p:spPr>
          <a:xfrm>
            <a:off x="8445500" y="2286000"/>
            <a:ext cx="2933700" cy="1905000"/>
          </a:xfrm>
          <a:prstGeom prst="roundRect">
            <a:avLst>
              <a:gd name="adj" fmla="val 6000"/>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l">
              <a:lnSpc>
                <a:spcPct val="100000"/>
              </a:lnSpc>
              <a:spcAft>
                <a:spcPts val="600"/>
              </a:spcAft>
            </a:pPr>
            <a:r>
              <a:rPr sz="3600" b="1">
                <a:solidFill>
                  <a:srgbClr val="B4541A"/>
                </a:solidFill>
                <a:latin typeface="Georgia"/>
              </a:rPr>
              <a:t>up to 6.3×</a:t>
            </a:r>
          </a:p>
          <a:p>
            <a:pPr algn="l">
              <a:lnSpc>
                <a:spcPct val="115000"/>
              </a:lnSpc>
              <a:spcAft>
                <a:spcPts val="0"/>
              </a:spcAft>
            </a:pPr>
            <a:r>
              <a:rPr sz="1700" b="0">
                <a:solidFill>
                  <a:srgbClr val="3A4150"/>
                </a:solidFill>
                <a:latin typeface="Arial"/>
              </a:rPr>
              <a:t>the tokens of one agent answering alone</a:t>
            </a:r>
          </a:p>
        </p:txBody>
      </p:sp>
      <p:sp>
        <p:nvSpPr>
          <p:cNvPr id="7" name="TextBox 6"/>
          <p:cNvSpPr txBox="1"/>
          <p:nvPr/>
        </p:nvSpPr>
        <p:spPr>
          <a:xfrm>
            <a:off x="8445500" y="4445000"/>
            <a:ext cx="2933700" cy="1270000"/>
          </a:xfrm>
          <a:prstGeom prst="rect">
            <a:avLst/>
          </a:prstGeom>
          <a:noFill/>
        </p:spPr>
        <p:txBody>
          <a:bodyPr wrap="square" lIns="0" rIns="0" tIns="0" bIns="0" anchor="t">
            <a:spAutoFit/>
          </a:bodyPr>
          <a:lstStyle/>
          <a:p>
            <a:pPr algn="l">
              <a:lnSpc>
                <a:spcPct val="115000"/>
              </a:lnSpc>
              <a:spcAft>
                <a:spcPts val="0"/>
              </a:spcAft>
            </a:pPr>
            <a:r>
              <a:rPr sz="1800" b="0">
                <a:solidFill>
                  <a:srgbClr val="6B7280"/>
                </a:solidFill>
                <a:latin typeface="Arial"/>
              </a:rPr>
              <a:t>Planner, executor and reviewer each add calls, for up to 5 rounds.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6B7280"/>
                </a:solidFill>
                <a:latin typeface="Arial"/>
              </a:rPr>
              <a:t>3</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B4541A"/>
                </a:solidFill>
                <a:latin typeface="Arial"/>
              </a:rPr>
              <a:t>THE PROBLEM</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000" b="1">
                <a:solidFill>
                  <a:srgbClr val="14213D"/>
                </a:solidFill>
                <a:latin typeface="Georgia"/>
              </a:rPr>
              <a:t>…and they are not always better</a:t>
            </a:r>
          </a:p>
        </p:txBody>
      </p:sp>
      <p:pic>
        <p:nvPicPr>
          <p:cNvPr id="5" name="Picture 4" descr="c_flows.png"/>
          <p:cNvPicPr>
            <a:picLocks noChangeAspect="1"/>
          </p:cNvPicPr>
          <p:nvPr/>
        </p:nvPicPr>
        <p:blipFill>
          <a:blip r:embed="rId3"/>
          <a:stretch>
            <a:fillRect/>
          </a:stretch>
        </p:blipFill>
        <p:spPr>
          <a:xfrm>
            <a:off x="812800" y="1946618"/>
            <a:ext cx="7302500" cy="3853763"/>
          </a:xfrm>
          <a:prstGeom prst="rect">
            <a:avLst/>
          </a:prstGeom>
        </p:spPr>
      </p:pic>
      <p:sp>
        <p:nvSpPr>
          <p:cNvPr id="6" name="Rounded Rectangle 5"/>
          <p:cNvSpPr/>
          <p:nvPr/>
        </p:nvSpPr>
        <p:spPr>
          <a:xfrm>
            <a:off x="8445500" y="2095500"/>
            <a:ext cx="2933700" cy="1651000"/>
          </a:xfrm>
          <a:prstGeom prst="roundRect">
            <a:avLst>
              <a:gd name="adj" fmla="val 6923"/>
            </a:avLst>
          </a:prstGeom>
          <a:solidFill>
            <a:srgbClr val="E3ECE2"/>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l">
              <a:lnSpc>
                <a:spcPct val="100000"/>
              </a:lnSpc>
              <a:spcAft>
                <a:spcPts val="600"/>
              </a:spcAft>
            </a:pPr>
            <a:r>
              <a:rPr sz="3600" b="1">
                <a:solidFill>
                  <a:srgbClr val="2F6B34"/>
                </a:solidFill>
                <a:latin typeface="Georgia"/>
              </a:rPr>
              <a:t>up to 15%</a:t>
            </a:r>
          </a:p>
          <a:p>
            <a:pPr algn="l">
              <a:lnSpc>
                <a:spcPct val="115000"/>
              </a:lnSpc>
              <a:spcAft>
                <a:spcPts val="0"/>
              </a:spcAft>
            </a:pPr>
            <a:r>
              <a:rPr sz="1700" b="0">
                <a:solidFill>
                  <a:srgbClr val="3A4150"/>
                </a:solidFill>
                <a:latin typeface="Arial"/>
              </a:rPr>
              <a:t>of tasks: the team fixes a wrong answer</a:t>
            </a:r>
          </a:p>
        </p:txBody>
      </p:sp>
      <p:sp>
        <p:nvSpPr>
          <p:cNvPr id="7" name="Rounded Rectangle 6"/>
          <p:cNvSpPr/>
          <p:nvPr/>
        </p:nvSpPr>
        <p:spPr>
          <a:xfrm>
            <a:off x="8445500" y="4000500"/>
            <a:ext cx="2933700" cy="1651000"/>
          </a:xfrm>
          <a:prstGeom prst="roundRect">
            <a:avLst>
              <a:gd name="adj" fmla="val 6923"/>
            </a:avLst>
          </a:prstGeom>
          <a:solidFill>
            <a:srgbClr val="F6E3E0"/>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l">
              <a:lnSpc>
                <a:spcPct val="100000"/>
              </a:lnSpc>
              <a:spcAft>
                <a:spcPts val="600"/>
              </a:spcAft>
            </a:pPr>
            <a:r>
              <a:rPr sz="3600" b="1">
                <a:solidFill>
                  <a:srgbClr val="B03A2E"/>
                </a:solidFill>
                <a:latin typeface="Georgia"/>
              </a:rPr>
              <a:t>up to 9%</a:t>
            </a:r>
          </a:p>
          <a:p>
            <a:pPr algn="l">
              <a:lnSpc>
                <a:spcPct val="115000"/>
              </a:lnSpc>
              <a:spcAft>
                <a:spcPts val="0"/>
              </a:spcAft>
            </a:pPr>
            <a:r>
              <a:rPr sz="1700" b="0">
                <a:solidFill>
                  <a:srgbClr val="3A4150"/>
                </a:solidFill>
                <a:latin typeface="Arial"/>
              </a:rPr>
              <a:t>of tasks: the team breaks a right answer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6B7280"/>
                </a:solidFill>
                <a:latin typeface="Arial"/>
              </a:rPr>
              <a:t>4</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B4541A"/>
                </a:solidFill>
                <a:latin typeface="Arial"/>
              </a:rPr>
              <a:t>THE PROBLEM</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000" b="1">
                <a:solidFill>
                  <a:srgbClr val="14213D"/>
                </a:solidFill>
                <a:latin typeface="Georgia"/>
              </a:rPr>
              <a:t>Why does the team break right answers?</a:t>
            </a:r>
          </a:p>
        </p:txBody>
      </p:sp>
      <p:sp>
        <p:nvSpPr>
          <p:cNvPr id="5" name="Rounded Rectangle 4"/>
          <p:cNvSpPr/>
          <p:nvPr/>
        </p:nvSpPr>
        <p:spPr>
          <a:xfrm>
            <a:off x="812800" y="2095500"/>
            <a:ext cx="2159000" cy="1397000"/>
          </a:xfrm>
          <a:prstGeom prst="roundRect">
            <a:avLst>
              <a:gd name="adj" fmla="val 8181"/>
            </a:avLst>
          </a:prstGeom>
          <a:solidFill>
            <a:srgbClr val="E2EAF5"/>
          </a:solidFill>
          <a:ln w="31750">
            <a:solidFill>
              <a:srgbClr val="2E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101600" bIns="101600"/>
          <a:lstStyle/>
          <a:p>
            <a:pPr algn="ctr">
              <a:lnSpc>
                <a:spcPct val="115000"/>
              </a:lnSpc>
              <a:spcAft>
                <a:spcPts val="800"/>
              </a:spcAft>
            </a:pPr>
            <a:r>
              <a:rPr sz="2200" b="1">
                <a:solidFill>
                  <a:srgbClr val="14213D"/>
                </a:solidFill>
                <a:latin typeface="Arial"/>
              </a:rPr>
              <a:t>Planner</a:t>
            </a:r>
          </a:p>
          <a:p>
            <a:pPr algn="ctr">
              <a:lnSpc>
                <a:spcPct val="115000"/>
              </a:lnSpc>
              <a:spcAft>
                <a:spcPts val="0"/>
              </a:spcAft>
            </a:pPr>
            <a:r>
              <a:rPr sz="1700" b="1">
                <a:solidFill>
                  <a:srgbClr val="2E5C99"/>
                </a:solidFill>
                <a:latin typeface="Arial"/>
              </a:rPr>
              <a:t>writes a plan</a:t>
            </a:r>
          </a:p>
        </p:txBody>
      </p:sp>
      <p:sp>
        <p:nvSpPr>
          <p:cNvPr id="6" name="Right Arrow 5"/>
          <p:cNvSpPr/>
          <p:nvPr/>
        </p:nvSpPr>
        <p:spPr>
          <a:xfrm>
            <a:off x="3048000" y="2635250"/>
            <a:ext cx="419100" cy="31750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543300" y="2095500"/>
            <a:ext cx="2159000" cy="1397000"/>
          </a:xfrm>
          <a:prstGeom prst="roundRect">
            <a:avLst>
              <a:gd name="adj" fmla="val 8181"/>
            </a:avLst>
          </a:prstGeom>
          <a:solidFill>
            <a:srgbClr val="F6E3E0"/>
          </a:solidFill>
          <a:ln w="31750">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101600" bIns="101600"/>
          <a:lstStyle/>
          <a:p>
            <a:pPr algn="ctr">
              <a:lnSpc>
                <a:spcPct val="115000"/>
              </a:lnSpc>
              <a:spcAft>
                <a:spcPts val="800"/>
              </a:spcAft>
            </a:pPr>
            <a:r>
              <a:rPr sz="2200" b="1">
                <a:solidFill>
                  <a:srgbClr val="14213D"/>
                </a:solidFill>
                <a:latin typeface="Arial"/>
              </a:rPr>
              <a:t>Executor</a:t>
            </a:r>
          </a:p>
          <a:p>
            <a:pPr algn="ctr">
              <a:lnSpc>
                <a:spcPct val="115000"/>
              </a:lnSpc>
              <a:spcAft>
                <a:spcPts val="0"/>
              </a:spcAft>
            </a:pPr>
            <a:r>
              <a:rPr sz="1700" b="1">
                <a:solidFill>
                  <a:srgbClr val="B03A2E"/>
                </a:solidFill>
                <a:latin typeface="Arial"/>
              </a:rPr>
              <a:t>first draft is WRONG</a:t>
            </a:r>
          </a:p>
        </p:txBody>
      </p:sp>
      <p:sp>
        <p:nvSpPr>
          <p:cNvPr id="8" name="Right Arrow 7"/>
          <p:cNvSpPr/>
          <p:nvPr/>
        </p:nvSpPr>
        <p:spPr>
          <a:xfrm>
            <a:off x="5778500" y="2635250"/>
            <a:ext cx="419100" cy="31750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73800" y="2095500"/>
            <a:ext cx="2159000" cy="1397000"/>
          </a:xfrm>
          <a:prstGeom prst="roundRect">
            <a:avLst>
              <a:gd name="adj" fmla="val 8181"/>
            </a:avLst>
          </a:prstGeom>
          <a:solidFill>
            <a:srgbClr val="E2EAF5"/>
          </a:solidFill>
          <a:ln w="31750">
            <a:solidFill>
              <a:srgbClr val="2E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101600" bIns="101600"/>
          <a:lstStyle/>
          <a:p>
            <a:pPr algn="ctr">
              <a:lnSpc>
                <a:spcPct val="115000"/>
              </a:lnSpc>
              <a:spcAft>
                <a:spcPts val="800"/>
              </a:spcAft>
            </a:pPr>
            <a:r>
              <a:rPr sz="2200" b="1">
                <a:solidFill>
                  <a:srgbClr val="14213D"/>
                </a:solidFill>
                <a:latin typeface="Arial"/>
              </a:rPr>
              <a:t>Reviewer</a:t>
            </a:r>
          </a:p>
          <a:p>
            <a:pPr algn="ctr">
              <a:lnSpc>
                <a:spcPct val="115000"/>
              </a:lnSpc>
              <a:spcAft>
                <a:spcPts val="0"/>
              </a:spcAft>
            </a:pPr>
            <a:r>
              <a:rPr sz="1700" b="1">
                <a:solidFill>
                  <a:srgbClr val="2E5C99"/>
                </a:solidFill>
                <a:latin typeface="Arial"/>
              </a:rPr>
              <a:t>“Looks good” ACCEPTED</a:t>
            </a:r>
          </a:p>
        </p:txBody>
      </p:sp>
      <p:sp>
        <p:nvSpPr>
          <p:cNvPr id="10" name="Right Arrow 9"/>
          <p:cNvSpPr/>
          <p:nvPr/>
        </p:nvSpPr>
        <p:spPr>
          <a:xfrm>
            <a:off x="8509000" y="2635250"/>
            <a:ext cx="419100" cy="31750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004300" y="2095500"/>
            <a:ext cx="2159000" cy="1397000"/>
          </a:xfrm>
          <a:prstGeom prst="roundRect">
            <a:avLst>
              <a:gd name="adj" fmla="val 8181"/>
            </a:avLst>
          </a:prstGeom>
          <a:solidFill>
            <a:srgbClr val="F6E3E0"/>
          </a:solidFill>
          <a:ln w="31750">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101600" bIns="101600"/>
          <a:lstStyle/>
          <a:p>
            <a:pPr algn="ctr">
              <a:lnSpc>
                <a:spcPct val="115000"/>
              </a:lnSpc>
              <a:spcAft>
                <a:spcPts val="800"/>
              </a:spcAft>
            </a:pPr>
            <a:r>
              <a:rPr sz="2200" b="1">
                <a:solidFill>
                  <a:srgbClr val="14213D"/>
                </a:solidFill>
                <a:latin typeface="Arial"/>
              </a:rPr>
              <a:t>Final answer</a:t>
            </a:r>
          </a:p>
          <a:p>
            <a:pPr algn="ctr">
              <a:lnSpc>
                <a:spcPct val="115000"/>
              </a:lnSpc>
              <a:spcAft>
                <a:spcPts val="0"/>
              </a:spcAft>
            </a:pPr>
            <a:r>
              <a:rPr sz="1700" b="1">
                <a:solidFill>
                  <a:srgbClr val="B03A2E"/>
                </a:solidFill>
                <a:latin typeface="Arial"/>
              </a:rPr>
              <a:t>WRONG</a:t>
            </a:r>
          </a:p>
        </p:txBody>
      </p:sp>
      <p:sp>
        <p:nvSpPr>
          <p:cNvPr id="12" name="Rounded Rectangle 11"/>
          <p:cNvSpPr/>
          <p:nvPr/>
        </p:nvSpPr>
        <p:spPr>
          <a:xfrm>
            <a:off x="812800" y="4064000"/>
            <a:ext cx="5080000" cy="1587500"/>
          </a:xfrm>
          <a:prstGeom prst="roundRect">
            <a:avLst>
              <a:gd name="adj" fmla="val 7199"/>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l">
              <a:lnSpc>
                <a:spcPct val="100000"/>
              </a:lnSpc>
              <a:spcAft>
                <a:spcPts val="600"/>
              </a:spcAft>
            </a:pPr>
            <a:r>
              <a:rPr sz="3600" b="1">
                <a:solidFill>
                  <a:srgbClr val="B03A2E"/>
                </a:solidFill>
                <a:latin typeface="Georgia"/>
              </a:rPr>
              <a:t>84%</a:t>
            </a:r>
          </a:p>
          <a:p>
            <a:pPr algn="l">
              <a:lnSpc>
                <a:spcPct val="115000"/>
              </a:lnSpc>
              <a:spcAft>
                <a:spcPts val="0"/>
              </a:spcAft>
            </a:pPr>
            <a:r>
              <a:rPr sz="1700" b="0">
                <a:solidFill>
                  <a:srgbClr val="3A4150"/>
                </a:solidFill>
                <a:latin typeface="Arial"/>
              </a:rPr>
              <a:t>of broken answers start as a wrong first draft the reviewer did not catch</a:t>
            </a:r>
          </a:p>
        </p:txBody>
      </p:sp>
      <p:sp>
        <p:nvSpPr>
          <p:cNvPr id="13" name="Rounded Rectangle 12"/>
          <p:cNvSpPr/>
          <p:nvPr/>
        </p:nvSpPr>
        <p:spPr>
          <a:xfrm>
            <a:off x="6299200" y="4064000"/>
            <a:ext cx="5080000" cy="1587500"/>
          </a:xfrm>
          <a:prstGeom prst="roundRect">
            <a:avLst>
              <a:gd name="adj" fmla="val 7199"/>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l">
              <a:lnSpc>
                <a:spcPct val="100000"/>
              </a:lnSpc>
              <a:spcAft>
                <a:spcPts val="600"/>
              </a:spcAft>
            </a:pPr>
            <a:r>
              <a:rPr sz="3600" b="1">
                <a:solidFill>
                  <a:srgbClr val="B03A2E"/>
                </a:solidFill>
                <a:latin typeface="Georgia"/>
              </a:rPr>
              <a:t>23–58%</a:t>
            </a:r>
          </a:p>
          <a:p>
            <a:pPr algn="l">
              <a:lnSpc>
                <a:spcPct val="115000"/>
              </a:lnSpc>
              <a:spcAft>
                <a:spcPts val="0"/>
              </a:spcAft>
            </a:pPr>
            <a:r>
              <a:rPr sz="1700" b="0">
                <a:solidFill>
                  <a:srgbClr val="3A4150"/>
                </a:solidFill>
                <a:latin typeface="Arial"/>
              </a:rPr>
              <a:t>of wrong answers are accepted by the reviewer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6B7280"/>
                </a:solidFill>
                <a:latin typeface="Arial"/>
              </a:rPr>
              <a:t>5</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B4541A"/>
                </a:solidFill>
                <a:latin typeface="Arial"/>
              </a:rPr>
              <a:t>THE IDEA</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000" b="1">
                <a:solidFill>
                  <a:srgbClr val="14213D"/>
                </a:solidFill>
                <a:latin typeface="Georgia"/>
              </a:rPr>
              <a:t>Climb a ladder: call the team only when needed</a:t>
            </a:r>
          </a:p>
        </p:txBody>
      </p:sp>
      <p:sp>
        <p:nvSpPr>
          <p:cNvPr id="5" name="Rectangle 4"/>
          <p:cNvSpPr/>
          <p:nvPr/>
        </p:nvSpPr>
        <p:spPr>
          <a:xfrm>
            <a:off x="1016000" y="4127500"/>
            <a:ext cx="2540000" cy="1587500"/>
          </a:xfrm>
          <a:prstGeom prst="rect">
            <a:avLst/>
          </a:prstGeom>
          <a:solidFill>
            <a:srgbClr val="E2EAF5"/>
          </a:solidFill>
          <a:ln w="31750">
            <a:solidFill>
              <a:srgbClr val="2E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76200" bIns="76200"/>
          <a:lstStyle/>
          <a:p>
            <a:pPr algn="ctr">
              <a:lnSpc>
                <a:spcPct val="115000"/>
              </a:lnSpc>
              <a:spcAft>
                <a:spcPts val="600"/>
              </a:spcAft>
            </a:pPr>
            <a:r>
              <a:rPr sz="2400" b="1">
                <a:solidFill>
                  <a:srgbClr val="14213D"/>
                </a:solidFill>
                <a:latin typeface="Arial"/>
              </a:rPr>
              <a:t>Direct answer</a:t>
            </a:r>
          </a:p>
          <a:p>
            <a:pPr algn="ctr">
              <a:lnSpc>
                <a:spcPct val="115000"/>
              </a:lnSpc>
              <a:spcAft>
                <a:spcPts val="0"/>
              </a:spcAft>
            </a:pPr>
            <a:r>
              <a:rPr sz="1800" b="1">
                <a:solidFill>
                  <a:srgbClr val="2E5C99"/>
                </a:solidFill>
                <a:latin typeface="Arial"/>
              </a:rPr>
              <a:t>cheapest</a:t>
            </a:r>
          </a:p>
        </p:txBody>
      </p:sp>
      <p:sp>
        <p:nvSpPr>
          <p:cNvPr id="6" name="TextBox 5"/>
          <p:cNvSpPr txBox="1"/>
          <p:nvPr/>
        </p:nvSpPr>
        <p:spPr>
          <a:xfrm>
            <a:off x="3556000" y="4064000"/>
            <a:ext cx="1016000" cy="381000"/>
          </a:xfrm>
          <a:prstGeom prst="rect">
            <a:avLst/>
          </a:prstGeom>
          <a:noFill/>
        </p:spPr>
        <p:txBody>
          <a:bodyPr wrap="square" lIns="0" rIns="0" tIns="0" bIns="0" anchor="t">
            <a:spAutoFit/>
          </a:bodyPr>
          <a:lstStyle/>
          <a:p>
            <a:pPr algn="ctr">
              <a:lnSpc>
                <a:spcPct val="115000"/>
              </a:lnSpc>
              <a:spcAft>
                <a:spcPts val="0"/>
              </a:spcAft>
            </a:pPr>
            <a:r>
              <a:rPr sz="1500" b="1">
                <a:solidFill>
                  <a:srgbClr val="6B7280"/>
                </a:solidFill>
                <a:latin typeface="Arial"/>
              </a:rPr>
              <a:t>not sure?
go up</a:t>
            </a:r>
          </a:p>
        </p:txBody>
      </p:sp>
      <p:sp>
        <p:nvSpPr>
          <p:cNvPr id="7" name="Right Arrow 6"/>
          <p:cNvSpPr/>
          <p:nvPr/>
        </p:nvSpPr>
        <p:spPr>
          <a:xfrm>
            <a:off x="3651250" y="4572000"/>
            <a:ext cx="825500" cy="27940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3238500"/>
            <a:ext cx="2540000" cy="2476500"/>
          </a:xfrm>
          <a:prstGeom prst="rect">
            <a:avLst/>
          </a:prstGeom>
          <a:solidFill>
            <a:srgbClr val="E2EAF5"/>
          </a:solidFill>
          <a:ln w="31750">
            <a:solidFill>
              <a:srgbClr val="2E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76200" bIns="76200"/>
          <a:lstStyle/>
          <a:p>
            <a:pPr algn="ctr">
              <a:lnSpc>
                <a:spcPct val="115000"/>
              </a:lnSpc>
              <a:spcAft>
                <a:spcPts val="600"/>
              </a:spcAft>
            </a:pPr>
            <a:r>
              <a:rPr sz="2400" b="1">
                <a:solidFill>
                  <a:srgbClr val="14213D"/>
                </a:solidFill>
                <a:latin typeface="Arial"/>
              </a:rPr>
              <a:t>Single agent</a:t>
            </a:r>
          </a:p>
          <a:p>
            <a:pPr algn="ctr">
              <a:lnSpc>
                <a:spcPct val="115000"/>
              </a:lnSpc>
              <a:spcAft>
                <a:spcPts val="0"/>
              </a:spcAft>
            </a:pPr>
            <a:r>
              <a:rPr sz="1800" b="1">
                <a:solidFill>
                  <a:srgbClr val="2E5C99"/>
                </a:solidFill>
                <a:latin typeface="Arial"/>
              </a:rPr>
              <a:t>medium</a:t>
            </a:r>
          </a:p>
        </p:txBody>
      </p:sp>
      <p:sp>
        <p:nvSpPr>
          <p:cNvPr id="9" name="TextBox 8"/>
          <p:cNvSpPr txBox="1"/>
          <p:nvPr/>
        </p:nvSpPr>
        <p:spPr>
          <a:xfrm>
            <a:off x="7112000" y="3175000"/>
            <a:ext cx="1016000" cy="381000"/>
          </a:xfrm>
          <a:prstGeom prst="rect">
            <a:avLst/>
          </a:prstGeom>
          <a:noFill/>
        </p:spPr>
        <p:txBody>
          <a:bodyPr wrap="square" lIns="0" rIns="0" tIns="0" bIns="0" anchor="t">
            <a:spAutoFit/>
          </a:bodyPr>
          <a:lstStyle/>
          <a:p>
            <a:pPr algn="ctr">
              <a:lnSpc>
                <a:spcPct val="115000"/>
              </a:lnSpc>
              <a:spcAft>
                <a:spcPts val="0"/>
              </a:spcAft>
            </a:pPr>
            <a:r>
              <a:rPr sz="1500" b="1">
                <a:solidFill>
                  <a:srgbClr val="6B7280"/>
                </a:solidFill>
                <a:latin typeface="Arial"/>
              </a:rPr>
              <a:t>not sure?
go up</a:t>
            </a:r>
          </a:p>
        </p:txBody>
      </p:sp>
      <p:sp>
        <p:nvSpPr>
          <p:cNvPr id="10" name="Right Arrow 9"/>
          <p:cNvSpPr/>
          <p:nvPr/>
        </p:nvSpPr>
        <p:spPr>
          <a:xfrm>
            <a:off x="7207250" y="3683000"/>
            <a:ext cx="825500" cy="27940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28000" y="2349500"/>
            <a:ext cx="2540000" cy="3365500"/>
          </a:xfrm>
          <a:prstGeom prst="rect">
            <a:avLst/>
          </a:prstGeom>
          <a:solidFill>
            <a:srgbClr val="F8E8DC"/>
          </a:solidFill>
          <a:ln w="31750">
            <a:solidFill>
              <a:srgbClr val="B4541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76200" bIns="76200"/>
          <a:lstStyle/>
          <a:p>
            <a:pPr algn="ctr">
              <a:lnSpc>
                <a:spcPct val="115000"/>
              </a:lnSpc>
              <a:spcAft>
                <a:spcPts val="600"/>
              </a:spcAft>
            </a:pPr>
            <a:r>
              <a:rPr sz="2400" b="1">
                <a:solidFill>
                  <a:srgbClr val="14213D"/>
                </a:solidFill>
                <a:latin typeface="Arial"/>
              </a:rPr>
              <a:t>Agent team</a:t>
            </a:r>
          </a:p>
          <a:p>
            <a:pPr algn="ctr">
              <a:lnSpc>
                <a:spcPct val="115000"/>
              </a:lnSpc>
              <a:spcAft>
                <a:spcPts val="0"/>
              </a:spcAft>
            </a:pPr>
            <a:r>
              <a:rPr sz="1800" b="1">
                <a:solidFill>
                  <a:srgbClr val="B4541A"/>
                </a:solidFill>
                <a:latin typeface="Arial"/>
              </a:rPr>
              <a:t>most expensive</a:t>
            </a:r>
          </a:p>
        </p:txBody>
      </p:sp>
      <p:sp>
        <p:nvSpPr>
          <p:cNvPr id="12" name="TextBox 11"/>
          <p:cNvSpPr txBox="1"/>
          <p:nvPr/>
        </p:nvSpPr>
        <p:spPr>
          <a:xfrm>
            <a:off x="1016000" y="5842000"/>
            <a:ext cx="2540000" cy="317500"/>
          </a:xfrm>
          <a:prstGeom prst="rect">
            <a:avLst/>
          </a:prstGeom>
          <a:noFill/>
        </p:spPr>
        <p:txBody>
          <a:bodyPr wrap="square" lIns="0" rIns="0" tIns="0" bIns="0" anchor="t">
            <a:spAutoFit/>
          </a:bodyPr>
          <a:lstStyle/>
          <a:p>
            <a:pPr algn="ctr">
              <a:lnSpc>
                <a:spcPct val="115000"/>
              </a:lnSpc>
              <a:spcAft>
                <a:spcPts val="0"/>
              </a:spcAft>
            </a:pPr>
            <a:r>
              <a:rPr sz="1700" b="1">
                <a:solidFill>
                  <a:srgbClr val="2F6B34"/>
                </a:solidFill>
                <a:latin typeface="Arial"/>
              </a:rPr>
              <a:t>sure? stop and answer</a:t>
            </a:r>
          </a:p>
        </p:txBody>
      </p:sp>
      <p:sp>
        <p:nvSpPr>
          <p:cNvPr id="13" name="TextBox 12"/>
          <p:cNvSpPr txBox="1"/>
          <p:nvPr/>
        </p:nvSpPr>
        <p:spPr>
          <a:xfrm>
            <a:off x="4572000" y="5842000"/>
            <a:ext cx="2540000" cy="317500"/>
          </a:xfrm>
          <a:prstGeom prst="rect">
            <a:avLst/>
          </a:prstGeom>
          <a:noFill/>
        </p:spPr>
        <p:txBody>
          <a:bodyPr wrap="square" lIns="0" rIns="0" tIns="0" bIns="0" anchor="t">
            <a:spAutoFit/>
          </a:bodyPr>
          <a:lstStyle/>
          <a:p>
            <a:pPr algn="ctr">
              <a:lnSpc>
                <a:spcPct val="115000"/>
              </a:lnSpc>
              <a:spcAft>
                <a:spcPts val="0"/>
              </a:spcAft>
            </a:pPr>
            <a:r>
              <a:rPr sz="1700" b="1">
                <a:solidFill>
                  <a:srgbClr val="2F6B34"/>
                </a:solidFill>
                <a:latin typeface="Arial"/>
              </a:rPr>
              <a:t>sure? stop and answer</a:t>
            </a:r>
          </a:p>
        </p:txBody>
      </p:sp>
      <p:sp>
        <p:nvSpPr>
          <p:cNvPr id="14" name="TextBox 13"/>
          <p:cNvSpPr txBox="1"/>
          <p:nvPr/>
        </p:nvSpPr>
        <p:spPr>
          <a:xfrm>
            <a:off x="8128000" y="5842000"/>
            <a:ext cx="2540000" cy="317500"/>
          </a:xfrm>
          <a:prstGeom prst="rect">
            <a:avLst/>
          </a:prstGeom>
          <a:noFill/>
        </p:spPr>
        <p:txBody>
          <a:bodyPr wrap="square" lIns="0" rIns="0" tIns="0" bIns="0" anchor="t">
            <a:spAutoFit/>
          </a:bodyPr>
          <a:lstStyle/>
          <a:p>
            <a:pPr algn="ctr">
              <a:lnSpc>
                <a:spcPct val="115000"/>
              </a:lnSpc>
              <a:spcAft>
                <a:spcPts val="0"/>
              </a:spcAft>
            </a:pPr>
            <a:r>
              <a:rPr sz="1700" b="1">
                <a:solidFill>
                  <a:srgbClr val="B4541A"/>
                </a:solidFill>
                <a:latin typeface="Arial"/>
              </a:rPr>
              <a:t>always answers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6B7280"/>
                </a:solidFill>
                <a:latin typeface="Arial"/>
              </a:rPr>
              <a:t>6</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B4541A"/>
                </a:solidFill>
                <a:latin typeface="Arial"/>
              </a:rPr>
              <a:t>SIGNALS</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000" b="1">
                <a:solidFill>
                  <a:srgbClr val="14213D"/>
                </a:solidFill>
                <a:latin typeface="Georgia"/>
              </a:rPr>
              <a:t>Signal 1: how confident is the direct answer?</a:t>
            </a:r>
          </a:p>
        </p:txBody>
      </p:sp>
      <p:pic>
        <p:nvPicPr>
          <p:cNvPr id="5" name="Picture 4" descr="c_auroc.png"/>
          <p:cNvPicPr>
            <a:picLocks noChangeAspect="1"/>
          </p:cNvPicPr>
          <p:nvPr/>
        </p:nvPicPr>
        <p:blipFill>
          <a:blip r:embed="rId3"/>
          <a:stretch>
            <a:fillRect/>
          </a:stretch>
        </p:blipFill>
        <p:spPr>
          <a:xfrm>
            <a:off x="812800" y="2046894"/>
            <a:ext cx="7302500" cy="3653211"/>
          </a:xfrm>
          <a:prstGeom prst="rect">
            <a:avLst/>
          </a:prstGeom>
        </p:spPr>
      </p:pic>
      <p:sp>
        <p:nvSpPr>
          <p:cNvPr id="6" name="Rounded Rectangle 5"/>
          <p:cNvSpPr/>
          <p:nvPr/>
        </p:nvSpPr>
        <p:spPr>
          <a:xfrm>
            <a:off x="8445500" y="2095500"/>
            <a:ext cx="2933700" cy="1651000"/>
          </a:xfrm>
          <a:prstGeom prst="roundRect">
            <a:avLst>
              <a:gd name="adj" fmla="val 6923"/>
            </a:avLst>
          </a:prstGeom>
          <a:solidFill>
            <a:srgbClr val="E2EAF5"/>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l">
              <a:lnSpc>
                <a:spcPct val="100000"/>
              </a:lnSpc>
              <a:spcAft>
                <a:spcPts val="600"/>
              </a:spcAft>
            </a:pPr>
            <a:r>
              <a:rPr sz="3600" b="1">
                <a:solidFill>
                  <a:srgbClr val="2E5C99"/>
                </a:solidFill>
                <a:latin typeface="Georgia"/>
              </a:rPr>
              <a:t>usually helps</a:t>
            </a:r>
          </a:p>
          <a:p>
            <a:pPr algn="l">
              <a:lnSpc>
                <a:spcPct val="115000"/>
              </a:lnSpc>
              <a:spcAft>
                <a:spcPts val="0"/>
              </a:spcAft>
            </a:pPr>
            <a:r>
              <a:rPr sz="1700" b="0">
                <a:solidFill>
                  <a:srgbClr val="3A4150"/>
                </a:solidFill>
                <a:latin typeface="Arial"/>
              </a:rPr>
              <a:t>confident answers tend to be right</a:t>
            </a:r>
          </a:p>
        </p:txBody>
      </p:sp>
      <p:sp>
        <p:nvSpPr>
          <p:cNvPr id="7" name="Rounded Rectangle 6"/>
          <p:cNvSpPr/>
          <p:nvPr/>
        </p:nvSpPr>
        <p:spPr>
          <a:xfrm>
            <a:off x="8445500" y="4000500"/>
            <a:ext cx="2933700" cy="1651000"/>
          </a:xfrm>
          <a:prstGeom prst="roundRect">
            <a:avLst>
              <a:gd name="adj" fmla="val 6923"/>
            </a:avLst>
          </a:prstGeom>
          <a:solidFill>
            <a:srgbClr val="F6E3E0"/>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l">
              <a:lnSpc>
                <a:spcPct val="100000"/>
              </a:lnSpc>
              <a:spcAft>
                <a:spcPts val="600"/>
              </a:spcAft>
            </a:pPr>
            <a:r>
              <a:rPr sz="3600" b="1">
                <a:solidFill>
                  <a:srgbClr val="B03A2E"/>
                </a:solidFill>
                <a:latin typeface="Georgia"/>
              </a:rPr>
              <a:t>3 of 12</a:t>
            </a:r>
          </a:p>
          <a:p>
            <a:pPr algn="l">
              <a:lnSpc>
                <a:spcPct val="115000"/>
              </a:lnSpc>
              <a:spcAft>
                <a:spcPts val="0"/>
              </a:spcAft>
            </a:pPr>
            <a:r>
              <a:rPr sz="1700" b="0">
                <a:solidFill>
                  <a:srgbClr val="3A4150"/>
                </a:solidFill>
                <a:latin typeface="Arial"/>
              </a:rPr>
              <a:t>settings where it points the wrong way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6B7280"/>
                </a:solidFill>
                <a:latin typeface="Arial"/>
              </a:rPr>
              <a:t>7</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B4541A"/>
                </a:solidFill>
                <a:latin typeface="Arial"/>
              </a:rPr>
              <a:t>SIGNALS</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000" b="1">
                <a:solidFill>
                  <a:srgbClr val="14213D"/>
                </a:solidFill>
                <a:latin typeface="Georgia"/>
              </a:rPr>
              <a:t>Signal 2: do two cheap answers agree?</a:t>
            </a:r>
          </a:p>
        </p:txBody>
      </p:sp>
      <p:pic>
        <p:nvPicPr>
          <p:cNvPr id="5" name="Picture 4" descr="c_agree.png"/>
          <p:cNvPicPr>
            <a:picLocks noChangeAspect="1"/>
          </p:cNvPicPr>
          <p:nvPr/>
        </p:nvPicPr>
        <p:blipFill>
          <a:blip r:embed="rId3"/>
          <a:stretch>
            <a:fillRect/>
          </a:stretch>
        </p:blipFill>
        <p:spPr>
          <a:xfrm>
            <a:off x="812800" y="1922942"/>
            <a:ext cx="7302500" cy="3901114"/>
          </a:xfrm>
          <a:prstGeom prst="rect">
            <a:avLst/>
          </a:prstGeom>
        </p:spPr>
      </p:pic>
      <p:sp>
        <p:nvSpPr>
          <p:cNvPr id="6" name="Rounded Rectangle 5"/>
          <p:cNvSpPr/>
          <p:nvPr/>
        </p:nvSpPr>
        <p:spPr>
          <a:xfrm>
            <a:off x="8445500" y="2286000"/>
            <a:ext cx="2933700" cy="1905000"/>
          </a:xfrm>
          <a:prstGeom prst="roundRect">
            <a:avLst>
              <a:gd name="adj" fmla="val 6000"/>
            </a:avLst>
          </a:prstGeom>
          <a:solidFill>
            <a:srgbClr val="E3ECE2"/>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l">
              <a:lnSpc>
                <a:spcPct val="100000"/>
              </a:lnSpc>
              <a:spcAft>
                <a:spcPts val="600"/>
              </a:spcAft>
            </a:pPr>
            <a:r>
              <a:rPr sz="3600" b="1">
                <a:solidFill>
                  <a:srgbClr val="2F6B34"/>
                </a:solidFill>
                <a:latin typeface="Georgia"/>
              </a:rPr>
              <a:t>agree</a:t>
            </a:r>
          </a:p>
          <a:p>
            <a:pPr algn="l">
              <a:lnSpc>
                <a:spcPct val="115000"/>
              </a:lnSpc>
              <a:spcAft>
                <a:spcPts val="0"/>
              </a:spcAft>
            </a:pPr>
            <a:r>
              <a:rPr sz="1700" b="0">
                <a:solidFill>
                  <a:srgbClr val="3A4150"/>
                </a:solidFill>
                <a:latin typeface="Arial"/>
              </a:rPr>
              <a:t>→ the single agent is usually right</a:t>
            </a:r>
          </a:p>
        </p:txBody>
      </p:sp>
      <p:sp>
        <p:nvSpPr>
          <p:cNvPr id="7" name="TextBox 6"/>
          <p:cNvSpPr txBox="1"/>
          <p:nvPr/>
        </p:nvSpPr>
        <p:spPr>
          <a:xfrm>
            <a:off x="8445500" y="4445000"/>
            <a:ext cx="2933700" cy="1270000"/>
          </a:xfrm>
          <a:prstGeom prst="rect">
            <a:avLst/>
          </a:prstGeom>
          <a:noFill/>
        </p:spPr>
        <p:txBody>
          <a:bodyPr wrap="square" lIns="0" rIns="0" tIns="0" bIns="0" anchor="t">
            <a:spAutoFit/>
          </a:bodyPr>
          <a:lstStyle/>
          <a:p>
            <a:pPr algn="l">
              <a:lnSpc>
                <a:spcPct val="115000"/>
              </a:lnSpc>
              <a:spcAft>
                <a:spcPts val="0"/>
              </a:spcAft>
            </a:pPr>
            <a:r>
              <a:rPr sz="1800" b="0">
                <a:solidFill>
                  <a:srgbClr val="6B7280"/>
                </a:solidFill>
                <a:latin typeface="Arial"/>
              </a:rPr>
              <a:t>Neither answer sees the other, so agreement costs nothing extra.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6B7280"/>
                </a:solidFill>
                <a:latin typeface="Arial"/>
              </a:rPr>
              <a:t>8</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B4541A"/>
                </a:solidFill>
                <a:latin typeface="Arial"/>
              </a:rPr>
              <a:t>THE PROBLEM</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000" b="1">
                <a:solidFill>
                  <a:srgbClr val="14213D"/>
                </a:solidFill>
                <a:latin typeface="Georgia"/>
              </a:rPr>
              <a:t>Guessing a rule can go badly</a:t>
            </a:r>
          </a:p>
        </p:txBody>
      </p:sp>
      <p:pic>
        <p:nvPicPr>
          <p:cNvPr id="5" name="Picture 4" descr="c_maxloss.png"/>
          <p:cNvPicPr>
            <a:picLocks noChangeAspect="1"/>
          </p:cNvPicPr>
          <p:nvPr/>
        </p:nvPicPr>
        <p:blipFill>
          <a:blip r:embed="rId3"/>
          <a:stretch>
            <a:fillRect/>
          </a:stretch>
        </p:blipFill>
        <p:spPr>
          <a:xfrm>
            <a:off x="812800" y="2379642"/>
            <a:ext cx="7302500" cy="2987715"/>
          </a:xfrm>
          <a:prstGeom prst="rect">
            <a:avLst/>
          </a:prstGeom>
        </p:spPr>
      </p:pic>
      <p:sp>
        <p:nvSpPr>
          <p:cNvPr id="6" name="Rounded Rectangle 5"/>
          <p:cNvSpPr/>
          <p:nvPr/>
        </p:nvSpPr>
        <p:spPr>
          <a:xfrm>
            <a:off x="8445500" y="2286000"/>
            <a:ext cx="2933700" cy="1905000"/>
          </a:xfrm>
          <a:prstGeom prst="roundRect">
            <a:avLst>
              <a:gd name="adj" fmla="val 6000"/>
            </a:avLst>
          </a:prstGeom>
          <a:solidFill>
            <a:srgbClr val="F6E3E0"/>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l">
              <a:lnSpc>
                <a:spcPct val="100000"/>
              </a:lnSpc>
              <a:spcAft>
                <a:spcPts val="600"/>
              </a:spcAft>
            </a:pPr>
            <a:r>
              <a:rPr sz="3600" b="1">
                <a:solidFill>
                  <a:srgbClr val="B03A2E"/>
                </a:solidFill>
                <a:latin typeface="Georgia"/>
              </a:rPr>
              <a:t>16 points</a:t>
            </a:r>
          </a:p>
          <a:p>
            <a:pPr algn="l">
              <a:lnSpc>
                <a:spcPct val="115000"/>
              </a:lnSpc>
              <a:spcAft>
                <a:spcPts val="0"/>
              </a:spcAft>
            </a:pPr>
            <a:r>
              <a:rPr sz="1700" b="0">
                <a:solidFill>
                  <a:srgbClr val="3A4150"/>
                </a:solidFill>
                <a:latin typeface="Arial"/>
              </a:rPr>
              <a:t>lost by a hand-picked threshold on one setting</a:t>
            </a:r>
          </a:p>
        </p:txBody>
      </p:sp>
      <p:sp>
        <p:nvSpPr>
          <p:cNvPr id="7" name="TextBox 6"/>
          <p:cNvSpPr txBox="1"/>
          <p:nvPr/>
        </p:nvSpPr>
        <p:spPr>
          <a:xfrm>
            <a:off x="8445500" y="4445000"/>
            <a:ext cx="2933700" cy="1270000"/>
          </a:xfrm>
          <a:prstGeom prst="rect">
            <a:avLst/>
          </a:prstGeom>
          <a:noFill/>
        </p:spPr>
        <p:txBody>
          <a:bodyPr wrap="square" lIns="0" rIns="0" tIns="0" bIns="0" anchor="t">
            <a:spAutoFit/>
          </a:bodyPr>
          <a:lstStyle/>
          <a:p>
            <a:pPr algn="l">
              <a:lnSpc>
                <a:spcPct val="115000"/>
              </a:lnSpc>
              <a:spcAft>
                <a:spcPts val="0"/>
              </a:spcAft>
            </a:pPr>
            <a:r>
              <a:rPr sz="1800" b="0">
                <a:solidFill>
                  <a:srgbClr val="6B7280"/>
                </a:solidFill>
                <a:latin typeface="Arial"/>
              </a:rPr>
              <a:t>Nothing at deployment says which setting will go wrong.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6B7280"/>
                </a:solidFill>
                <a:latin typeface="Arial"/>
              </a:rPr>
              <a:t>9</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B4541A"/>
                </a:solidFill>
                <a:latin typeface="Arial"/>
              </a:rPr>
              <a:t>CLIMB</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000" b="1">
                <a:solidFill>
                  <a:srgbClr val="14213D"/>
                </a:solidFill>
                <a:latin typeface="Georgia"/>
              </a:rPr>
              <a:t>What CLIMB promises</a:t>
            </a:r>
          </a:p>
        </p:txBody>
      </p:sp>
      <p:sp>
        <p:nvSpPr>
          <p:cNvPr id="5" name="Rounded Rectangle 4"/>
          <p:cNvSpPr/>
          <p:nvPr/>
        </p:nvSpPr>
        <p:spPr>
          <a:xfrm>
            <a:off x="812800" y="2095500"/>
            <a:ext cx="3111500" cy="2032000"/>
          </a:xfrm>
          <a:prstGeom prst="roundRect">
            <a:avLst>
              <a:gd name="adj" fmla="val 5625"/>
            </a:avLst>
          </a:prstGeom>
          <a:solidFill>
            <a:srgbClr val="F8E8DC"/>
          </a:solidFill>
          <a:ln w="31750">
            <a:solidFill>
              <a:srgbClr val="B4541A"/>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152400" bIns="152400"/>
          <a:lstStyle/>
          <a:p>
            <a:pPr algn="ctr">
              <a:lnSpc>
                <a:spcPct val="115000"/>
              </a:lnSpc>
              <a:spcAft>
                <a:spcPts val="1200"/>
              </a:spcAft>
            </a:pPr>
            <a:r>
              <a:rPr sz="2400" b="1">
                <a:solidFill>
                  <a:srgbClr val="B4541A"/>
                </a:solidFill>
                <a:latin typeface="Arial"/>
              </a:rPr>
              <a:t>You choose</a:t>
            </a:r>
          </a:p>
          <a:p>
            <a:pPr algn="ctr">
              <a:lnSpc>
                <a:spcPct val="115000"/>
              </a:lnSpc>
              <a:spcAft>
                <a:spcPts val="0"/>
              </a:spcAft>
            </a:pPr>
            <a:r>
              <a:rPr sz="1900" b="0">
                <a:solidFill>
                  <a:srgbClr val="14213D"/>
                </a:solidFill>
                <a:latin typeface="Arial"/>
              </a:rPr>
              <a:t>“I can lose at most 5 points of accuracy”</a:t>
            </a:r>
          </a:p>
        </p:txBody>
      </p:sp>
      <p:sp>
        <p:nvSpPr>
          <p:cNvPr id="6" name="Right Arrow 5"/>
          <p:cNvSpPr/>
          <p:nvPr/>
        </p:nvSpPr>
        <p:spPr>
          <a:xfrm>
            <a:off x="4000500" y="2857500"/>
            <a:ext cx="482600" cy="38100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59300" y="2095500"/>
            <a:ext cx="3111500" cy="2032000"/>
          </a:xfrm>
          <a:prstGeom prst="roundRect">
            <a:avLst>
              <a:gd name="adj" fmla="val 5625"/>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152400" bIns="152400"/>
          <a:lstStyle/>
          <a:p>
            <a:pPr algn="ctr">
              <a:lnSpc>
                <a:spcPct val="115000"/>
              </a:lnSpc>
              <a:spcAft>
                <a:spcPts val="1200"/>
              </a:spcAft>
            </a:pPr>
            <a:r>
              <a:rPr sz="2400" b="1">
                <a:solidFill>
                  <a:srgbClr val="F0A66B"/>
                </a:solidFill>
                <a:latin typeface="Arial"/>
              </a:rPr>
              <a:t>CLIMB checks</a:t>
            </a:r>
          </a:p>
          <a:p>
            <a:pPr algn="ctr">
              <a:lnSpc>
                <a:spcPct val="115000"/>
              </a:lnSpc>
              <a:spcAft>
                <a:spcPts val="0"/>
              </a:spcAft>
            </a:pPr>
            <a:r>
              <a:rPr sz="1900" b="0">
                <a:solidFill>
                  <a:srgbClr val="F7F6F2"/>
                </a:solidFill>
                <a:latin typeface="Arial"/>
              </a:rPr>
              <a:t>a few hundred labelled tasks</a:t>
            </a:r>
          </a:p>
        </p:txBody>
      </p:sp>
      <p:sp>
        <p:nvSpPr>
          <p:cNvPr id="8" name="Right Arrow 7"/>
          <p:cNvSpPr/>
          <p:nvPr/>
        </p:nvSpPr>
        <p:spPr>
          <a:xfrm>
            <a:off x="7747000" y="2857500"/>
            <a:ext cx="482600" cy="38100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305800" y="2095500"/>
            <a:ext cx="3111500" cy="2032000"/>
          </a:xfrm>
          <a:prstGeom prst="roundRect">
            <a:avLst>
              <a:gd name="adj" fmla="val 5625"/>
            </a:avLst>
          </a:prstGeom>
          <a:solidFill>
            <a:srgbClr val="E3ECE2"/>
          </a:solidFill>
          <a:ln w="31750">
            <a:solidFill>
              <a:srgbClr val="2F6B34"/>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152400" bIns="152400"/>
          <a:lstStyle/>
          <a:p>
            <a:pPr algn="ctr">
              <a:lnSpc>
                <a:spcPct val="115000"/>
              </a:lnSpc>
              <a:spcAft>
                <a:spcPts val="1200"/>
              </a:spcAft>
            </a:pPr>
            <a:r>
              <a:rPr sz="2400" b="1">
                <a:solidFill>
                  <a:srgbClr val="2F6B34"/>
                </a:solidFill>
                <a:latin typeface="Arial"/>
              </a:rPr>
              <a:t>You get</a:t>
            </a:r>
          </a:p>
          <a:p>
            <a:pPr algn="ctr">
              <a:lnSpc>
                <a:spcPct val="115000"/>
              </a:lnSpc>
              <a:spcAft>
                <a:spcPts val="0"/>
              </a:spcAft>
            </a:pPr>
            <a:r>
              <a:rPr sz="1900" b="0">
                <a:solidFill>
                  <a:srgbClr val="14213D"/>
                </a:solidFill>
                <a:latin typeface="Arial"/>
              </a:rPr>
              <a:t>the cheapest rule that keeps the promise, 9 times out of 10</a:t>
            </a:r>
          </a:p>
        </p:txBody>
      </p:sp>
      <p:sp>
        <p:nvSpPr>
          <p:cNvPr id="10" name="Rounded Rectangle 9"/>
          <p:cNvSpPr/>
          <p:nvPr/>
        </p:nvSpPr>
        <p:spPr>
          <a:xfrm>
            <a:off x="812800" y="4572000"/>
            <a:ext cx="10566400" cy="952500"/>
          </a:xfrm>
          <a:prstGeom prst="roundRect">
            <a:avLst>
              <a:gd name="adj" fmla="val 10000"/>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203200" bIns="203200"/>
          <a:lstStyle/>
          <a:p>
            <a:pPr algn="ctr">
              <a:lnSpc>
                <a:spcPct val="115000"/>
              </a:lnSpc>
              <a:spcAft>
                <a:spcPts val="0"/>
              </a:spcAft>
            </a:pPr>
            <a:r>
              <a:rPr sz="2000" b="1">
                <a:solidFill>
                  <a:srgbClr val="14213D"/>
                </a:solidFill>
                <a:latin typeface="Arial"/>
              </a:rPr>
              <a:t>No cheaper rule passes?  →  call the team every time.  Worst case: no savings, not lost accuracy.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6B7280"/>
                </a:solidFill>
                <a:latin typeface="Arial"/>
              </a:rPr>
              <a:t>10</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B4541A"/>
                </a:solidFill>
                <a:latin typeface="Arial"/>
              </a:rPr>
              <a:t>HOW IT WORKS</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000" b="1">
                <a:solidFill>
                  <a:srgbClr val="14213D"/>
                </a:solidFill>
                <a:latin typeface="Georgia"/>
              </a:rPr>
              <a:t>Keep the cheapest rule that passes</a:t>
            </a:r>
          </a:p>
        </p:txBody>
      </p:sp>
      <p:pic>
        <p:nvPicPr>
          <p:cNvPr id="5" name="Picture 4" descr="c_sweep.png"/>
          <p:cNvPicPr>
            <a:picLocks noChangeAspect="1"/>
          </p:cNvPicPr>
          <p:nvPr/>
        </p:nvPicPr>
        <p:blipFill>
          <a:blip r:embed="rId3"/>
          <a:stretch>
            <a:fillRect/>
          </a:stretch>
        </p:blipFill>
        <p:spPr>
          <a:xfrm>
            <a:off x="2179492" y="1587500"/>
            <a:ext cx="7833014" cy="4445000"/>
          </a:xfrm>
          <a:prstGeom prst="rect">
            <a:avLst/>
          </a:prstGeom>
        </p:spPr>
      </p:pic>
      <p:sp>
        <p:nvSpPr>
          <p:cNvPr id="6" name="TextBox 5"/>
          <p:cNvSpPr txBox="1"/>
          <p:nvPr/>
        </p:nvSpPr>
        <p:spPr>
          <a:xfrm>
            <a:off x="812800" y="6096000"/>
            <a:ext cx="10566400" cy="254000"/>
          </a:xfrm>
          <a:prstGeom prst="rect">
            <a:avLst/>
          </a:prstGeom>
          <a:noFill/>
        </p:spPr>
        <p:txBody>
          <a:bodyPr wrap="square" lIns="0" rIns="0" tIns="0" bIns="0" anchor="t">
            <a:spAutoFit/>
          </a:bodyPr>
          <a:lstStyle/>
          <a:p>
            <a:pPr algn="l">
              <a:lnSpc>
                <a:spcPct val="115000"/>
              </a:lnSpc>
              <a:spcAft>
                <a:spcPts val="0"/>
              </a:spcAft>
            </a:pPr>
            <a:r>
              <a:rPr sz="1500" b="0">
                <a:solidFill>
                  <a:srgbClr val="6B7280"/>
                </a:solidFill>
                <a:latin typeface="Arial"/>
              </a:rPr>
              <a:t>gpt-oss-120b on MuSiQue, thresholds on the direct answer’s confidence, one calibration half.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6B7280"/>
                </a:solidFill>
                <a:latin typeface="Arial"/>
              </a:rPr>
              <a:t>11</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B4541A"/>
                </a:solidFill>
                <a:latin typeface="Arial"/>
              </a:rPr>
              <a:t>HOW IT WORKS</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000" b="1">
                <a:solidFill>
                  <a:srgbClr val="14213D"/>
                </a:solidFill>
                <a:latin typeface="Georgia"/>
              </a:rPr>
              <a:t>The test is a betting game</a:t>
            </a:r>
          </a:p>
        </p:txBody>
      </p:sp>
      <p:pic>
        <p:nvPicPr>
          <p:cNvPr id="5" name="Picture 4" descr="c_wealth.png"/>
          <p:cNvPicPr>
            <a:picLocks noChangeAspect="1"/>
          </p:cNvPicPr>
          <p:nvPr/>
        </p:nvPicPr>
        <p:blipFill>
          <a:blip r:embed="rId3"/>
          <a:stretch>
            <a:fillRect/>
          </a:stretch>
        </p:blipFill>
        <p:spPr>
          <a:xfrm>
            <a:off x="812800" y="1915559"/>
            <a:ext cx="6985000" cy="3788881"/>
          </a:xfrm>
          <a:prstGeom prst="rect">
            <a:avLst/>
          </a:prstGeom>
        </p:spPr>
      </p:pic>
      <p:sp>
        <p:nvSpPr>
          <p:cNvPr id="6" name="Oval 5"/>
          <p:cNvSpPr/>
          <p:nvPr/>
        </p:nvSpPr>
        <p:spPr>
          <a:xfrm>
            <a:off x="8191500" y="1841500"/>
            <a:ext cx="444500" cy="444500"/>
          </a:xfrm>
          <a:prstGeom prst="ellipse">
            <a:avLst/>
          </a:prstGeom>
          <a:solidFill>
            <a:srgbClr val="B454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0"/>
              </a:spcAft>
            </a:pPr>
            <a:r>
              <a:rPr sz="2800" b="1">
                <a:solidFill>
                  <a:srgbClr val="F7F6F2"/>
                </a:solidFill>
                <a:latin typeface="Arial"/>
              </a:rPr>
              <a:t>1</a:t>
            </a:r>
          </a:p>
        </p:txBody>
      </p:sp>
      <p:sp>
        <p:nvSpPr>
          <p:cNvPr id="7" name="TextBox 6"/>
          <p:cNvSpPr txBox="1"/>
          <p:nvPr/>
        </p:nvSpPr>
        <p:spPr>
          <a:xfrm>
            <a:off x="8794750" y="1866900"/>
            <a:ext cx="2584450" cy="1016000"/>
          </a:xfrm>
          <a:prstGeom prst="rect">
            <a:avLst/>
          </a:prstGeom>
          <a:noFill/>
        </p:spPr>
        <p:txBody>
          <a:bodyPr wrap="square" lIns="0" rIns="0" tIns="0" bIns="0" anchor="t">
            <a:spAutoFit/>
          </a:bodyPr>
          <a:lstStyle/>
          <a:p>
            <a:pPr algn="l">
              <a:lnSpc>
                <a:spcPct val="115000"/>
              </a:lnSpc>
              <a:spcAft>
                <a:spcPts val="0"/>
              </a:spcAft>
            </a:pPr>
            <a:r>
              <a:rPr sz="1900" b="0">
                <a:solidFill>
                  <a:srgbClr val="3A4150"/>
                </a:solidFill>
                <a:latin typeface="Arial"/>
              </a:rPr>
              <a:t>Start with $1.</a:t>
            </a:r>
          </a:p>
        </p:txBody>
      </p:sp>
      <p:sp>
        <p:nvSpPr>
          <p:cNvPr id="8" name="Oval 7"/>
          <p:cNvSpPr/>
          <p:nvPr/>
        </p:nvSpPr>
        <p:spPr>
          <a:xfrm>
            <a:off x="8191500" y="2921000"/>
            <a:ext cx="444500" cy="444500"/>
          </a:xfrm>
          <a:prstGeom prst="ellipse">
            <a:avLst/>
          </a:prstGeom>
          <a:solidFill>
            <a:srgbClr val="B454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0"/>
              </a:spcAft>
            </a:pPr>
            <a:r>
              <a:rPr sz="2800" b="1">
                <a:solidFill>
                  <a:srgbClr val="F7F6F2"/>
                </a:solidFill>
                <a:latin typeface="Arial"/>
              </a:rPr>
              <a:t>2</a:t>
            </a:r>
          </a:p>
        </p:txBody>
      </p:sp>
      <p:sp>
        <p:nvSpPr>
          <p:cNvPr id="9" name="TextBox 8"/>
          <p:cNvSpPr txBox="1"/>
          <p:nvPr/>
        </p:nvSpPr>
        <p:spPr>
          <a:xfrm>
            <a:off x="8794750" y="2946400"/>
            <a:ext cx="2584450" cy="1016000"/>
          </a:xfrm>
          <a:prstGeom prst="rect">
            <a:avLst/>
          </a:prstGeom>
          <a:noFill/>
        </p:spPr>
        <p:txBody>
          <a:bodyPr wrap="square" lIns="0" rIns="0" tIns="0" bIns="0" anchor="t">
            <a:spAutoFit/>
          </a:bodyPr>
          <a:lstStyle/>
          <a:p>
            <a:pPr algn="l">
              <a:lnSpc>
                <a:spcPct val="115000"/>
              </a:lnSpc>
              <a:spcAft>
                <a:spcPts val="0"/>
              </a:spcAft>
            </a:pPr>
            <a:r>
              <a:rPr sz="1900" b="0">
                <a:solidFill>
                  <a:srgbClr val="3A4150"/>
                </a:solidFill>
                <a:latin typeface="Arial"/>
              </a:rPr>
              <a:t>Each task: bet that skipping the team does no harm.</a:t>
            </a:r>
          </a:p>
        </p:txBody>
      </p:sp>
      <p:sp>
        <p:nvSpPr>
          <p:cNvPr id="10" name="Oval 9"/>
          <p:cNvSpPr/>
          <p:nvPr/>
        </p:nvSpPr>
        <p:spPr>
          <a:xfrm>
            <a:off x="8191500" y="4000500"/>
            <a:ext cx="444500" cy="444500"/>
          </a:xfrm>
          <a:prstGeom prst="ellipse">
            <a:avLst/>
          </a:prstGeom>
          <a:solidFill>
            <a:srgbClr val="B454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0"/>
              </a:spcAft>
            </a:pPr>
            <a:r>
              <a:rPr sz="2800" b="1">
                <a:solidFill>
                  <a:srgbClr val="F7F6F2"/>
                </a:solidFill>
                <a:latin typeface="Arial"/>
              </a:rPr>
              <a:t>3</a:t>
            </a:r>
          </a:p>
        </p:txBody>
      </p:sp>
      <p:sp>
        <p:nvSpPr>
          <p:cNvPr id="11" name="TextBox 10"/>
          <p:cNvSpPr txBox="1"/>
          <p:nvPr/>
        </p:nvSpPr>
        <p:spPr>
          <a:xfrm>
            <a:off x="8794750" y="4025900"/>
            <a:ext cx="2584450" cy="1016000"/>
          </a:xfrm>
          <a:prstGeom prst="rect">
            <a:avLst/>
          </a:prstGeom>
          <a:noFill/>
        </p:spPr>
        <p:txBody>
          <a:bodyPr wrap="square" lIns="0" rIns="0" tIns="0" bIns="0" anchor="t">
            <a:spAutoFit/>
          </a:bodyPr>
          <a:lstStyle/>
          <a:p>
            <a:pPr algn="l">
              <a:lnSpc>
                <a:spcPct val="115000"/>
              </a:lnSpc>
              <a:spcAft>
                <a:spcPts val="0"/>
              </a:spcAft>
            </a:pPr>
            <a:r>
              <a:rPr sz="1900" b="0">
                <a:solidFill>
                  <a:srgbClr val="3A4150"/>
                </a:solidFill>
                <a:latin typeface="Arial"/>
              </a:rPr>
              <a:t>No harm: win a little. Broken answer: lose.</a:t>
            </a:r>
          </a:p>
        </p:txBody>
      </p:sp>
      <p:sp>
        <p:nvSpPr>
          <p:cNvPr id="12" name="Oval 11"/>
          <p:cNvSpPr/>
          <p:nvPr/>
        </p:nvSpPr>
        <p:spPr>
          <a:xfrm>
            <a:off x="8191500" y="5080000"/>
            <a:ext cx="444500" cy="444500"/>
          </a:xfrm>
          <a:prstGeom prst="ellipse">
            <a:avLst/>
          </a:prstGeom>
          <a:solidFill>
            <a:srgbClr val="B454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0"/>
              </a:spcAft>
            </a:pPr>
            <a:r>
              <a:rPr sz="2800" b="1">
                <a:solidFill>
                  <a:srgbClr val="F7F6F2"/>
                </a:solidFill>
                <a:latin typeface="Arial"/>
              </a:rPr>
              <a:t>4</a:t>
            </a:r>
          </a:p>
        </p:txBody>
      </p:sp>
      <p:sp>
        <p:nvSpPr>
          <p:cNvPr id="13" name="TextBox 12"/>
          <p:cNvSpPr txBox="1"/>
          <p:nvPr/>
        </p:nvSpPr>
        <p:spPr>
          <a:xfrm>
            <a:off x="8794750" y="5105400"/>
            <a:ext cx="2584450" cy="1016000"/>
          </a:xfrm>
          <a:prstGeom prst="rect">
            <a:avLst/>
          </a:prstGeom>
          <a:noFill/>
        </p:spPr>
        <p:txBody>
          <a:bodyPr wrap="square" lIns="0" rIns="0" tIns="0" bIns="0" anchor="t">
            <a:spAutoFit/>
          </a:bodyPr>
          <a:lstStyle/>
          <a:p>
            <a:pPr algn="l">
              <a:lnSpc>
                <a:spcPct val="115000"/>
              </a:lnSpc>
              <a:spcAft>
                <a:spcPts val="0"/>
              </a:spcAft>
            </a:pPr>
            <a:r>
              <a:rPr sz="1900" b="0">
                <a:solidFill>
                  <a:srgbClr val="3A4150"/>
                </a:solidFill>
                <a:latin typeface="Arial"/>
              </a:rPr>
              <a:t>Reach $20: the rule passes.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6B7280"/>
                </a:solidFill>
                <a:latin typeface="Arial"/>
              </a:rPr>
              <a:t>12</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B4541A"/>
                </a:solidFill>
                <a:latin typeface="Arial"/>
              </a:rPr>
              <a:t>HOW IT WORKS</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000" b="1">
                <a:solidFill>
                  <a:srgbClr val="14213D"/>
                </a:solidFill>
                <a:latin typeface="Georgia"/>
              </a:rPr>
              <a:t>Skipping the team can also save answers</a:t>
            </a:r>
          </a:p>
        </p:txBody>
      </p:sp>
      <p:sp>
        <p:nvSpPr>
          <p:cNvPr id="5" name="Rounded Rectangle 4"/>
          <p:cNvSpPr/>
          <p:nvPr/>
        </p:nvSpPr>
        <p:spPr>
          <a:xfrm>
            <a:off x="812800" y="2095500"/>
            <a:ext cx="3384550" cy="2286000"/>
          </a:xfrm>
          <a:prstGeom prst="roundRect">
            <a:avLst>
              <a:gd name="adj" fmla="val 5000"/>
            </a:avLst>
          </a:prstGeom>
          <a:solidFill>
            <a:srgbClr val="F6E3E0"/>
          </a:solidFill>
          <a:ln w="31750">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203200" bIns="203200"/>
          <a:lstStyle/>
          <a:p>
            <a:pPr algn="ctr">
              <a:lnSpc>
                <a:spcPct val="115000"/>
              </a:lnSpc>
              <a:spcAft>
                <a:spcPts val="2000"/>
              </a:spcAft>
            </a:pPr>
            <a:r>
              <a:rPr sz="2600" b="1">
                <a:solidFill>
                  <a:srgbClr val="14213D"/>
                </a:solidFill>
                <a:latin typeface="Arial"/>
              </a:rPr>
              <a:t>Cheap answer wrong,
team right</a:t>
            </a:r>
          </a:p>
          <a:p>
            <a:pPr algn="ctr">
              <a:lnSpc>
                <a:spcPct val="115000"/>
              </a:lnSpc>
              <a:spcAft>
                <a:spcPts val="0"/>
              </a:spcAft>
            </a:pPr>
            <a:r>
              <a:rPr sz="2400" b="1">
                <a:solidFill>
                  <a:srgbClr val="B03A2E"/>
                </a:solidFill>
                <a:latin typeface="Arial"/>
              </a:rPr>
              <a:t>we lose a point</a:t>
            </a:r>
          </a:p>
        </p:txBody>
      </p:sp>
      <p:sp>
        <p:nvSpPr>
          <p:cNvPr id="6" name="Rounded Rectangle 5"/>
          <p:cNvSpPr/>
          <p:nvPr/>
        </p:nvSpPr>
        <p:spPr>
          <a:xfrm>
            <a:off x="4400550" y="2095500"/>
            <a:ext cx="3384550" cy="2286000"/>
          </a:xfrm>
          <a:prstGeom prst="roundRect">
            <a:avLst>
              <a:gd name="adj" fmla="val 5000"/>
            </a:avLst>
          </a:prstGeom>
          <a:solidFill>
            <a:srgbClr val="ECEAE3"/>
          </a:solidFill>
          <a:ln w="317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203200" bIns="203200"/>
          <a:lstStyle/>
          <a:p>
            <a:pPr algn="ctr">
              <a:lnSpc>
                <a:spcPct val="115000"/>
              </a:lnSpc>
              <a:spcAft>
                <a:spcPts val="2000"/>
              </a:spcAft>
            </a:pPr>
            <a:r>
              <a:rPr sz="2600" b="1">
                <a:solidFill>
                  <a:srgbClr val="14213D"/>
                </a:solidFill>
                <a:latin typeface="Arial"/>
              </a:rPr>
              <a:t>Both right,
or both wrong</a:t>
            </a:r>
          </a:p>
          <a:p>
            <a:pPr algn="ctr">
              <a:lnSpc>
                <a:spcPct val="115000"/>
              </a:lnSpc>
              <a:spcAft>
                <a:spcPts val="0"/>
              </a:spcAft>
            </a:pPr>
            <a:r>
              <a:rPr sz="2400" b="1">
                <a:solidFill>
                  <a:srgbClr val="6B7280"/>
                </a:solidFill>
                <a:latin typeface="Arial"/>
              </a:rPr>
              <a:t>no change (most tasks)</a:t>
            </a:r>
          </a:p>
        </p:txBody>
      </p:sp>
      <p:sp>
        <p:nvSpPr>
          <p:cNvPr id="7" name="Rounded Rectangle 6"/>
          <p:cNvSpPr/>
          <p:nvPr/>
        </p:nvSpPr>
        <p:spPr>
          <a:xfrm>
            <a:off x="7988300" y="2095500"/>
            <a:ext cx="3384550" cy="2286000"/>
          </a:xfrm>
          <a:prstGeom prst="roundRect">
            <a:avLst>
              <a:gd name="adj" fmla="val 5000"/>
            </a:avLst>
          </a:prstGeom>
          <a:solidFill>
            <a:srgbClr val="E3ECE2"/>
          </a:solidFill>
          <a:ln w="31750">
            <a:solidFill>
              <a:srgbClr val="2F6B34"/>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203200" bIns="203200"/>
          <a:lstStyle/>
          <a:p>
            <a:pPr algn="ctr">
              <a:lnSpc>
                <a:spcPct val="115000"/>
              </a:lnSpc>
              <a:spcAft>
                <a:spcPts val="2000"/>
              </a:spcAft>
            </a:pPr>
            <a:r>
              <a:rPr sz="2600" b="1">
                <a:solidFill>
                  <a:srgbClr val="14213D"/>
                </a:solidFill>
                <a:latin typeface="Arial"/>
              </a:rPr>
              <a:t>Cheap answer right,
team wrong</a:t>
            </a:r>
          </a:p>
          <a:p>
            <a:pPr algn="ctr">
              <a:lnSpc>
                <a:spcPct val="115000"/>
              </a:lnSpc>
              <a:spcAft>
                <a:spcPts val="0"/>
              </a:spcAft>
            </a:pPr>
            <a:r>
              <a:rPr sz="2400" b="1">
                <a:solidFill>
                  <a:srgbClr val="2F6B34"/>
                </a:solidFill>
                <a:latin typeface="Arial"/>
              </a:rPr>
              <a:t>we save a point</a:t>
            </a:r>
          </a:p>
        </p:txBody>
      </p:sp>
      <p:sp>
        <p:nvSpPr>
          <p:cNvPr id="8" name="Rounded Rectangle 7"/>
          <p:cNvSpPr/>
          <p:nvPr/>
        </p:nvSpPr>
        <p:spPr>
          <a:xfrm>
            <a:off x="812800" y="4826000"/>
            <a:ext cx="10566400" cy="825500"/>
          </a:xfrm>
          <a:prstGeom prst="roundRect">
            <a:avLst>
              <a:gd name="adj" fmla="val 10000"/>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203200" bIns="203200"/>
          <a:lstStyle/>
          <a:p>
            <a:pPr algn="ctr">
              <a:lnSpc>
                <a:spcPct val="115000"/>
              </a:lnSpc>
              <a:spcAft>
                <a:spcPts val="0"/>
              </a:spcAft>
            </a:pPr>
            <a:r>
              <a:rPr sz="2400" b="1">
                <a:solidFill>
                  <a:srgbClr val="14213D"/>
                </a:solidFill>
                <a:latin typeface="Arial"/>
              </a:rPr>
              <a:t>Usual tests count only the left box. CLIMB counts both sides.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6B7280"/>
                </a:solidFill>
                <a:latin typeface="Arial"/>
              </a:rPr>
              <a:t>13</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B4541A"/>
                </a:solidFill>
                <a:latin typeface="Arial"/>
              </a:rPr>
              <a:t>HOW IT WORKS</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000" b="1">
                <a:solidFill>
                  <a:srgbClr val="14213D"/>
                </a:solidFill>
                <a:latin typeface="Georgia"/>
              </a:rPr>
              <a:t>Counting both sides certifies much more</a:t>
            </a:r>
          </a:p>
        </p:txBody>
      </p:sp>
      <p:pic>
        <p:nvPicPr>
          <p:cNvPr id="5" name="Picture 4" descr="c_tests.png"/>
          <p:cNvPicPr>
            <a:picLocks noChangeAspect="1"/>
          </p:cNvPicPr>
          <p:nvPr/>
        </p:nvPicPr>
        <p:blipFill>
          <a:blip r:embed="rId3"/>
          <a:stretch>
            <a:fillRect/>
          </a:stretch>
        </p:blipFill>
        <p:spPr>
          <a:xfrm>
            <a:off x="812800" y="2331170"/>
            <a:ext cx="7302500" cy="2830659"/>
          </a:xfrm>
          <a:prstGeom prst="rect">
            <a:avLst/>
          </a:prstGeom>
        </p:spPr>
      </p:pic>
      <p:sp>
        <p:nvSpPr>
          <p:cNvPr id="6" name="Rounded Rectangle 5"/>
          <p:cNvSpPr/>
          <p:nvPr/>
        </p:nvSpPr>
        <p:spPr>
          <a:xfrm>
            <a:off x="8445500" y="2286000"/>
            <a:ext cx="2933700" cy="1905000"/>
          </a:xfrm>
          <a:prstGeom prst="roundRect">
            <a:avLst>
              <a:gd name="adj" fmla="val 6000"/>
            </a:avLst>
          </a:prstGeom>
          <a:solidFill>
            <a:srgbClr val="E3ECE2"/>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l">
              <a:lnSpc>
                <a:spcPct val="100000"/>
              </a:lnSpc>
              <a:spcAft>
                <a:spcPts val="600"/>
              </a:spcAft>
            </a:pPr>
            <a:r>
              <a:rPr sz="3600" b="1">
                <a:solidFill>
                  <a:srgbClr val="2F6B34"/>
                </a:solidFill>
                <a:latin typeface="Georgia"/>
              </a:rPr>
              <a:t>62%</a:t>
            </a:r>
          </a:p>
          <a:p>
            <a:pPr algn="l">
              <a:lnSpc>
                <a:spcPct val="115000"/>
              </a:lnSpc>
              <a:spcAft>
                <a:spcPts val="0"/>
              </a:spcAft>
            </a:pPr>
            <a:r>
              <a:rPr sz="1700" b="0">
                <a:solidFill>
                  <a:srgbClr val="3A4150"/>
                </a:solidFill>
                <a:latin typeface="Arial"/>
              </a:rPr>
              <a:t>of the team’s tokens with CLIMB’s test. A worst-case bound: 100%.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6B7280"/>
                </a:solidFill>
                <a:latin typeface="Arial"/>
              </a:rPr>
              <a:t>14</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B4541A"/>
                </a:solidFill>
                <a:latin typeface="Arial"/>
              </a:rPr>
              <a:t>EXPERIMENTS</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000" b="1">
                <a:solidFill>
                  <a:srgbClr val="14213D"/>
                </a:solidFill>
                <a:latin typeface="Georgia"/>
              </a:rPr>
              <a:t>3 models × 4 benchmarks = 12 settings</a:t>
            </a:r>
          </a:p>
        </p:txBody>
      </p:sp>
      <p:sp>
        <p:nvSpPr>
          <p:cNvPr id="5" name="TextBox 4"/>
          <p:cNvSpPr txBox="1"/>
          <p:nvPr/>
        </p:nvSpPr>
        <p:spPr>
          <a:xfrm>
            <a:off x="3048000" y="1841500"/>
            <a:ext cx="1905000" cy="508000"/>
          </a:xfrm>
          <a:prstGeom prst="rect">
            <a:avLst/>
          </a:prstGeom>
          <a:noFill/>
        </p:spPr>
        <p:txBody>
          <a:bodyPr wrap="square" lIns="0" rIns="0" tIns="0" bIns="0" anchor="t">
            <a:spAutoFit/>
          </a:bodyPr>
          <a:lstStyle/>
          <a:p>
            <a:pPr algn="ctr">
              <a:lnSpc>
                <a:spcPct val="115000"/>
              </a:lnSpc>
              <a:spcAft>
                <a:spcPts val="0"/>
              </a:spcAft>
            </a:pPr>
            <a:r>
              <a:rPr sz="2200" b="1">
                <a:solidFill>
                  <a:srgbClr val="14213D"/>
                </a:solidFill>
                <a:latin typeface="Arial"/>
              </a:rPr>
              <a:t>MATH</a:t>
            </a:r>
          </a:p>
          <a:p>
            <a:pPr algn="ctr">
              <a:lnSpc>
                <a:spcPct val="115000"/>
              </a:lnSpc>
              <a:spcAft>
                <a:spcPts val="0"/>
              </a:spcAft>
            </a:pPr>
            <a:r>
              <a:rPr sz="1600" b="0">
                <a:solidFill>
                  <a:srgbClr val="6B7280"/>
                </a:solidFill>
                <a:latin typeface="Arial"/>
              </a:rPr>
              <a:t>math</a:t>
            </a:r>
          </a:p>
        </p:txBody>
      </p:sp>
      <p:sp>
        <p:nvSpPr>
          <p:cNvPr id="6" name="TextBox 5"/>
          <p:cNvSpPr txBox="1"/>
          <p:nvPr/>
        </p:nvSpPr>
        <p:spPr>
          <a:xfrm>
            <a:off x="5080000" y="1841500"/>
            <a:ext cx="1905000" cy="508000"/>
          </a:xfrm>
          <a:prstGeom prst="rect">
            <a:avLst/>
          </a:prstGeom>
          <a:noFill/>
        </p:spPr>
        <p:txBody>
          <a:bodyPr wrap="square" lIns="0" rIns="0" tIns="0" bIns="0" anchor="t">
            <a:spAutoFit/>
          </a:bodyPr>
          <a:lstStyle/>
          <a:p>
            <a:pPr algn="ctr">
              <a:lnSpc>
                <a:spcPct val="115000"/>
              </a:lnSpc>
              <a:spcAft>
                <a:spcPts val="0"/>
              </a:spcAft>
            </a:pPr>
            <a:r>
              <a:rPr sz="2200" b="1">
                <a:solidFill>
                  <a:srgbClr val="14213D"/>
                </a:solidFill>
                <a:latin typeface="Arial"/>
              </a:rPr>
              <a:t>FRAMES</a:t>
            </a:r>
          </a:p>
          <a:p>
            <a:pPr algn="ctr">
              <a:lnSpc>
                <a:spcPct val="115000"/>
              </a:lnSpc>
              <a:spcAft>
                <a:spcPts val="0"/>
              </a:spcAft>
            </a:pPr>
            <a:r>
              <a:rPr sz="1600" b="0">
                <a:solidFill>
                  <a:srgbClr val="6B7280"/>
                </a:solidFill>
                <a:latin typeface="Arial"/>
              </a:rPr>
              <a:t>open-book QA</a:t>
            </a:r>
          </a:p>
        </p:txBody>
      </p:sp>
      <p:sp>
        <p:nvSpPr>
          <p:cNvPr id="7" name="TextBox 6"/>
          <p:cNvSpPr txBox="1"/>
          <p:nvPr/>
        </p:nvSpPr>
        <p:spPr>
          <a:xfrm>
            <a:off x="7112000" y="1841500"/>
            <a:ext cx="1905000" cy="508000"/>
          </a:xfrm>
          <a:prstGeom prst="rect">
            <a:avLst/>
          </a:prstGeom>
          <a:noFill/>
        </p:spPr>
        <p:txBody>
          <a:bodyPr wrap="square" lIns="0" rIns="0" tIns="0" bIns="0" anchor="t">
            <a:spAutoFit/>
          </a:bodyPr>
          <a:lstStyle/>
          <a:p>
            <a:pPr algn="ctr">
              <a:lnSpc>
                <a:spcPct val="115000"/>
              </a:lnSpc>
              <a:spcAft>
                <a:spcPts val="0"/>
              </a:spcAft>
            </a:pPr>
            <a:r>
              <a:rPr sz="2200" b="1">
                <a:solidFill>
                  <a:srgbClr val="14213D"/>
                </a:solidFill>
                <a:latin typeface="Arial"/>
              </a:rPr>
              <a:t>MuSiQue</a:t>
            </a:r>
          </a:p>
          <a:p>
            <a:pPr algn="ctr">
              <a:lnSpc>
                <a:spcPct val="115000"/>
              </a:lnSpc>
              <a:spcAft>
                <a:spcPts val="0"/>
              </a:spcAft>
            </a:pPr>
            <a:r>
              <a:rPr sz="1600" b="0">
                <a:solidFill>
                  <a:srgbClr val="6B7280"/>
                </a:solidFill>
                <a:latin typeface="Arial"/>
              </a:rPr>
              <a:t>open-book QA</a:t>
            </a:r>
          </a:p>
        </p:txBody>
      </p:sp>
      <p:sp>
        <p:nvSpPr>
          <p:cNvPr id="8" name="TextBox 7"/>
          <p:cNvSpPr txBox="1"/>
          <p:nvPr/>
        </p:nvSpPr>
        <p:spPr>
          <a:xfrm>
            <a:off x="9144000" y="1841500"/>
            <a:ext cx="1905000" cy="508000"/>
          </a:xfrm>
          <a:prstGeom prst="rect">
            <a:avLst/>
          </a:prstGeom>
          <a:noFill/>
        </p:spPr>
        <p:txBody>
          <a:bodyPr wrap="square" lIns="0" rIns="0" tIns="0" bIns="0" anchor="t">
            <a:spAutoFit/>
          </a:bodyPr>
          <a:lstStyle/>
          <a:p>
            <a:pPr algn="ctr">
              <a:lnSpc>
                <a:spcPct val="115000"/>
              </a:lnSpc>
              <a:spcAft>
                <a:spcPts val="0"/>
              </a:spcAft>
            </a:pPr>
            <a:r>
              <a:rPr sz="2200" b="1">
                <a:solidFill>
                  <a:srgbClr val="14213D"/>
                </a:solidFill>
                <a:latin typeface="Arial"/>
              </a:rPr>
              <a:t>BBEH</a:t>
            </a:r>
          </a:p>
          <a:p>
            <a:pPr algn="ctr">
              <a:lnSpc>
                <a:spcPct val="115000"/>
              </a:lnSpc>
              <a:spcAft>
                <a:spcPts val="0"/>
              </a:spcAft>
            </a:pPr>
            <a:r>
              <a:rPr sz="1600" b="0">
                <a:solidFill>
                  <a:srgbClr val="6B7280"/>
                </a:solidFill>
                <a:latin typeface="Arial"/>
              </a:rPr>
              <a:t>hard reasoning</a:t>
            </a:r>
          </a:p>
        </p:txBody>
      </p:sp>
      <p:sp>
        <p:nvSpPr>
          <p:cNvPr id="9" name="TextBox 8"/>
          <p:cNvSpPr txBox="1"/>
          <p:nvPr/>
        </p:nvSpPr>
        <p:spPr>
          <a:xfrm>
            <a:off x="812800" y="2508250"/>
            <a:ext cx="2032000" cy="762000"/>
          </a:xfrm>
          <a:prstGeom prst="rect">
            <a:avLst/>
          </a:prstGeom>
          <a:noFill/>
        </p:spPr>
        <p:txBody>
          <a:bodyPr wrap="square" lIns="0" rIns="0" tIns="0" bIns="0" anchor="ctr">
            <a:spAutoFit/>
          </a:bodyPr>
          <a:lstStyle/>
          <a:p>
            <a:pPr algn="l">
              <a:lnSpc>
                <a:spcPct val="115000"/>
              </a:lnSpc>
              <a:spcAft>
                <a:spcPts val="0"/>
              </a:spcAft>
            </a:pPr>
            <a:r>
              <a:rPr sz="2200" b="1">
                <a:solidFill>
                  <a:srgbClr val="14213D"/>
                </a:solidFill>
                <a:latin typeface="Arial"/>
              </a:rPr>
              <a:t>gpt-oss-20b</a:t>
            </a:r>
          </a:p>
        </p:txBody>
      </p:sp>
      <p:sp>
        <p:nvSpPr>
          <p:cNvPr id="10" name="Rounded Rectangle 9"/>
          <p:cNvSpPr/>
          <p:nvPr/>
        </p:nvSpPr>
        <p:spPr>
          <a:xfrm>
            <a:off x="3048000" y="2508250"/>
            <a:ext cx="1905000" cy="762000"/>
          </a:xfrm>
          <a:prstGeom prst="roundRect">
            <a:avLst>
              <a:gd name="adj" fmla="val 10000"/>
            </a:avLst>
          </a:prstGeom>
          <a:solidFill>
            <a:srgbClr val="E2EAF5"/>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lnSpc>
                <a:spcPct val="115000"/>
              </a:lnSpc>
              <a:spcAft>
                <a:spcPts val="0"/>
              </a:spcAft>
            </a:pPr>
            <a:r>
              <a:rPr sz="2400" b="1">
                <a:solidFill>
                  <a:srgbClr val="14213D"/>
                </a:solidFill>
                <a:latin typeface="Arial"/>
              </a:rPr>
              <a:t>94.8%</a:t>
            </a:r>
          </a:p>
          <a:p>
            <a:pPr algn="ctr">
              <a:lnSpc>
                <a:spcPct val="115000"/>
              </a:lnSpc>
              <a:spcAft>
                <a:spcPts val="0"/>
              </a:spcAft>
            </a:pPr>
            <a:r>
              <a:rPr sz="1300" b="0">
                <a:solidFill>
                  <a:srgbClr val="6B7280"/>
                </a:solidFill>
                <a:latin typeface="Arial"/>
              </a:rPr>
              <a:t>team accuracy</a:t>
            </a:r>
          </a:p>
        </p:txBody>
      </p:sp>
      <p:sp>
        <p:nvSpPr>
          <p:cNvPr id="11" name="Rounded Rectangle 10"/>
          <p:cNvSpPr/>
          <p:nvPr/>
        </p:nvSpPr>
        <p:spPr>
          <a:xfrm>
            <a:off x="5080000" y="2508250"/>
            <a:ext cx="1905000" cy="762000"/>
          </a:xfrm>
          <a:prstGeom prst="roundRect">
            <a:avLst>
              <a:gd name="adj" fmla="val 10000"/>
            </a:avLst>
          </a:prstGeom>
          <a:solidFill>
            <a:srgbClr val="E2EAF5"/>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lnSpc>
                <a:spcPct val="115000"/>
              </a:lnSpc>
              <a:spcAft>
                <a:spcPts val="0"/>
              </a:spcAft>
            </a:pPr>
            <a:r>
              <a:rPr sz="2400" b="1">
                <a:solidFill>
                  <a:srgbClr val="14213D"/>
                </a:solidFill>
                <a:latin typeface="Arial"/>
              </a:rPr>
              <a:t>76.1%</a:t>
            </a:r>
          </a:p>
          <a:p>
            <a:pPr algn="ctr">
              <a:lnSpc>
                <a:spcPct val="115000"/>
              </a:lnSpc>
              <a:spcAft>
                <a:spcPts val="0"/>
              </a:spcAft>
            </a:pPr>
            <a:r>
              <a:rPr sz="1300" b="0">
                <a:solidFill>
                  <a:srgbClr val="6B7280"/>
                </a:solidFill>
                <a:latin typeface="Arial"/>
              </a:rPr>
              <a:t>team accuracy</a:t>
            </a:r>
          </a:p>
        </p:txBody>
      </p:sp>
      <p:sp>
        <p:nvSpPr>
          <p:cNvPr id="12" name="Rounded Rectangle 11"/>
          <p:cNvSpPr/>
          <p:nvPr/>
        </p:nvSpPr>
        <p:spPr>
          <a:xfrm>
            <a:off x="7112000" y="2508250"/>
            <a:ext cx="1905000" cy="762000"/>
          </a:xfrm>
          <a:prstGeom prst="roundRect">
            <a:avLst>
              <a:gd name="adj" fmla="val 10000"/>
            </a:avLst>
          </a:prstGeom>
          <a:solidFill>
            <a:srgbClr val="E2EAF5"/>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lnSpc>
                <a:spcPct val="115000"/>
              </a:lnSpc>
              <a:spcAft>
                <a:spcPts val="0"/>
              </a:spcAft>
            </a:pPr>
            <a:r>
              <a:rPr sz="2400" b="1">
                <a:solidFill>
                  <a:srgbClr val="14213D"/>
                </a:solidFill>
                <a:latin typeface="Arial"/>
              </a:rPr>
              <a:t>64.9%</a:t>
            </a:r>
          </a:p>
          <a:p>
            <a:pPr algn="ctr">
              <a:lnSpc>
                <a:spcPct val="115000"/>
              </a:lnSpc>
              <a:spcAft>
                <a:spcPts val="0"/>
              </a:spcAft>
            </a:pPr>
            <a:r>
              <a:rPr sz="1300" b="0">
                <a:solidFill>
                  <a:srgbClr val="6B7280"/>
                </a:solidFill>
                <a:latin typeface="Arial"/>
              </a:rPr>
              <a:t>team accuracy</a:t>
            </a:r>
          </a:p>
        </p:txBody>
      </p:sp>
      <p:sp>
        <p:nvSpPr>
          <p:cNvPr id="13" name="Rounded Rectangle 12"/>
          <p:cNvSpPr/>
          <p:nvPr/>
        </p:nvSpPr>
        <p:spPr>
          <a:xfrm>
            <a:off x="9144000" y="2508250"/>
            <a:ext cx="1905000" cy="762000"/>
          </a:xfrm>
          <a:prstGeom prst="roundRect">
            <a:avLst>
              <a:gd name="adj" fmla="val 10000"/>
            </a:avLst>
          </a:prstGeom>
          <a:solidFill>
            <a:srgbClr val="E2EAF5"/>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lnSpc>
                <a:spcPct val="115000"/>
              </a:lnSpc>
              <a:spcAft>
                <a:spcPts val="0"/>
              </a:spcAft>
            </a:pPr>
            <a:r>
              <a:rPr sz="2400" b="1">
                <a:solidFill>
                  <a:srgbClr val="14213D"/>
                </a:solidFill>
                <a:latin typeface="Arial"/>
              </a:rPr>
              <a:t>28.0%</a:t>
            </a:r>
          </a:p>
          <a:p>
            <a:pPr algn="ctr">
              <a:lnSpc>
                <a:spcPct val="115000"/>
              </a:lnSpc>
              <a:spcAft>
                <a:spcPts val="0"/>
              </a:spcAft>
            </a:pPr>
            <a:r>
              <a:rPr sz="1300" b="0">
                <a:solidFill>
                  <a:srgbClr val="6B7280"/>
                </a:solidFill>
                <a:latin typeface="Arial"/>
              </a:rPr>
              <a:t>team accuracy</a:t>
            </a:r>
          </a:p>
        </p:txBody>
      </p:sp>
      <p:sp>
        <p:nvSpPr>
          <p:cNvPr id="14" name="TextBox 13"/>
          <p:cNvSpPr txBox="1"/>
          <p:nvPr/>
        </p:nvSpPr>
        <p:spPr>
          <a:xfrm>
            <a:off x="812800" y="3460750"/>
            <a:ext cx="2032000" cy="762000"/>
          </a:xfrm>
          <a:prstGeom prst="rect">
            <a:avLst/>
          </a:prstGeom>
          <a:noFill/>
        </p:spPr>
        <p:txBody>
          <a:bodyPr wrap="square" lIns="0" rIns="0" tIns="0" bIns="0" anchor="ctr">
            <a:spAutoFit/>
          </a:bodyPr>
          <a:lstStyle/>
          <a:p>
            <a:pPr algn="l">
              <a:lnSpc>
                <a:spcPct val="115000"/>
              </a:lnSpc>
              <a:spcAft>
                <a:spcPts val="0"/>
              </a:spcAft>
            </a:pPr>
            <a:r>
              <a:rPr sz="2200" b="1">
                <a:solidFill>
                  <a:srgbClr val="14213D"/>
                </a:solidFill>
                <a:latin typeface="Arial"/>
              </a:rPr>
              <a:t>gpt-oss-120b</a:t>
            </a:r>
          </a:p>
        </p:txBody>
      </p:sp>
      <p:sp>
        <p:nvSpPr>
          <p:cNvPr id="15" name="Rounded Rectangle 14"/>
          <p:cNvSpPr/>
          <p:nvPr/>
        </p:nvSpPr>
        <p:spPr>
          <a:xfrm>
            <a:off x="3048000" y="3460750"/>
            <a:ext cx="1905000" cy="762000"/>
          </a:xfrm>
          <a:prstGeom prst="roundRect">
            <a:avLst>
              <a:gd name="adj" fmla="val 10000"/>
            </a:avLst>
          </a:prstGeom>
          <a:solidFill>
            <a:srgbClr val="E2EAF5"/>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lnSpc>
                <a:spcPct val="115000"/>
              </a:lnSpc>
              <a:spcAft>
                <a:spcPts val="0"/>
              </a:spcAft>
            </a:pPr>
            <a:r>
              <a:rPr sz="2400" b="1">
                <a:solidFill>
                  <a:srgbClr val="14213D"/>
                </a:solidFill>
                <a:latin typeface="Arial"/>
              </a:rPr>
              <a:t>97.0%</a:t>
            </a:r>
          </a:p>
          <a:p>
            <a:pPr algn="ctr">
              <a:lnSpc>
                <a:spcPct val="115000"/>
              </a:lnSpc>
              <a:spcAft>
                <a:spcPts val="0"/>
              </a:spcAft>
            </a:pPr>
            <a:r>
              <a:rPr sz="1300" b="0">
                <a:solidFill>
                  <a:srgbClr val="6B7280"/>
                </a:solidFill>
                <a:latin typeface="Arial"/>
              </a:rPr>
              <a:t>team accuracy</a:t>
            </a:r>
          </a:p>
        </p:txBody>
      </p:sp>
      <p:sp>
        <p:nvSpPr>
          <p:cNvPr id="16" name="Rounded Rectangle 15"/>
          <p:cNvSpPr/>
          <p:nvPr/>
        </p:nvSpPr>
        <p:spPr>
          <a:xfrm>
            <a:off x="5080000" y="3460750"/>
            <a:ext cx="1905000" cy="762000"/>
          </a:xfrm>
          <a:prstGeom prst="roundRect">
            <a:avLst>
              <a:gd name="adj" fmla="val 10000"/>
            </a:avLst>
          </a:prstGeom>
          <a:solidFill>
            <a:srgbClr val="E2EAF5"/>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lnSpc>
                <a:spcPct val="115000"/>
              </a:lnSpc>
              <a:spcAft>
                <a:spcPts val="0"/>
              </a:spcAft>
            </a:pPr>
            <a:r>
              <a:rPr sz="2400" b="1">
                <a:solidFill>
                  <a:srgbClr val="14213D"/>
                </a:solidFill>
                <a:latin typeface="Arial"/>
              </a:rPr>
              <a:t>79.8%</a:t>
            </a:r>
          </a:p>
          <a:p>
            <a:pPr algn="ctr">
              <a:lnSpc>
                <a:spcPct val="115000"/>
              </a:lnSpc>
              <a:spcAft>
                <a:spcPts val="0"/>
              </a:spcAft>
            </a:pPr>
            <a:r>
              <a:rPr sz="1300" b="0">
                <a:solidFill>
                  <a:srgbClr val="6B7280"/>
                </a:solidFill>
                <a:latin typeface="Arial"/>
              </a:rPr>
              <a:t>team accuracy</a:t>
            </a:r>
          </a:p>
        </p:txBody>
      </p:sp>
      <p:sp>
        <p:nvSpPr>
          <p:cNvPr id="17" name="Rounded Rectangle 16"/>
          <p:cNvSpPr/>
          <p:nvPr/>
        </p:nvSpPr>
        <p:spPr>
          <a:xfrm>
            <a:off x="7112000" y="3460750"/>
            <a:ext cx="1905000" cy="762000"/>
          </a:xfrm>
          <a:prstGeom prst="roundRect">
            <a:avLst>
              <a:gd name="adj" fmla="val 10000"/>
            </a:avLst>
          </a:prstGeom>
          <a:solidFill>
            <a:srgbClr val="E2EAF5"/>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lnSpc>
                <a:spcPct val="115000"/>
              </a:lnSpc>
              <a:spcAft>
                <a:spcPts val="0"/>
              </a:spcAft>
            </a:pPr>
            <a:r>
              <a:rPr sz="2400" b="1">
                <a:solidFill>
                  <a:srgbClr val="14213D"/>
                </a:solidFill>
                <a:latin typeface="Arial"/>
              </a:rPr>
              <a:t>71.1%</a:t>
            </a:r>
          </a:p>
          <a:p>
            <a:pPr algn="ctr">
              <a:lnSpc>
                <a:spcPct val="115000"/>
              </a:lnSpc>
              <a:spcAft>
                <a:spcPts val="0"/>
              </a:spcAft>
            </a:pPr>
            <a:r>
              <a:rPr sz="1300" b="0">
                <a:solidFill>
                  <a:srgbClr val="6B7280"/>
                </a:solidFill>
                <a:latin typeface="Arial"/>
              </a:rPr>
              <a:t>team accuracy</a:t>
            </a:r>
          </a:p>
        </p:txBody>
      </p:sp>
      <p:sp>
        <p:nvSpPr>
          <p:cNvPr id="18" name="Rounded Rectangle 17"/>
          <p:cNvSpPr/>
          <p:nvPr/>
        </p:nvSpPr>
        <p:spPr>
          <a:xfrm>
            <a:off x="9144000" y="3460750"/>
            <a:ext cx="1905000" cy="762000"/>
          </a:xfrm>
          <a:prstGeom prst="roundRect">
            <a:avLst>
              <a:gd name="adj" fmla="val 10000"/>
            </a:avLst>
          </a:prstGeom>
          <a:solidFill>
            <a:srgbClr val="E2EAF5"/>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lnSpc>
                <a:spcPct val="115000"/>
              </a:lnSpc>
              <a:spcAft>
                <a:spcPts val="0"/>
              </a:spcAft>
            </a:pPr>
            <a:r>
              <a:rPr sz="2400" b="1">
                <a:solidFill>
                  <a:srgbClr val="14213D"/>
                </a:solidFill>
                <a:latin typeface="Arial"/>
              </a:rPr>
              <a:t>45.1%</a:t>
            </a:r>
          </a:p>
          <a:p>
            <a:pPr algn="ctr">
              <a:lnSpc>
                <a:spcPct val="115000"/>
              </a:lnSpc>
              <a:spcAft>
                <a:spcPts val="0"/>
              </a:spcAft>
            </a:pPr>
            <a:r>
              <a:rPr sz="1300" b="0">
                <a:solidFill>
                  <a:srgbClr val="6B7280"/>
                </a:solidFill>
                <a:latin typeface="Arial"/>
              </a:rPr>
              <a:t>team accuracy</a:t>
            </a:r>
          </a:p>
        </p:txBody>
      </p:sp>
      <p:sp>
        <p:nvSpPr>
          <p:cNvPr id="19" name="TextBox 18"/>
          <p:cNvSpPr txBox="1"/>
          <p:nvPr/>
        </p:nvSpPr>
        <p:spPr>
          <a:xfrm>
            <a:off x="812800" y="4413250"/>
            <a:ext cx="2032000" cy="762000"/>
          </a:xfrm>
          <a:prstGeom prst="rect">
            <a:avLst/>
          </a:prstGeom>
          <a:noFill/>
        </p:spPr>
        <p:txBody>
          <a:bodyPr wrap="square" lIns="0" rIns="0" tIns="0" bIns="0" anchor="ctr">
            <a:spAutoFit/>
          </a:bodyPr>
          <a:lstStyle/>
          <a:p>
            <a:pPr algn="l">
              <a:lnSpc>
                <a:spcPct val="115000"/>
              </a:lnSpc>
              <a:spcAft>
                <a:spcPts val="0"/>
              </a:spcAft>
            </a:pPr>
            <a:r>
              <a:rPr sz="2200" b="1">
                <a:solidFill>
                  <a:srgbClr val="14213D"/>
                </a:solidFill>
                <a:latin typeface="Arial"/>
              </a:rPr>
              <a:t>Gemma-4-26B</a:t>
            </a:r>
          </a:p>
        </p:txBody>
      </p:sp>
      <p:sp>
        <p:nvSpPr>
          <p:cNvPr id="20" name="Rounded Rectangle 19"/>
          <p:cNvSpPr/>
          <p:nvPr/>
        </p:nvSpPr>
        <p:spPr>
          <a:xfrm>
            <a:off x="3048000" y="4413250"/>
            <a:ext cx="1905000" cy="762000"/>
          </a:xfrm>
          <a:prstGeom prst="roundRect">
            <a:avLst>
              <a:gd name="adj" fmla="val 10000"/>
            </a:avLst>
          </a:prstGeom>
          <a:solidFill>
            <a:srgbClr val="F8E8DC"/>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lnSpc>
                <a:spcPct val="115000"/>
              </a:lnSpc>
              <a:spcAft>
                <a:spcPts val="0"/>
              </a:spcAft>
            </a:pPr>
            <a:r>
              <a:rPr sz="2400" b="1">
                <a:solidFill>
                  <a:srgbClr val="14213D"/>
                </a:solidFill>
                <a:latin typeface="Arial"/>
              </a:rPr>
              <a:t>99.8%</a:t>
            </a:r>
          </a:p>
          <a:p>
            <a:pPr algn="ctr">
              <a:lnSpc>
                <a:spcPct val="115000"/>
              </a:lnSpc>
              <a:spcAft>
                <a:spcPts val="0"/>
              </a:spcAft>
            </a:pPr>
            <a:r>
              <a:rPr sz="1300" b="0">
                <a:solidFill>
                  <a:srgbClr val="6B7280"/>
                </a:solidFill>
                <a:latin typeface="Arial"/>
              </a:rPr>
              <a:t>team accuracy</a:t>
            </a:r>
          </a:p>
        </p:txBody>
      </p:sp>
      <p:sp>
        <p:nvSpPr>
          <p:cNvPr id="21" name="Rounded Rectangle 20"/>
          <p:cNvSpPr/>
          <p:nvPr/>
        </p:nvSpPr>
        <p:spPr>
          <a:xfrm>
            <a:off x="5080000" y="4413250"/>
            <a:ext cx="1905000" cy="762000"/>
          </a:xfrm>
          <a:prstGeom prst="roundRect">
            <a:avLst>
              <a:gd name="adj" fmla="val 10000"/>
            </a:avLst>
          </a:prstGeom>
          <a:solidFill>
            <a:srgbClr val="F8E8DC"/>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lnSpc>
                <a:spcPct val="115000"/>
              </a:lnSpc>
              <a:spcAft>
                <a:spcPts val="0"/>
              </a:spcAft>
            </a:pPr>
            <a:r>
              <a:rPr sz="2400" b="1">
                <a:solidFill>
                  <a:srgbClr val="14213D"/>
                </a:solidFill>
                <a:latin typeface="Arial"/>
              </a:rPr>
              <a:t>67.9%</a:t>
            </a:r>
          </a:p>
          <a:p>
            <a:pPr algn="ctr">
              <a:lnSpc>
                <a:spcPct val="115000"/>
              </a:lnSpc>
              <a:spcAft>
                <a:spcPts val="0"/>
              </a:spcAft>
            </a:pPr>
            <a:r>
              <a:rPr sz="1300" b="0">
                <a:solidFill>
                  <a:srgbClr val="6B7280"/>
                </a:solidFill>
                <a:latin typeface="Arial"/>
              </a:rPr>
              <a:t>team accuracy</a:t>
            </a:r>
          </a:p>
        </p:txBody>
      </p:sp>
      <p:sp>
        <p:nvSpPr>
          <p:cNvPr id="22" name="Rounded Rectangle 21"/>
          <p:cNvSpPr/>
          <p:nvPr/>
        </p:nvSpPr>
        <p:spPr>
          <a:xfrm>
            <a:off x="7112000" y="4413250"/>
            <a:ext cx="1905000" cy="762000"/>
          </a:xfrm>
          <a:prstGeom prst="roundRect">
            <a:avLst>
              <a:gd name="adj" fmla="val 10000"/>
            </a:avLst>
          </a:prstGeom>
          <a:solidFill>
            <a:srgbClr val="F8E8DC"/>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lnSpc>
                <a:spcPct val="115000"/>
              </a:lnSpc>
              <a:spcAft>
                <a:spcPts val="0"/>
              </a:spcAft>
            </a:pPr>
            <a:r>
              <a:rPr sz="2400" b="1">
                <a:solidFill>
                  <a:srgbClr val="14213D"/>
                </a:solidFill>
                <a:latin typeface="Arial"/>
              </a:rPr>
              <a:t>65.3%</a:t>
            </a:r>
          </a:p>
          <a:p>
            <a:pPr algn="ctr">
              <a:lnSpc>
                <a:spcPct val="115000"/>
              </a:lnSpc>
              <a:spcAft>
                <a:spcPts val="0"/>
              </a:spcAft>
            </a:pPr>
            <a:r>
              <a:rPr sz="1300" b="0">
                <a:solidFill>
                  <a:srgbClr val="6B7280"/>
                </a:solidFill>
                <a:latin typeface="Arial"/>
              </a:rPr>
              <a:t>team accuracy</a:t>
            </a:r>
          </a:p>
        </p:txBody>
      </p:sp>
      <p:sp>
        <p:nvSpPr>
          <p:cNvPr id="23" name="Rounded Rectangle 22"/>
          <p:cNvSpPr/>
          <p:nvPr/>
        </p:nvSpPr>
        <p:spPr>
          <a:xfrm>
            <a:off x="9144000" y="4413250"/>
            <a:ext cx="1905000" cy="762000"/>
          </a:xfrm>
          <a:prstGeom prst="roundRect">
            <a:avLst>
              <a:gd name="adj" fmla="val 10000"/>
            </a:avLst>
          </a:prstGeom>
          <a:solidFill>
            <a:srgbClr val="F8E8DC"/>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lnSpc>
                <a:spcPct val="115000"/>
              </a:lnSpc>
              <a:spcAft>
                <a:spcPts val="0"/>
              </a:spcAft>
            </a:pPr>
            <a:r>
              <a:rPr sz="2400" b="1">
                <a:solidFill>
                  <a:srgbClr val="14213D"/>
                </a:solidFill>
                <a:latin typeface="Arial"/>
              </a:rPr>
              <a:t>36.4%</a:t>
            </a:r>
          </a:p>
          <a:p>
            <a:pPr algn="ctr">
              <a:lnSpc>
                <a:spcPct val="115000"/>
              </a:lnSpc>
              <a:spcAft>
                <a:spcPts val="0"/>
              </a:spcAft>
            </a:pPr>
            <a:r>
              <a:rPr sz="1300" b="0">
                <a:solidFill>
                  <a:srgbClr val="6B7280"/>
                </a:solidFill>
                <a:latin typeface="Arial"/>
              </a:rPr>
              <a:t>team accuracy</a:t>
            </a:r>
          </a:p>
        </p:txBody>
      </p:sp>
      <p:sp>
        <p:nvSpPr>
          <p:cNvPr id="24" name="Rounded Rectangle 23"/>
          <p:cNvSpPr/>
          <p:nvPr/>
        </p:nvSpPr>
        <p:spPr>
          <a:xfrm>
            <a:off x="812800" y="5524500"/>
            <a:ext cx="10566400" cy="635000"/>
          </a:xfrm>
          <a:prstGeom prst="roundRect">
            <a:avLst>
              <a:gd name="adj" fmla="val 1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203200" bIns="203200"/>
          <a:lstStyle/>
          <a:p>
            <a:pPr algn="ctr">
              <a:lnSpc>
                <a:spcPct val="115000"/>
              </a:lnSpc>
              <a:spcAft>
                <a:spcPts val="0"/>
              </a:spcAft>
            </a:pPr>
            <a:r>
              <a:rPr sz="1800" b="0">
                <a:solidFill>
                  <a:srgbClr val="F7F6F2"/>
                </a:solidFill>
                <a:latin typeface="Arial"/>
              </a:rPr>
              <a:t>Record every task once, then replay </a:t>
            </a:r>
            <a:r>
              <a:rPr sz="1800" b="1">
                <a:solidFill>
                  <a:srgbClr val="F0A66B"/>
                </a:solidFill>
                <a:latin typeface="Arial"/>
              </a:rPr>
              <a:t>200 random splits</a:t>
            </a:r>
            <a:r>
              <a:rPr sz="1800" b="0">
                <a:solidFill>
                  <a:srgbClr val="F7F6F2"/>
                </a:solidFill>
                <a:latin typeface="Arial"/>
              </a:rPr>
              <a:t>: half to calibrate CLIMB, half to test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6B7280"/>
                </a:solidFill>
                <a:latin typeface="Arial"/>
              </a:rPr>
              <a:t>15</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B4541A"/>
                </a:solidFill>
                <a:latin typeface="Arial"/>
              </a:rPr>
              <a:t>RESULTS</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000" b="1">
                <a:solidFill>
                  <a:srgbClr val="14213D"/>
                </a:solidFill>
                <a:latin typeface="Georgia"/>
              </a:rPr>
              <a:t>The promise holds on every setting</a:t>
            </a:r>
          </a:p>
        </p:txBody>
      </p:sp>
      <p:pic>
        <p:nvPicPr>
          <p:cNvPr id="5" name="Picture 4" descr="c_viol.png"/>
          <p:cNvPicPr>
            <a:picLocks noChangeAspect="1"/>
          </p:cNvPicPr>
          <p:nvPr/>
        </p:nvPicPr>
        <p:blipFill>
          <a:blip r:embed="rId3"/>
          <a:stretch>
            <a:fillRect/>
          </a:stretch>
        </p:blipFill>
        <p:spPr>
          <a:xfrm>
            <a:off x="812800" y="1999442"/>
            <a:ext cx="7302500" cy="3748115"/>
          </a:xfrm>
          <a:prstGeom prst="rect">
            <a:avLst/>
          </a:prstGeom>
        </p:spPr>
      </p:pic>
      <p:sp>
        <p:nvSpPr>
          <p:cNvPr id="6" name="Rounded Rectangle 5"/>
          <p:cNvSpPr/>
          <p:nvPr/>
        </p:nvSpPr>
        <p:spPr>
          <a:xfrm>
            <a:off x="8445500" y="2286000"/>
            <a:ext cx="2933700" cy="1905000"/>
          </a:xfrm>
          <a:prstGeom prst="roundRect">
            <a:avLst>
              <a:gd name="adj" fmla="val 6000"/>
            </a:avLst>
          </a:prstGeom>
          <a:solidFill>
            <a:srgbClr val="E3ECE2"/>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l">
              <a:lnSpc>
                <a:spcPct val="100000"/>
              </a:lnSpc>
              <a:spcAft>
                <a:spcPts val="600"/>
              </a:spcAft>
            </a:pPr>
            <a:r>
              <a:rPr sz="3600" b="1">
                <a:solidFill>
                  <a:srgbClr val="2F6B34"/>
                </a:solidFill>
                <a:latin typeface="Georgia"/>
              </a:rPr>
              <a:t>≤ 2%</a:t>
            </a:r>
          </a:p>
          <a:p>
            <a:pPr algn="l">
              <a:lnSpc>
                <a:spcPct val="115000"/>
              </a:lnSpc>
              <a:spcAft>
                <a:spcPts val="0"/>
              </a:spcAft>
            </a:pPr>
            <a:r>
              <a:rPr sz="1700" b="0">
                <a:solidFill>
                  <a:srgbClr val="3A4150"/>
                </a:solidFill>
                <a:latin typeface="Arial"/>
              </a:rPr>
              <a:t>of splits broke the promise. Allowed: 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6B7280"/>
                </a:solidFill>
                <a:latin typeface="Arial"/>
              </a:rPr>
              <a:t>16</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B4541A"/>
                </a:solidFill>
                <a:latin typeface="Arial"/>
              </a:rPr>
              <a:t>RESULTS</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000" b="1">
                <a:solidFill>
                  <a:srgbClr val="14213D"/>
                </a:solidFill>
                <a:latin typeface="Georgia"/>
              </a:rPr>
              <a:t>How much it saves</a:t>
            </a:r>
          </a:p>
        </p:txBody>
      </p:sp>
      <p:pic>
        <p:nvPicPr>
          <p:cNvPr id="5" name="Picture 4" descr="c_savings.png"/>
          <p:cNvPicPr>
            <a:picLocks noChangeAspect="1"/>
          </p:cNvPicPr>
          <p:nvPr/>
        </p:nvPicPr>
        <p:blipFill>
          <a:blip r:embed="rId3"/>
          <a:stretch>
            <a:fillRect/>
          </a:stretch>
        </p:blipFill>
        <p:spPr>
          <a:xfrm>
            <a:off x="812800" y="1997499"/>
            <a:ext cx="7302500" cy="3752001"/>
          </a:xfrm>
          <a:prstGeom prst="rect">
            <a:avLst/>
          </a:prstGeom>
        </p:spPr>
      </p:pic>
      <p:sp>
        <p:nvSpPr>
          <p:cNvPr id="6" name="Rounded Rectangle 5"/>
          <p:cNvSpPr/>
          <p:nvPr/>
        </p:nvSpPr>
        <p:spPr>
          <a:xfrm>
            <a:off x="8445500" y="2095500"/>
            <a:ext cx="2933700" cy="1651000"/>
          </a:xfrm>
          <a:prstGeom prst="roundRect">
            <a:avLst>
              <a:gd name="adj" fmla="val 6923"/>
            </a:avLst>
          </a:prstGeom>
          <a:solidFill>
            <a:srgbClr val="E2EAF5"/>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l">
              <a:lnSpc>
                <a:spcPct val="100000"/>
              </a:lnSpc>
              <a:spcAft>
                <a:spcPts val="600"/>
              </a:spcAft>
            </a:pPr>
            <a:r>
              <a:rPr sz="3600" b="1">
                <a:solidFill>
                  <a:srgbClr val="2E5C99"/>
                </a:solidFill>
                <a:latin typeface="Georgia"/>
              </a:rPr>
              <a:t>38% saved</a:t>
            </a:r>
          </a:p>
          <a:p>
            <a:pPr algn="l">
              <a:lnSpc>
                <a:spcPct val="115000"/>
              </a:lnSpc>
              <a:spcAft>
                <a:spcPts val="0"/>
              </a:spcAft>
            </a:pPr>
            <a:r>
              <a:rPr sz="1700" b="0">
                <a:solidFill>
                  <a:srgbClr val="3A4150"/>
                </a:solidFill>
                <a:latin typeface="Arial"/>
              </a:rPr>
              <a:t>allowing 5 points of loss</a:t>
            </a:r>
          </a:p>
        </p:txBody>
      </p:sp>
      <p:sp>
        <p:nvSpPr>
          <p:cNvPr id="7" name="Rounded Rectangle 6"/>
          <p:cNvSpPr/>
          <p:nvPr/>
        </p:nvSpPr>
        <p:spPr>
          <a:xfrm>
            <a:off x="8445500" y="4000500"/>
            <a:ext cx="2933700" cy="1651000"/>
          </a:xfrm>
          <a:prstGeom prst="roundRect">
            <a:avLst>
              <a:gd name="adj" fmla="val 6923"/>
            </a:avLst>
          </a:prstGeom>
          <a:solidFill>
            <a:srgbClr val="E2EAF5"/>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l">
              <a:lnSpc>
                <a:spcPct val="100000"/>
              </a:lnSpc>
              <a:spcAft>
                <a:spcPts val="600"/>
              </a:spcAft>
            </a:pPr>
            <a:r>
              <a:rPr sz="3600" b="1">
                <a:solidFill>
                  <a:srgbClr val="2E5C99"/>
                </a:solidFill>
                <a:latin typeface="Georgia"/>
              </a:rPr>
              <a:t>65% saved</a:t>
            </a:r>
          </a:p>
          <a:p>
            <a:pPr algn="l">
              <a:lnSpc>
                <a:spcPct val="115000"/>
              </a:lnSpc>
              <a:spcAft>
                <a:spcPts val="0"/>
              </a:spcAft>
            </a:pPr>
            <a:r>
              <a:rPr sz="1700" b="0">
                <a:solidFill>
                  <a:srgbClr val="3A4150"/>
                </a:solidFill>
                <a:latin typeface="Arial"/>
              </a:rPr>
              <a:t>allowing 10 points of loss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6B7280"/>
                </a:solidFill>
                <a:latin typeface="Arial"/>
              </a:rPr>
              <a:t>17</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B4541A"/>
                </a:solidFill>
                <a:latin typeface="Arial"/>
              </a:rPr>
              <a:t>RESULTS</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000" b="1">
                <a:solidFill>
                  <a:srgbClr val="14213D"/>
                </a:solidFill>
                <a:latin typeface="Georgia"/>
              </a:rPr>
              <a:t>Without the test, the promise breaks</a:t>
            </a:r>
          </a:p>
        </p:txBody>
      </p:sp>
      <p:pic>
        <p:nvPicPr>
          <p:cNvPr id="5" name="Picture 4" descr="c_tuned.png"/>
          <p:cNvPicPr>
            <a:picLocks noChangeAspect="1"/>
          </p:cNvPicPr>
          <p:nvPr/>
        </p:nvPicPr>
        <p:blipFill>
          <a:blip r:embed="rId3"/>
          <a:stretch>
            <a:fillRect/>
          </a:stretch>
        </p:blipFill>
        <p:spPr>
          <a:xfrm>
            <a:off x="812800" y="1721371"/>
            <a:ext cx="7302500" cy="4304257"/>
          </a:xfrm>
          <a:prstGeom prst="rect">
            <a:avLst/>
          </a:prstGeom>
        </p:spPr>
      </p:pic>
      <p:sp>
        <p:nvSpPr>
          <p:cNvPr id="6" name="Rounded Rectangle 5"/>
          <p:cNvSpPr/>
          <p:nvPr/>
        </p:nvSpPr>
        <p:spPr>
          <a:xfrm>
            <a:off x="8445500" y="2286000"/>
            <a:ext cx="2933700" cy="1905000"/>
          </a:xfrm>
          <a:prstGeom prst="roundRect">
            <a:avLst>
              <a:gd name="adj" fmla="val 6000"/>
            </a:avLst>
          </a:prstGeom>
          <a:solidFill>
            <a:srgbClr val="F6E3E0"/>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l">
              <a:lnSpc>
                <a:spcPct val="100000"/>
              </a:lnSpc>
              <a:spcAft>
                <a:spcPts val="600"/>
              </a:spcAft>
            </a:pPr>
            <a:r>
              <a:rPr sz="3600" b="1">
                <a:solidFill>
                  <a:srgbClr val="B03A2E"/>
                </a:solidFill>
                <a:latin typeface="Georgia"/>
              </a:rPr>
              <a:t>31%</a:t>
            </a:r>
          </a:p>
          <a:p>
            <a:pPr algn="l">
              <a:lnSpc>
                <a:spcPct val="115000"/>
              </a:lnSpc>
              <a:spcAft>
                <a:spcPts val="0"/>
              </a:spcAft>
            </a:pPr>
            <a:r>
              <a:rPr sz="1700" b="0">
                <a:solidFill>
                  <a:srgbClr val="3A4150"/>
                </a:solidFill>
                <a:latin typeface="Arial"/>
              </a:rPr>
              <a:t>of splits broken at ε = 5 by the tuned rule. CLIMB: 0.6%.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12800" y="6413500"/>
            <a:ext cx="10566400" cy="215900"/>
          </a:xfrm>
          <a:prstGeom prst="rect">
            <a:avLst/>
          </a:prstGeom>
          <a:noFill/>
        </p:spPr>
        <p:txBody>
          <a:bodyPr wrap="square" lIns="0" rIns="0" tIns="0" bIns="0" anchor="t">
            <a:spAutoFit/>
          </a:bodyPr>
          <a:lstStyle/>
          <a:p>
            <a:pPr algn="r">
              <a:lnSpc>
                <a:spcPct val="115000"/>
              </a:lnSpc>
              <a:spcAft>
                <a:spcPts val="0"/>
              </a:spcAft>
            </a:pPr>
            <a:r>
              <a:rPr sz="1200" b="0">
                <a:solidFill>
                  <a:srgbClr val="8B97AE"/>
                </a:solidFill>
                <a:latin typeface="Arial"/>
              </a:rPr>
              <a:t>18</a:t>
            </a:r>
          </a:p>
        </p:txBody>
      </p:sp>
      <p:sp>
        <p:nvSpPr>
          <p:cNvPr id="3" name="TextBox 2"/>
          <p:cNvSpPr txBox="1"/>
          <p:nvPr/>
        </p:nvSpPr>
        <p:spPr>
          <a:xfrm>
            <a:off x="812800" y="635000"/>
            <a:ext cx="10566400" cy="254000"/>
          </a:xfrm>
          <a:prstGeom prst="rect">
            <a:avLst/>
          </a:prstGeom>
          <a:noFill/>
        </p:spPr>
        <p:txBody>
          <a:bodyPr wrap="square" lIns="0" rIns="0" tIns="0" bIns="0" anchor="t">
            <a:spAutoFit/>
          </a:bodyPr>
          <a:lstStyle/>
          <a:p>
            <a:pPr algn="l">
              <a:lnSpc>
                <a:spcPct val="115000"/>
              </a:lnSpc>
              <a:spcAft>
                <a:spcPts val="0"/>
              </a:spcAft>
            </a:pPr>
            <a:r>
              <a:rPr sz="1300" b="1">
                <a:solidFill>
                  <a:srgbClr val="F0A66B"/>
                </a:solidFill>
                <a:latin typeface="Arial"/>
              </a:rPr>
              <a:t>TAKEAWAYS</a:t>
            </a:r>
          </a:p>
        </p:txBody>
      </p:sp>
      <p:sp>
        <p:nvSpPr>
          <p:cNvPr id="4" name="TextBox 3"/>
          <p:cNvSpPr txBox="1"/>
          <p:nvPr/>
        </p:nvSpPr>
        <p:spPr>
          <a:xfrm>
            <a:off x="812800" y="889000"/>
            <a:ext cx="10566400" cy="571500"/>
          </a:xfrm>
          <a:prstGeom prst="rect">
            <a:avLst/>
          </a:prstGeom>
          <a:noFill/>
        </p:spPr>
        <p:txBody>
          <a:bodyPr wrap="square" lIns="0" rIns="0" tIns="0" bIns="0" anchor="t">
            <a:spAutoFit/>
          </a:bodyPr>
          <a:lstStyle/>
          <a:p>
            <a:pPr algn="l">
              <a:lnSpc>
                <a:spcPct val="105000"/>
              </a:lnSpc>
              <a:spcAft>
                <a:spcPts val="0"/>
              </a:spcAft>
            </a:pPr>
            <a:r>
              <a:rPr sz="3600" b="1">
                <a:solidFill>
                  <a:srgbClr val="F7F6F2"/>
                </a:solidFill>
                <a:latin typeface="Georgia"/>
              </a:rPr>
              <a:t>Call the team only when you must</a:t>
            </a:r>
          </a:p>
        </p:txBody>
      </p:sp>
      <p:sp>
        <p:nvSpPr>
          <p:cNvPr id="5" name="Rectangle 4"/>
          <p:cNvSpPr/>
          <p:nvPr/>
        </p:nvSpPr>
        <p:spPr>
          <a:xfrm>
            <a:off x="812800" y="2095500"/>
            <a:ext cx="3384550" cy="38100"/>
          </a:xfrm>
          <a:prstGeom prst="rect">
            <a:avLst/>
          </a:prstGeom>
          <a:solidFill>
            <a:srgbClr val="F0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2286000"/>
            <a:ext cx="3384550" cy="1651000"/>
          </a:xfrm>
          <a:prstGeom prst="rect">
            <a:avLst/>
          </a:prstGeom>
          <a:noFill/>
        </p:spPr>
        <p:txBody>
          <a:bodyPr wrap="square" lIns="0" rIns="0" tIns="0" bIns="0" anchor="t">
            <a:spAutoFit/>
          </a:bodyPr>
          <a:lstStyle/>
          <a:p>
            <a:pPr algn="l">
              <a:lnSpc>
                <a:spcPct val="115000"/>
              </a:lnSpc>
              <a:spcAft>
                <a:spcPts val="1000"/>
              </a:spcAft>
            </a:pPr>
            <a:r>
              <a:rPr sz="2800" b="1">
                <a:solidFill>
                  <a:srgbClr val="F7F6F2"/>
                </a:solidFill>
                <a:latin typeface="Georgia"/>
              </a:rPr>
              <a:t>Teams are costly</a:t>
            </a:r>
          </a:p>
          <a:p>
            <a:pPr algn="l">
              <a:lnSpc>
                <a:spcPct val="115000"/>
              </a:lnSpc>
              <a:spcAft>
                <a:spcPts val="0"/>
              </a:spcAft>
            </a:pPr>
            <a:r>
              <a:rPr sz="2000" b="0">
                <a:solidFill>
                  <a:srgbClr val="C9D1E0"/>
                </a:solidFill>
                <a:latin typeface="Arial"/>
              </a:rPr>
              <a:t>and sometimes break right answers.</a:t>
            </a:r>
          </a:p>
        </p:txBody>
      </p:sp>
      <p:sp>
        <p:nvSpPr>
          <p:cNvPr id="7" name="Rectangle 6"/>
          <p:cNvSpPr/>
          <p:nvPr/>
        </p:nvSpPr>
        <p:spPr>
          <a:xfrm>
            <a:off x="4400550" y="2095500"/>
            <a:ext cx="3384550" cy="38100"/>
          </a:xfrm>
          <a:prstGeom prst="rect">
            <a:avLst/>
          </a:prstGeom>
          <a:solidFill>
            <a:srgbClr val="F0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00550" y="2286000"/>
            <a:ext cx="3384550" cy="1651000"/>
          </a:xfrm>
          <a:prstGeom prst="rect">
            <a:avLst/>
          </a:prstGeom>
          <a:noFill/>
        </p:spPr>
        <p:txBody>
          <a:bodyPr wrap="square" lIns="0" rIns="0" tIns="0" bIns="0" anchor="t">
            <a:spAutoFit/>
          </a:bodyPr>
          <a:lstStyle/>
          <a:p>
            <a:pPr algn="l">
              <a:lnSpc>
                <a:spcPct val="115000"/>
              </a:lnSpc>
              <a:spcAft>
                <a:spcPts val="1000"/>
              </a:spcAft>
            </a:pPr>
            <a:r>
              <a:rPr sz="2800" b="1">
                <a:solidFill>
                  <a:srgbClr val="F7F6F2"/>
                </a:solidFill>
                <a:latin typeface="Georgia"/>
              </a:rPr>
              <a:t>CLIMB keeps a promise</a:t>
            </a:r>
          </a:p>
          <a:p>
            <a:pPr algn="l">
              <a:lnSpc>
                <a:spcPct val="115000"/>
              </a:lnSpc>
              <a:spcAft>
                <a:spcPts val="0"/>
              </a:spcAft>
            </a:pPr>
            <a:r>
              <a:rPr sz="2000" b="0">
                <a:solidFill>
                  <a:srgbClr val="C9D1E0"/>
                </a:solidFill>
                <a:latin typeface="Arial"/>
              </a:rPr>
              <a:t>you choose the accuracy loss, it finds the cheapest safe rule.</a:t>
            </a:r>
          </a:p>
        </p:txBody>
      </p:sp>
      <p:sp>
        <p:nvSpPr>
          <p:cNvPr id="9" name="Rectangle 8"/>
          <p:cNvSpPr/>
          <p:nvPr/>
        </p:nvSpPr>
        <p:spPr>
          <a:xfrm>
            <a:off x="7988300" y="2095500"/>
            <a:ext cx="3384550" cy="38100"/>
          </a:xfrm>
          <a:prstGeom prst="rect">
            <a:avLst/>
          </a:prstGeom>
          <a:solidFill>
            <a:srgbClr val="F0A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88300" y="2286000"/>
            <a:ext cx="3384550" cy="1651000"/>
          </a:xfrm>
          <a:prstGeom prst="rect">
            <a:avLst/>
          </a:prstGeom>
          <a:noFill/>
        </p:spPr>
        <p:txBody>
          <a:bodyPr wrap="square" lIns="0" rIns="0" tIns="0" bIns="0" anchor="t">
            <a:spAutoFit/>
          </a:bodyPr>
          <a:lstStyle/>
          <a:p>
            <a:pPr algn="l">
              <a:lnSpc>
                <a:spcPct val="115000"/>
              </a:lnSpc>
              <a:spcAft>
                <a:spcPts val="1000"/>
              </a:spcAft>
            </a:pPr>
            <a:r>
              <a:rPr sz="2800" b="1">
                <a:solidFill>
                  <a:srgbClr val="F7F6F2"/>
                </a:solidFill>
                <a:latin typeface="Georgia"/>
              </a:rPr>
              <a:t>38–65% saved</a:t>
            </a:r>
          </a:p>
          <a:p>
            <a:pPr algn="l">
              <a:lnSpc>
                <a:spcPct val="115000"/>
              </a:lnSpc>
              <a:spcAft>
                <a:spcPts val="0"/>
              </a:spcAft>
            </a:pPr>
            <a:r>
              <a:rPr sz="2000" b="0">
                <a:solidFill>
                  <a:srgbClr val="C9D1E0"/>
                </a:solidFill>
                <a:latin typeface="Arial"/>
              </a:rPr>
              <a:t>at 5 and 10 points, with the promise kept.</a:t>
            </a:r>
          </a:p>
        </p:txBody>
      </p:sp>
      <p:sp>
        <p:nvSpPr>
          <p:cNvPr id="11" name="TextBox 10"/>
          <p:cNvSpPr txBox="1"/>
          <p:nvPr/>
        </p:nvSpPr>
        <p:spPr>
          <a:xfrm>
            <a:off x="812800" y="4699000"/>
            <a:ext cx="10566400" cy="508000"/>
          </a:xfrm>
          <a:prstGeom prst="rect">
            <a:avLst/>
          </a:prstGeom>
          <a:noFill/>
        </p:spPr>
        <p:txBody>
          <a:bodyPr wrap="square" lIns="0" rIns="0" tIns="0" bIns="0" anchor="t">
            <a:spAutoFit/>
          </a:bodyPr>
          <a:lstStyle/>
          <a:p>
            <a:pPr algn="l">
              <a:lnSpc>
                <a:spcPct val="115000"/>
              </a:lnSpc>
              <a:spcAft>
                <a:spcPts val="0"/>
              </a:spcAft>
            </a:pPr>
            <a:r>
              <a:rPr sz="1800" b="0">
                <a:solidFill>
                  <a:srgbClr val="C9D1E0"/>
                </a:solidFill>
                <a:latin typeface="Arial"/>
              </a:rPr>
              <a:t>Assumes calibration tasks resemble deployment tasks. Recalibrating takes under a second.</a:t>
            </a:r>
          </a:p>
        </p:txBody>
      </p:sp>
      <p:sp>
        <p:nvSpPr>
          <p:cNvPr id="12" name="TextBox 11"/>
          <p:cNvSpPr txBox="1"/>
          <p:nvPr/>
        </p:nvSpPr>
        <p:spPr>
          <a:xfrm>
            <a:off x="812800" y="5397500"/>
            <a:ext cx="10566400" cy="571500"/>
          </a:xfrm>
          <a:prstGeom prst="rect">
            <a:avLst/>
          </a:prstGeom>
          <a:noFill/>
        </p:spPr>
        <p:txBody>
          <a:bodyPr wrap="square" lIns="0" rIns="0" tIns="0" bIns="0" anchor="t">
            <a:spAutoFit/>
          </a:bodyPr>
          <a:lstStyle/>
          <a:p>
            <a:pPr algn="l">
              <a:lnSpc>
                <a:spcPct val="115000"/>
              </a:lnSpc>
              <a:spcAft>
                <a:spcPts val="0"/>
              </a:spcAft>
            </a:pPr>
            <a:r>
              <a:rPr sz="3600" b="1">
                <a:solidFill>
                  <a:srgbClr val="F0A66B"/>
                </a:solidFill>
                <a:latin typeface="Georgia"/>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