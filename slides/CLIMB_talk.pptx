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2" r:id="rId34"/>
    <p:sldId id="257" r:id="rId9"/>
    <p:sldId id="259" r:id="rId11"/>
    <p:sldId id="261" r:id="rId13"/>
    <p:sldId id="263" r:id="rId15"/>
    <p:sldId id="264" r:id="rId16"/>
    <p:sldId id="286" r:id="rId38"/>
    <p:sldId id="283" r:id="rId35"/>
    <p:sldId id="266" r:id="rId18"/>
    <p:sldId id="284" r:id="rId36"/>
    <p:sldId id="267" r:id="rId19"/>
    <p:sldId id="268" r:id="rId20"/>
    <p:sldId id="269" r:id="rId21"/>
    <p:sldId id="285" r:id="rId37"/>
    <p:sldId id="271" r:id="rId23"/>
    <p:sldId id="277" r:id="rId29"/>
    <p:sldId id="279" r:id="rId31"/>
    <p:sldId id="280" r:id="rId32"/>
    <p:sldId id="281" r:id="rId33"/>
    <p:sldId id="258" r:id="rId10"/>
    <p:sldId id="260" r:id="rId12"/>
    <p:sldId id="262" r:id="rId14"/>
    <p:sldId id="265" r:id="rId17"/>
    <p:sldId id="278" r:id="rId30"/>
    <p:sldId id="270" r:id="rId22"/>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 LLM agents can be more accurate than one model call, but they cost several times as much. This talk is about when the team is worth calling, and how to skip it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is an agent team? Instead of asking one model once, we split the work into roles, all played by the same model. A planner writes a step-by-step plan. An executor solves the task following the plan. A reviewer checks the answer. If the reviewer rejects it, the executor revises, for up to five rounds. This plan, execute, review pattern is common in multi-agent frameworks. And it works: on all twelve of our settings the team is the most accurate, 2 to 21 points above a direct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use a team? It is more accurate. Grey is a direct answer, blue a single agent that reasons, orange the team. On every one of our twelve settings the team is the most accurate: 2 to 21 points above the direct answer, and up to 9 points above the single agent. The gains are largest on hard reasoning, BBEH.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accuracy comes at a price, in two ways. Left: the team uses 1.3 to 6.3 times the tokens of a single agent, because planner, executor and reviewer each add calls, for up to five rounds. Right: against the single agent, green bars are wrong answers the team fixes, red bars are right answers it breaks, up to 9 percent of tasks. So the team is better on balance, but it is expensive and not uniformly better.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broken answers come from? In 84 percent of them the executor's first draft is already wrong, and the reviewer accepts it. Reviewers accept 23 to 58 percent of wrong answers. This is not just noise: rerunning the team reproduces about half of these losses.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team is expensive and not always better, the idea is a ladder. Try the cheapest configuration first, a direct answer. If it looks right, stop. Otherwise try a single agent. Only if that also looks unreliable, call the full team. All three use the same model. The ladder itself is simple. A task stops when a score is above a threshold. So the real question, and the rest of the talk, is: which score, and above all, which threshold?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Deciding when to climb breaks into four questions, and the rest of the method answers them in order. First, a signal: does the cheap answer look right? Second, a rule: where do we draw the line on that signal? Third, a check: how do we know the line is safe? Fourth, how far up the ladder to look before deciding. And if no rule passes the check, we simply always call the team.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one: what tells us a cheap answer is good enough? A good signal must tell right answers from wrong ones, and it must cost far less than the team, or there is nothing to save. We use two. The first is confidence: how probable the model finds its own answer. A model that knows the answer tends to put its probability on one answer. An unsure model spreads it over several. It is free: it comes with the answer. The second is agreement: run the direct answer and the single agent independently and see whether they match. There is one right answer but many wrong ones, so two independent tries rarely land on the same wrong answer. It costs one more cheap call, and that call's answer is the one we keep. It needs no log-probabilities.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they work? Left: for each setting, the direct answer's accuracy on its more confident half of tasks against its less confident half. On most settings the confident half is right much more often. On three Gemma settings it is backwards: the model is confidently wrong. Right: the single agent's accuracy when the two cheap answers agree against when they disagree. Agreement separates on most settings, including the three where confidence fails, for example 90 against 34 percent on Gemma FRAMES. It is weak on gpt-oss-20b BBEH, where both answers are mostly wrong. So the two signals cover each other. What does CLIMB do when confidence is backwards? Three things. First, option B ranks tasks by agreement first, so confidence only breaks ties. On Gemma FRAMES and MuSiQue, CLIMB picks option B in every split. Second, the check catches it: a backwards score puts the losses first, so the test fails early and that threshold is never deployed. Third, in the worst case CLIMB calls the team. On these three Gemma settings it uses 69 to 96 percent of the team's tokens at a 5 point tolerance: it saves less, but the promise still holds.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two: where do we draw the line? A rule stops the task when its score is above a threshold. The natural shortcut is to pick the threshold by hand. Such rules can look fine on average but lose a lot on some settings. A fixed confidence threshold with the same average cost as CLIMB loses up to 16 points. Always using the single agent loses up to 9. CLIMB at a 5 point tolerance loses at most 2.8. And nothing at deployment tells you which setting is the bad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replace guessing with a promise? You pick only the tolerance, say 5 points, and the data picks the threshold. Here is the workflow. Take the labelled tasks and split them in two. On the calibration half, run the betting test on every candidate threshold, from strict to loose, and stop at the first failure. The thresholds before that failure are certified. Deploy the cheapest certified one. If none passes, always call the team. Then check on the test half, which calibration never saw: did the deployed threshold keep the loss within 5 points, and how many tokens did it save? In our experiments we repeat this split 200 times. In deployment, you only need the calibration half: the test half is simply your future tasks. Next, how the betting test works.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CLIMB checks a threshold: the betting test. Imagine a gambler who bets that a threshold is safe. He starts with one dollar. We reveal the labelled tasks one by one, and compare the threshold's answer with the team's on each. If both give the same result, which is most tasks, his money grows a little, times 1.03. If the threshold stops on a wrong cheap answer the team got right, he loses a lot, about half. If it keeps a right cheap answer the team broke, he wins a lot, times 1.5. If his money ever reaches 20 dollars, the threshold passes. If it never does, it fails.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this tell safe thresholds from unsafe ones? Average the multiplier over tasks: it is one plus the bet size times the tolerance minus the threshold's true loss. A safe threshold loses less than the tolerance, so on average each task multiplies the money by more than one, and it grows. An unsafe one loses more, so each task multiplies it by less than one, and it shrinks. On the chart, three real thresholds from gpt-oss-120b on MuSiQue: the green one loses half a point and gets rich fast, the blue one loses 2 points and passes more slowly, the red one loses 6 points, more than the 5 allowed, and goes broke. The bet size is set from the earlier tasks only, never from the task being revealed.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should reaching 20 convince us? Suppose the threshold is actually unsafe, so it loses more than the tolerance. Then every bet loses money on average, so the gambler's average wealth stays at most one dollar. His money can never go negative. If he reached 20 dollars more than 1 time in 20, those cases alone would push his average above one dollar. That is impossible. So an unsafe threshold passes at most 5 percent of the time. Twenty is just one over five percent. Stopping as soon as he reaches 20 is covered too: freeze the money there and the same argument holds. We check two families of rules, each at 5 percent, so 90 percent overall. A pass means we accept the threshold and are wrong at most 5 percent of the time, like a driving test: passing gets you a licence, it does not prove you can drive.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should we read a pass? A bad rule reaches 20 dollars at most 5 percent of the time. So we agree: reach 20, and we accept the rule. That decision is wrong at most 5 percent of the time. Two readings are wrong. A pass does not prove the rule is good: a bad rule stays bad, we were just unlucky. And it does not mean 5 percent of passed rules are bad. It is like a driving test: if bad drivers pass at most 5 percent of the time, passing gets you a licence, it does not prove you can drive. We run two such tests, one per family, each at 5 percent, so the promise holds with 90 percent probability.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it together, this is how CLIMB sets the threshold. Each dot is one candidate threshold. On the left, a strict threshold: almost every task goes to the team. Moving right, the threshold gets looser, more tasks stop early, cheaper but riskier. We run the betting test on each, from strict to loose, and stop at the first failure. The threshold we deploy is the loosest one that passed, the star, at 57 percent of the team's tokens. Nobody picked it by hand: it comes from your tolerance and your data. On another model or task, the same steps give a different threshold. Stopping at the first failure means testing many thresholds adds no extra risk: to pass an unsafe one, the first unsafe one in the line would have to pass, and that happens at most 5 percent of the time. The same runs for the two-rung family, and CLIMB keeps the cheaper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detail of the bet. Skipping the team is not only a risk: sometimes the cheap answer is right and the team would have broken it. Usual tests count only the losses. Our bet also pays out on saved answers, so they offset lost ones. On the chart, every test is valid, but they certify very different savings: a worst-case bound certifies nothing, ignoring saved answers keeps 79 percent of tokens, CLIMB's bet 62.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four: how far up the ladder should we look before deciding? Option A stops after the direct answer when it is confident. Option B also runs the single agent and stops when the two agree. Which is cheaper depends on the model and the task, so CLIMB checks both on the calibration data and deploys the cheaper one that passes, splitting the error budget between them. If neither passes, it always calls the team.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 on three open models and four benchmarks: math, two open-book question answering sets, and hard reasoning. We record every rung for every task once, then replay 200 random splits: half to calibrate CLIMB, half to evaluate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the promise hold? For each setting, the share of splits where CLIMB lost more than its tolerance. The guarantee allows up to 10 percent. We see at most 2 percent. A separate check with 5,000 random calibration draws per setting gives at most 3.4 percent.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does it save? Each bar is the share of the team's tokens CLIMB uses. At a 5 point tolerance it saves 38 percent on average, at 10 points 65 percent. Savings are smallest where confidence points the wrong way, on Gemma, and the guarantee still holds there: CLIMB just calls the team more often.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on 3 models and 4 benchmarks: math, two open-book question answering sets and hard reasoning. We record every task once, then replay 200 random splits, half to calibrate, half to test. Left: the share of splits where CLIMB lost more than its tolerance. The guarantee allows 10 percent, we see at most 2. Right: the share of the team's tokens CLIMB uses. It saves 38 percent at a 5 point tolerance and 65 percent at 10. Savings are smallest on Gemma, where confidence points the wrong way, and the promise still holds there.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just tune the threshold on the same data, without the test? It is cheaper on paper, but it breaks the promise: at 5 points it fails on 31 percent of splits on average, against at most 2 percent for CLIMB. A rule tuned to the edge on one sample tends to cross it on the next. The extra tokens CLIMB spends are the price of the guarantee.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Agent teams are expensive and sometimes hurt. CLIMB calls them only when cheaper answers cannot be certified, keeps a user-chosen accuracy promise, and saves 38 to 65 percent of tokens. The guarantee assumes calibration tasks look like deployment tasks. Thank you.</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what this could offer Amex. First, token spend. CLIMB only needs a score and a few hundred labelled tasks, so it can sit in front of any multi-agent workflow. Closed APIs often hide log-probabilities. We can still get them: feed the closed model's answer to an open model and read off each token's log-probability, the way PPO's reference model scores tokens written by another policy. The agreement of two cheap calls needs no log-probabilities at all. The guarantee holds whatever score we plug in: a weaker score saves less, it does not break the promise. We have not tested these proxy log-probabilities yet, so treat that part as a proposal. Second, design insights. More agents is not always better: reviewers pass many wrong drafts and teams break some right answers. Route each task instead of fixing one design for all. Cheap signals such as agreement are strong. And any routing rule, from model cascades to human review, can be given the same kind of guarantee. Thank you.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slide. Agent teams are more accurate, but they cost several times the tokens and sometimes break right answers. CLIMB tries cheap answers first and calls the team only when a cheap answer looks unreliable. You set how much accuracy you can lose, and the data sets the threshold: a betting test on a few hundred labelled tasks certifies the cheapest threshold that keeps this promise, with 90 percent probability. Across three models and four benchmarks it saves 38 to 65 percent of tokens, and the promise broke in at most 2 percent of splits. For Amex, it can sit in front of any multi-agent workflow.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step two, the threshold. Once we have a score, where do we set the line? Two shortcuts come to mind, and both break the promise. Left: fix one confidence threshold for every setting, chosen so its average cost matches CLIMB. It is fine on most settings, but loses 8 to 16 points on four of them. A threshold that is safe on all four gpt-oss-20b benchmarks loses up to 16 points on the other two models. The right threshold depends on the model and the task. Right: tune the threshold on each setting's own data, picking the cheapest one whose loss on the sample is within 5 points. A threshold tuned to the edge on one sample tends to cross it on the next: it breaks the promise on 31 percent of splits. So we need a threshold set from each setting's data, with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betting test? We need a test that, on a few hundred labelled tasks, accepts an unsafe threshold at most 5 percent of the time. Three things make this hard here. First, the loss is signed: a cheap answer can lose a right answer, but it can also save one the team breaks, and teams break up to 9 percent. Classic bounds such as Hoeffding have to cover the whole range from minus one to one and certify nothing. Ignoring the saves throws that credit away. Second, most tasks have loss zero, so the loss varies little. A good test should use that. Third, we test many thresholds, and splitting the 5 percent among them would make each test much stricter. The betting test handles all three. It bets on the signed loss, its bet size adapts to the variance it has seen, and in a strict-to-loose sequence each test can use the full 5 percent. The guarantee needs no model of the data, only that calibration tasks look like deployment tasks. On the chart, every test is valid, but CLIMB's test certifies a threshold at 62 percent of the team's tokens, against 79 to 100 for the others.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exactly what CLIMB does for one threshold. Take the calibration tasks in random order and start with one dollar. For each task, the threshold either stops early and keeps the cheap answer, or escalates and uses the team's answer. The loss is the team's correctness minus ours: plus one if we lost a right answer, minus one if we saved one, zero otherwise. An escalated task always has loss zero. The bet size is set from the earlier tasks only, never from the current one, and is capped so one loss at most halves the money. Multiply the money by one plus bet size times tolerance minus loss. In the example, with bet size 0.5 and a 5 point tolerance, task 3 loses a right answer and the money halves, task 4 saves one and it grows by half. If the money ever reaches 20 dollars, the threshold is certified and we move to the next, looser one. If it never does, we stop: no looser threshold is deployed. We run this for options A and B, each at 5 percent.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the rule a threshold, and not something more complex? Think of it as packing a bag. Stopping a task early saves the team's tokens on it, but risks the accuracy the team would have added, its gain. You can afford a total risk of epsilon. To save the most tokens, you stop first the tasks with the least gain per token saved, exactly like a knapsack. Now, if the gain falls as confidence rises, those are the most confident tasks. So the best rule stops every task above some confidence, and escalates the rest: a threshold. The paper proves this as a proposition. Does the gain fall with confidence? On the right, the gain from calling the team in each fifth of tasks, on the nine settings where confidence ranks answers the right way. It falls from 17 points on the least confident fifth to 4 to 6 on the confident ones, and it falls on eight of the nine. On Gemma's three backwards settings it does not, and there the guarantee still holds, the savings come from agreement. So theory gives the form of the rule. What it cannot give is where the line goes: that depends on the unknown gain, and the data has to decide.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0.png"/><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3.png"/><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1905000"/>
            <a:ext cx="10566400" cy="254000"/>
          </a:xfrm>
          <a:prstGeom prst="rect">
            <a:avLst/>
          </a:prstGeom>
          <a:noFill/>
        </p:spPr>
        <p:txBody>
          <a:bodyPr wrap="square" lIns="0" rIns="0" tIns="0" bIns="0" anchor="t">
            <a:spAutoFit/>
          </a:bodyPr>
          <a:lstStyle/>
          <a:p>
            <a:pPr algn="l">
              <a:lnSpc>
                <a:spcPct val="115000"/>
              </a:lnSpc>
              <a:spcAft>
                <a:spcPts val="0"/>
              </a:spcAft>
            </a:pPr>
            <a:r>
              <a:rPr sz="1600" b="1">
                <a:solidFill>
                  <a:srgbClr val="006FCF"/>
                </a:solidFill>
                <a:latin typeface="Arial"/>
              </a:rPr>
              <a:t>CLIMB</a:t>
            </a:r>
          </a:p>
        </p:txBody>
      </p:sp>
      <p:sp>
        <p:nvSpPr>
          <p:cNvPr id="3" name="TextBox 2"/>
          <p:cNvSpPr txBox="1"/>
          <p:nvPr/>
        </p:nvSpPr>
        <p:spPr>
          <a:xfrm>
            <a:off x="812800" y="2222500"/>
            <a:ext cx="10566400" cy="825500"/>
          </a:xfrm>
          <a:prstGeom prst="rect">
            <a:avLst/>
          </a:prstGeom>
          <a:noFill/>
        </p:spPr>
        <p:txBody>
          <a:bodyPr wrap="square" lIns="0" rIns="0" tIns="0" bIns="0" anchor="t">
            <a:spAutoFit/>
          </a:bodyPr>
          <a:lstStyle/>
          <a:p>
            <a:pPr algn="l">
              <a:lnSpc>
                <a:spcPct val="115000"/>
              </a:lnSpc>
              <a:spcAft>
                <a:spcPts val="0"/>
              </a:spcAft>
            </a:pPr>
            <a:r>
              <a:rPr sz="5600" b="1">
                <a:solidFill>
                  <a:srgbClr val="00175A"/>
                </a:solidFill>
                <a:latin typeface="Georgia"/>
              </a:rPr>
              <a:t>When to Call the Team</a:t>
            </a:r>
          </a:p>
        </p:txBody>
      </p:sp>
      <p:sp>
        <p:nvSpPr>
          <p:cNvPr id="4" name="TextBox 3"/>
          <p:cNvSpPr txBox="1"/>
          <p:nvPr/>
        </p:nvSpPr>
        <p:spPr>
          <a:xfrm>
            <a:off x="812800" y="3143250"/>
            <a:ext cx="10566400" cy="381000"/>
          </a:xfrm>
          <a:prstGeom prst="rect">
            <a:avLst/>
          </a:prstGeom>
          <a:noFill/>
        </p:spPr>
        <p:txBody>
          <a:bodyPr wrap="square" lIns="0" rIns="0" tIns="0" bIns="0" anchor="t">
            <a:spAutoFit/>
          </a:bodyPr>
          <a:lstStyle/>
          <a:p>
            <a:pPr algn="l">
              <a:lnSpc>
                <a:spcPct val="115000"/>
              </a:lnSpc>
              <a:spcAft>
                <a:spcPts val="0"/>
              </a:spcAft>
            </a:pPr>
            <a:r>
              <a:rPr sz="2400" b="0">
                <a:solidFill>
                  <a:srgbClr val="333B47"/>
                </a:solidFill>
                <a:latin typeface="Arial"/>
              </a:rPr>
              <a:t>Save tokens on multi-agent LLM pipelines, with a guarantee on accuracy</a:t>
            </a:r>
          </a:p>
        </p:txBody>
      </p:sp>
      <p:sp>
        <p:nvSpPr>
          <p:cNvPr id="5" name="Rectangle 4"/>
          <p:cNvSpPr/>
          <p:nvPr/>
        </p:nvSpPr>
        <p:spPr>
          <a:xfrm>
            <a:off x="812800" y="3810000"/>
            <a:ext cx="1524000" cy="3175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4064000"/>
            <a:ext cx="10566400" cy="317500"/>
          </a:xfrm>
          <a:prstGeom prst="rect">
            <a:avLst/>
          </a:prstGeom>
          <a:noFill/>
        </p:spPr>
        <p:txBody>
          <a:bodyPr wrap="square" lIns="0" rIns="0" tIns="0" bIns="0" anchor="t">
            <a:spAutoFit/>
          </a:bodyPr>
          <a:lstStyle/>
          <a:p>
            <a:pPr algn="l">
              <a:lnSpc>
                <a:spcPct val="115000"/>
              </a:lnSpc>
              <a:spcAft>
                <a:spcPts val="0"/>
              </a:spcAft>
            </a:pPr>
            <a:r>
              <a:rPr sz="1800" b="0">
                <a:solidFill>
                  <a:srgbClr val="6B7480"/>
                </a:solidFill>
                <a:latin typeface="Arial"/>
              </a:rPr>
              <a:t>Jianjun Gao, Jinxin Liu, Dongyun Lin, Hongyun Cai, Zheng 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BACKGROUND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is an agent team?</a:t>
            </a:r>
          </a:p>
        </p:txBody>
      </p:sp>
      <p:sp>
        <p:nvSpPr>
          <p:cNvPr id="4" name="TextBox 3"/>
          <p:cNvSpPr txBox="1"/>
          <p:nvPr/>
        </p:nvSpPr>
        <p:spPr>
          <a:xfrm>
            <a:off x="812800" y="1714500"/>
            <a:ext cx="3810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Single agent</a:t>
            </a:r>
          </a:p>
        </p:txBody>
      </p:sp>
      <p:sp>
        <p:nvSpPr>
          <p:cNvPr id="5" name="Rounded Rectangle 4"/>
          <p:cNvSpPr/>
          <p:nvPr/>
        </p:nvSpPr>
        <p:spPr>
          <a:xfrm>
            <a:off x="812800" y="2095500"/>
            <a:ext cx="1905000" cy="825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Question</a:t>
            </a:r>
          </a:p>
        </p:txBody>
      </p:sp>
      <p:sp>
        <p:nvSpPr>
          <p:cNvPr id="6" name="Right Arrow 5"/>
          <p:cNvSpPr/>
          <p:nvPr/>
        </p:nvSpPr>
        <p:spPr>
          <a:xfrm>
            <a:off x="2825750" y="2349500"/>
            <a:ext cx="571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92500" y="2095500"/>
            <a:ext cx="1905000" cy="825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Model</a:t>
            </a:r>
          </a:p>
          <a:p>
            <a:pPr algn="ctr">
              <a:lnSpc>
                <a:spcPct val="115000"/>
              </a:lnSpc>
              <a:spcAft>
                <a:spcPts val="0"/>
              </a:spcAft>
            </a:pPr>
            <a:r>
              <a:rPr sz="1600" b="0">
                <a:solidFill>
                  <a:srgbClr val="00175A"/>
                </a:solidFill>
                <a:latin typeface="Arial"/>
              </a:rPr>
              <a:t>thinks once</a:t>
            </a:r>
          </a:p>
        </p:txBody>
      </p:sp>
      <p:sp>
        <p:nvSpPr>
          <p:cNvPr id="8" name="Right Arrow 7"/>
          <p:cNvSpPr/>
          <p:nvPr/>
        </p:nvSpPr>
        <p:spPr>
          <a:xfrm>
            <a:off x="5505450" y="2349500"/>
            <a:ext cx="571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2095500"/>
            <a:ext cx="1905000" cy="825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Answer</a:t>
            </a:r>
          </a:p>
        </p:txBody>
      </p:sp>
      <p:sp>
        <p:nvSpPr>
          <p:cNvPr id="10" name="TextBox 9"/>
          <p:cNvSpPr txBox="1"/>
          <p:nvPr/>
        </p:nvSpPr>
        <p:spPr>
          <a:xfrm>
            <a:off x="812800" y="3651250"/>
            <a:ext cx="5080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6FCF"/>
                </a:solidFill>
                <a:latin typeface="Arial"/>
              </a:rPr>
              <a:t>Agent team: plan, execute, review</a:t>
            </a:r>
          </a:p>
        </p:txBody>
      </p:sp>
      <p:sp>
        <p:nvSpPr>
          <p:cNvPr id="11" name="Rounded Rectangle 10"/>
          <p:cNvSpPr/>
          <p:nvPr/>
        </p:nvSpPr>
        <p:spPr>
          <a:xfrm>
            <a:off x="812800" y="4064000"/>
            <a:ext cx="1778000" cy="1079500"/>
          </a:xfrm>
          <a:prstGeom prst="roundRect">
            <a:avLst>
              <a:gd name="adj" fmla="val 10000"/>
            </a:avLst>
          </a:prstGeom>
          <a:solidFill>
            <a:srgbClr val="FFFFFF"/>
          </a:solidFill>
          <a:ln w="254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Question</a:t>
            </a:r>
          </a:p>
        </p:txBody>
      </p:sp>
      <p:sp>
        <p:nvSpPr>
          <p:cNvPr id="12" name="Right Arrow 11"/>
          <p:cNvSpPr/>
          <p:nvPr/>
        </p:nvSpPr>
        <p:spPr>
          <a:xfrm>
            <a:off x="262890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00355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Planner</a:t>
            </a:r>
          </a:p>
          <a:p>
            <a:pPr algn="ctr">
              <a:lnSpc>
                <a:spcPct val="115000"/>
              </a:lnSpc>
              <a:spcAft>
                <a:spcPts val="0"/>
              </a:spcAft>
            </a:pPr>
            <a:r>
              <a:rPr sz="1500" b="0">
                <a:solidFill>
                  <a:srgbClr val="006FCF"/>
                </a:solidFill>
                <a:latin typeface="Arial"/>
              </a:rPr>
              <a:t>writes a plan</a:t>
            </a:r>
          </a:p>
        </p:txBody>
      </p:sp>
      <p:sp>
        <p:nvSpPr>
          <p:cNvPr id="14" name="Right Arrow 13"/>
          <p:cNvSpPr/>
          <p:nvPr/>
        </p:nvSpPr>
        <p:spPr>
          <a:xfrm>
            <a:off x="481965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9430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Executor</a:t>
            </a:r>
          </a:p>
          <a:p>
            <a:pPr algn="ctr">
              <a:lnSpc>
                <a:spcPct val="115000"/>
              </a:lnSpc>
              <a:spcAft>
                <a:spcPts val="0"/>
              </a:spcAft>
            </a:pPr>
            <a:r>
              <a:rPr sz="1500" b="0">
                <a:solidFill>
                  <a:srgbClr val="006FCF"/>
                </a:solidFill>
                <a:latin typeface="Arial"/>
              </a:rPr>
              <a:t>follows the plan</a:t>
            </a:r>
          </a:p>
        </p:txBody>
      </p:sp>
      <p:sp>
        <p:nvSpPr>
          <p:cNvPr id="16" name="Right Arrow 15"/>
          <p:cNvSpPr/>
          <p:nvPr/>
        </p:nvSpPr>
        <p:spPr>
          <a:xfrm>
            <a:off x="701040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8505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Reviewer</a:t>
            </a:r>
          </a:p>
          <a:p>
            <a:pPr algn="ctr">
              <a:lnSpc>
                <a:spcPct val="115000"/>
              </a:lnSpc>
              <a:spcAft>
                <a:spcPts val="0"/>
              </a:spcAft>
            </a:pPr>
            <a:r>
              <a:rPr sz="1500" b="0">
                <a:solidFill>
                  <a:srgbClr val="006FCF"/>
                </a:solidFill>
                <a:latin typeface="Arial"/>
              </a:rPr>
              <a:t>accept or reject</a:t>
            </a:r>
          </a:p>
        </p:txBody>
      </p:sp>
      <p:sp>
        <p:nvSpPr>
          <p:cNvPr id="18" name="Right Arrow 17"/>
          <p:cNvSpPr/>
          <p:nvPr/>
        </p:nvSpPr>
        <p:spPr>
          <a:xfrm>
            <a:off x="920115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575800" y="4064000"/>
            <a:ext cx="1778000" cy="1079500"/>
          </a:xfrm>
          <a:prstGeom prst="roundRect">
            <a:avLst>
              <a:gd name="adj" fmla="val 10000"/>
            </a:avLst>
          </a:prstGeom>
          <a:solidFill>
            <a:srgbClr val="FFFFFF"/>
          </a:solidFill>
          <a:ln w="254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Answer</a:t>
            </a:r>
          </a:p>
        </p:txBody>
      </p:sp>
      <p:sp>
        <p:nvSpPr>
          <p:cNvPr id="20" name="Left Arrow 19"/>
          <p:cNvSpPr/>
          <p:nvPr/>
        </p:nvSpPr>
        <p:spPr>
          <a:xfrm>
            <a:off x="5194300" y="5334000"/>
            <a:ext cx="2540000" cy="317500"/>
          </a:xfrm>
          <a:prstGeom prst="leftArrow">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5000" y="5715000"/>
            <a:ext cx="4064000" cy="317500"/>
          </a:xfrm>
          <a:prstGeom prst="rect">
            <a:avLst/>
          </a:prstGeom>
          <a:noFill/>
        </p:spPr>
        <p:txBody>
          <a:bodyPr wrap="square" lIns="0" rIns="0" tIns="0" bIns="0" anchor="t">
            <a:spAutoFit/>
          </a:bodyPr>
          <a:lstStyle/>
          <a:p>
            <a:pPr algn="ctr">
              <a:lnSpc>
                <a:spcPct val="115000"/>
              </a:lnSpc>
              <a:spcAft>
                <a:spcPts val="0"/>
              </a:spcAft>
            </a:pPr>
            <a:r>
              <a:rPr sz="1800" b="1">
                <a:solidFill>
                  <a:srgbClr val="006FCF"/>
                </a:solidFill>
                <a:latin typeface="Arial"/>
              </a:rPr>
              <a:t>rejected? revise, up to 5 rounds</a:t>
            </a:r>
          </a:p>
        </p:txBody>
      </p:sp>
      <p:sp>
        <p:nvSpPr>
          <p:cNvPr id="22" name="Rounded Rectangle 21"/>
          <p:cNvSpPr/>
          <p:nvPr/>
        </p:nvSpPr>
        <p:spPr>
          <a:xfrm>
            <a:off x="8445500" y="16510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00000"/>
              </a:lnSpc>
              <a:spcAft>
                <a:spcPts val="600"/>
              </a:spcAft>
            </a:pPr>
            <a:r>
              <a:rPr sz="3600" b="1">
                <a:solidFill>
                  <a:srgbClr val="006FCF"/>
                </a:solidFill>
                <a:latin typeface="Georgia"/>
              </a:rPr>
              <a:t>+2 to +21</a:t>
            </a:r>
          </a:p>
          <a:p>
            <a:pPr algn="l">
              <a:lnSpc>
                <a:spcPct val="115000"/>
              </a:lnSpc>
              <a:spcAft>
                <a:spcPts val="0"/>
              </a:spcAft>
            </a:pPr>
            <a:r>
              <a:rPr sz="1700" b="0">
                <a:solidFill>
                  <a:srgbClr val="333B47"/>
                </a:solidFill>
                <a:latin typeface="Arial"/>
              </a:rPr>
              <a:t>points over a direct answer. Best on 12 / 12 settings.</a:t>
            </a:r>
          </a:p>
        </p:txBody>
      </p:sp>
      <p:sp>
        <p:nvSpPr>
          <p:cNvPr id="23" name="TextBox 22"/>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BACKGROUND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Teams are more accurate</a:t>
            </a:r>
          </a:p>
        </p:txBody>
      </p:sp>
      <p:pic>
        <p:nvPicPr>
          <p:cNvPr id="4" name="Picture 3" descr="c_accuracy.png"/>
          <p:cNvPicPr>
            <a:picLocks noChangeAspect="1"/>
          </p:cNvPicPr>
          <p:nvPr/>
        </p:nvPicPr>
        <p:blipFill>
          <a:blip r:embed="rId3"/>
          <a:stretch>
            <a:fillRect/>
          </a:stretch>
        </p:blipFill>
        <p:spPr>
          <a:xfrm>
            <a:off x="812800" y="1922942"/>
            <a:ext cx="7302500" cy="3901114"/>
          </a:xfrm>
          <a:prstGeom prst="rect">
            <a:avLst/>
          </a:prstGeom>
        </p:spPr>
      </p:pic>
      <p:sp>
        <p:nvSpPr>
          <p:cNvPr id="5" name="Rounded Rectangle 4"/>
          <p:cNvSpPr/>
          <p:nvPr/>
        </p:nvSpPr>
        <p:spPr>
          <a:xfrm>
            <a:off x="8445500" y="20955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6FCF"/>
                </a:solidFill>
                <a:latin typeface="Georgia"/>
              </a:rPr>
              <a:t>+2 to +21</a:t>
            </a:r>
          </a:p>
          <a:p>
            <a:pPr algn="l">
              <a:lnSpc>
                <a:spcPct val="115000"/>
              </a:lnSpc>
              <a:spcAft>
                <a:spcPts val="0"/>
              </a:spcAft>
            </a:pPr>
            <a:r>
              <a:rPr sz="1700" b="0">
                <a:solidFill>
                  <a:srgbClr val="333B47"/>
                </a:solidFill>
                <a:latin typeface="Arial"/>
              </a:rPr>
              <a:t>points over a direct answer</a:t>
            </a:r>
          </a:p>
        </p:txBody>
      </p:sp>
      <p:sp>
        <p:nvSpPr>
          <p:cNvPr id="6" name="Rounded Rectangle 5"/>
          <p:cNvSpPr/>
          <p:nvPr/>
        </p:nvSpPr>
        <p:spPr>
          <a:xfrm>
            <a:off x="8445500" y="40005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6FCF"/>
                </a:solidFill>
                <a:latin typeface="Georgia"/>
              </a:rPr>
              <a:t>12 / 12</a:t>
            </a:r>
          </a:p>
          <a:p>
            <a:pPr algn="l">
              <a:lnSpc>
                <a:spcPct val="115000"/>
              </a:lnSpc>
              <a:spcAft>
                <a:spcPts val="0"/>
              </a:spcAft>
            </a:pPr>
            <a:r>
              <a:rPr sz="1700" b="0">
                <a:solidFill>
                  <a:srgbClr val="333B47"/>
                </a:solidFill>
                <a:latin typeface="Arial"/>
              </a:rPr>
              <a:t>settings where the team is best, up to 9 points over a single agent</a:t>
            </a:r>
          </a:p>
        </p:txBody>
      </p:sp>
      <p:sp>
        <p:nvSpPr>
          <p:cNvPr id="7" name="TextBox 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CATCH</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Teams are costly, and sometimes harmful</a:t>
            </a:r>
          </a:p>
        </p:txBody>
      </p:sp>
      <p:sp>
        <p:nvSpPr>
          <p:cNvPr id="4" name="TextBox 3"/>
          <p:cNvSpPr txBox="1"/>
          <p:nvPr/>
        </p:nvSpPr>
        <p:spPr>
          <a:xfrm>
            <a:off x="8128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00175A"/>
                </a:solidFill>
                <a:latin typeface="Arial"/>
              </a:rPr>
              <a:t>Cost: up to </a:t>
            </a:r>
            <a:r>
              <a:rPr sz="2400" b="1">
                <a:solidFill>
                  <a:srgbClr val="B4541A"/>
                </a:solidFill>
                <a:latin typeface="Arial"/>
              </a:rPr>
              <a:t>6.3×</a:t>
            </a:r>
            <a:r>
              <a:rPr sz="2400" b="1">
                <a:solidFill>
                  <a:srgbClr val="00175A"/>
                </a:solidFill>
                <a:latin typeface="Arial"/>
              </a:rPr>
              <a:t> a single agent</a:t>
            </a:r>
          </a:p>
        </p:txBody>
      </p:sp>
      <p:pic>
        <p:nvPicPr>
          <p:cNvPr id="5" name="Picture 4" descr="c_cost_n.png"/>
          <p:cNvPicPr>
            <a:picLocks noChangeAspect="1"/>
          </p:cNvPicPr>
          <p:nvPr/>
        </p:nvPicPr>
        <p:blipFill>
          <a:blip r:embed="rId3"/>
          <a:stretch>
            <a:fillRect/>
          </a:stretch>
        </p:blipFill>
        <p:spPr>
          <a:xfrm>
            <a:off x="925882" y="2159000"/>
            <a:ext cx="4853835" cy="3937000"/>
          </a:xfrm>
          <a:prstGeom prst="rect">
            <a:avLst/>
          </a:prstGeom>
        </p:spPr>
      </p:pic>
      <p:sp>
        <p:nvSpPr>
          <p:cNvPr id="6" name="TextBox 5"/>
          <p:cNvSpPr txBox="1"/>
          <p:nvPr/>
        </p:nvSpPr>
        <p:spPr>
          <a:xfrm>
            <a:off x="62992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00175A"/>
                </a:solidFill>
                <a:latin typeface="Arial"/>
              </a:rPr>
              <a:t>Harm: up to </a:t>
            </a:r>
            <a:r>
              <a:rPr sz="2400" b="1">
                <a:solidFill>
                  <a:srgbClr val="B03A2E"/>
                </a:solidFill>
                <a:latin typeface="Arial"/>
              </a:rPr>
              <a:t>9%</a:t>
            </a:r>
            <a:r>
              <a:rPr sz="2400" b="1">
                <a:solidFill>
                  <a:srgbClr val="00175A"/>
                </a:solidFill>
                <a:latin typeface="Arial"/>
              </a:rPr>
              <a:t> of tasks broken</a:t>
            </a:r>
          </a:p>
        </p:txBody>
      </p:sp>
      <p:pic>
        <p:nvPicPr>
          <p:cNvPr id="7" name="Picture 6" descr="c_flows_n.png"/>
          <p:cNvPicPr>
            <a:picLocks noChangeAspect="1"/>
          </p:cNvPicPr>
          <p:nvPr/>
        </p:nvPicPr>
        <p:blipFill>
          <a:blip r:embed="rId4"/>
          <a:stretch>
            <a:fillRect/>
          </a:stretch>
        </p:blipFill>
        <p:spPr>
          <a:xfrm>
            <a:off x="6299200" y="2168345"/>
            <a:ext cx="5080000" cy="3918309"/>
          </a:xfrm>
          <a:prstGeom prst="rect">
            <a:avLst/>
          </a:prstGeom>
        </p:spPr>
      </p:pic>
      <p:sp>
        <p:nvSpPr>
          <p:cNvPr id="8" name="TextBox 7"/>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PROBLEM</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does the team break right answers?</a:t>
            </a:r>
          </a:p>
        </p:txBody>
      </p:sp>
      <p:sp>
        <p:nvSpPr>
          <p:cNvPr id="4" name="Rounded Rectangle 3"/>
          <p:cNvSpPr/>
          <p:nvPr/>
        </p:nvSpPr>
        <p:spPr>
          <a:xfrm>
            <a:off x="812800" y="2095500"/>
            <a:ext cx="2159000" cy="1397000"/>
          </a:xfrm>
          <a:prstGeom prst="roundRect">
            <a:avLst>
              <a:gd name="adj" fmla="val 8181"/>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Planner</a:t>
            </a:r>
          </a:p>
          <a:p>
            <a:pPr algn="ctr">
              <a:lnSpc>
                <a:spcPct val="115000"/>
              </a:lnSpc>
              <a:spcAft>
                <a:spcPts val="0"/>
              </a:spcAft>
            </a:pPr>
            <a:r>
              <a:rPr sz="1700" b="1">
                <a:solidFill>
                  <a:srgbClr val="00175A"/>
                </a:solidFill>
                <a:latin typeface="Arial"/>
              </a:rPr>
              <a:t>writes a plan</a:t>
            </a:r>
          </a:p>
        </p:txBody>
      </p:sp>
      <p:sp>
        <p:nvSpPr>
          <p:cNvPr id="5" name="Right Arrow 4"/>
          <p:cNvSpPr/>
          <p:nvPr/>
        </p:nvSpPr>
        <p:spPr>
          <a:xfrm>
            <a:off x="30480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543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Executor</a:t>
            </a:r>
          </a:p>
          <a:p>
            <a:pPr algn="ctr">
              <a:lnSpc>
                <a:spcPct val="115000"/>
              </a:lnSpc>
              <a:spcAft>
                <a:spcPts val="0"/>
              </a:spcAft>
            </a:pPr>
            <a:r>
              <a:rPr sz="1700" b="1">
                <a:solidFill>
                  <a:srgbClr val="B03A2E"/>
                </a:solidFill>
                <a:latin typeface="Arial"/>
              </a:rPr>
              <a:t>first draft is WRONG</a:t>
            </a:r>
          </a:p>
        </p:txBody>
      </p:sp>
      <p:sp>
        <p:nvSpPr>
          <p:cNvPr id="7" name="Right Arrow 6"/>
          <p:cNvSpPr/>
          <p:nvPr/>
        </p:nvSpPr>
        <p:spPr>
          <a:xfrm>
            <a:off x="57785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73800" y="2095500"/>
            <a:ext cx="2159000" cy="1397000"/>
          </a:xfrm>
          <a:prstGeom prst="roundRect">
            <a:avLst>
              <a:gd name="adj" fmla="val 8181"/>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Reviewer</a:t>
            </a:r>
          </a:p>
          <a:p>
            <a:pPr algn="ctr">
              <a:lnSpc>
                <a:spcPct val="115000"/>
              </a:lnSpc>
              <a:spcAft>
                <a:spcPts val="0"/>
              </a:spcAft>
            </a:pPr>
            <a:r>
              <a:rPr sz="1700" b="1">
                <a:solidFill>
                  <a:srgbClr val="00175A"/>
                </a:solidFill>
                <a:latin typeface="Arial"/>
              </a:rPr>
              <a:t>“Looks good” ACCEPTED</a:t>
            </a:r>
          </a:p>
        </p:txBody>
      </p:sp>
      <p:sp>
        <p:nvSpPr>
          <p:cNvPr id="9" name="Right Arrow 8"/>
          <p:cNvSpPr/>
          <p:nvPr/>
        </p:nvSpPr>
        <p:spPr>
          <a:xfrm>
            <a:off x="85090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004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Final answer</a:t>
            </a:r>
          </a:p>
          <a:p>
            <a:pPr algn="ctr">
              <a:lnSpc>
                <a:spcPct val="115000"/>
              </a:lnSpc>
              <a:spcAft>
                <a:spcPts val="0"/>
              </a:spcAft>
            </a:pPr>
            <a:r>
              <a:rPr sz="1700" b="1">
                <a:solidFill>
                  <a:srgbClr val="B03A2E"/>
                </a:solidFill>
                <a:latin typeface="Arial"/>
              </a:rPr>
              <a:t>WRONG</a:t>
            </a:r>
          </a:p>
        </p:txBody>
      </p:sp>
      <p:sp>
        <p:nvSpPr>
          <p:cNvPr id="11" name="Rounded Rectangle 10"/>
          <p:cNvSpPr/>
          <p:nvPr/>
        </p:nvSpPr>
        <p:spPr>
          <a:xfrm>
            <a:off x="812800" y="4064000"/>
            <a:ext cx="5080000" cy="1587500"/>
          </a:xfrm>
          <a:prstGeom prst="roundRect">
            <a:avLst>
              <a:gd name="adj" fmla="val 7199"/>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84%</a:t>
            </a:r>
          </a:p>
          <a:p>
            <a:pPr algn="l">
              <a:lnSpc>
                <a:spcPct val="115000"/>
              </a:lnSpc>
              <a:spcAft>
                <a:spcPts val="0"/>
              </a:spcAft>
            </a:pPr>
            <a:r>
              <a:rPr sz="1700" b="0">
                <a:solidFill>
                  <a:srgbClr val="333B47"/>
                </a:solidFill>
                <a:latin typeface="Arial"/>
              </a:rPr>
              <a:t>of broken answers start as a wrong first draft the reviewer did not catch</a:t>
            </a:r>
          </a:p>
        </p:txBody>
      </p:sp>
      <p:sp>
        <p:nvSpPr>
          <p:cNvPr id="12" name="Rounded Rectangle 11"/>
          <p:cNvSpPr/>
          <p:nvPr/>
        </p:nvSpPr>
        <p:spPr>
          <a:xfrm>
            <a:off x="6299200" y="4064000"/>
            <a:ext cx="5080000" cy="1587500"/>
          </a:xfrm>
          <a:prstGeom prst="roundRect">
            <a:avLst>
              <a:gd name="adj" fmla="val 7199"/>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23–58%</a:t>
            </a:r>
          </a:p>
          <a:p>
            <a:pPr algn="l">
              <a:lnSpc>
                <a:spcPct val="115000"/>
              </a:lnSpc>
              <a:spcAft>
                <a:spcPts val="0"/>
              </a:spcAft>
            </a:pPr>
            <a:r>
              <a:rPr sz="1700" b="0">
                <a:solidFill>
                  <a:srgbClr val="333B47"/>
                </a:solidFill>
                <a:latin typeface="Arial"/>
              </a:rPr>
              <a:t>of wrong answers are accepted by the reviewer</a:t>
            </a:r>
          </a:p>
        </p:txBody>
      </p:sp>
      <p:sp>
        <p:nvSpPr>
          <p:cNvPr id="13" name="TextBox 12"/>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IDEA</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Climb a ladder: call the team only when needed</a:t>
            </a:r>
          </a:p>
        </p:txBody>
      </p:sp>
      <p:sp>
        <p:nvSpPr>
          <p:cNvPr id="4" name="Rounded Rectangle 3"/>
          <p:cNvSpPr/>
          <p:nvPr/>
        </p:nvSpPr>
        <p:spPr>
          <a:xfrm>
            <a:off x="812800" y="1619250"/>
            <a:ext cx="10566400" cy="508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l">
              <a:lnSpc>
                <a:spcPct val="115000"/>
              </a:lnSpc>
              <a:spcAft>
                <a:spcPts val="0"/>
              </a:spcAft>
            </a:pPr>
            <a:r>
              <a:rPr sz="2200" b="1">
                <a:solidFill>
                  <a:srgbClr val="66B2F0"/>
                </a:solidFill>
                <a:latin typeface="Arial"/>
              </a:rPr>
              <a:t>Stop if score &gt; threshold.  The key question: which threshold?</a:t>
            </a:r>
          </a:p>
        </p:txBody>
      </p:sp>
      <p:sp>
        <p:nvSpPr>
          <p:cNvPr id="5" name="Rectangle 4"/>
          <p:cNvSpPr/>
          <p:nvPr/>
        </p:nvSpPr>
        <p:spPr>
          <a:xfrm>
            <a:off x="1016000" y="4127500"/>
            <a:ext cx="2540000" cy="1587500"/>
          </a:xfrm>
          <a:prstGeom prst="rect">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Direct answer</a:t>
            </a:r>
          </a:p>
          <a:p>
            <a:pPr algn="ctr">
              <a:lnSpc>
                <a:spcPct val="115000"/>
              </a:lnSpc>
              <a:spcAft>
                <a:spcPts val="0"/>
              </a:spcAft>
            </a:pPr>
            <a:r>
              <a:rPr sz="1800" b="1">
                <a:solidFill>
                  <a:srgbClr val="00175A"/>
                </a:solidFill>
                <a:latin typeface="Arial"/>
              </a:rPr>
              <a:t>cheapest</a:t>
            </a:r>
          </a:p>
        </p:txBody>
      </p:sp>
      <p:sp>
        <p:nvSpPr>
          <p:cNvPr id="6" name="TextBox 5"/>
          <p:cNvSpPr txBox="1"/>
          <p:nvPr/>
        </p:nvSpPr>
        <p:spPr>
          <a:xfrm>
            <a:off x="3556000" y="4064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480"/>
                </a:solidFill>
                <a:latin typeface="Arial"/>
              </a:rPr>
              <a:t>not sure?
go up</a:t>
            </a:r>
          </a:p>
        </p:txBody>
      </p:sp>
      <p:sp>
        <p:nvSpPr>
          <p:cNvPr id="7" name="Right Arrow 6"/>
          <p:cNvSpPr/>
          <p:nvPr/>
        </p:nvSpPr>
        <p:spPr>
          <a:xfrm>
            <a:off x="3651250" y="4572000"/>
            <a:ext cx="825500" cy="2794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0" y="3238500"/>
            <a:ext cx="2540000" cy="2476500"/>
          </a:xfrm>
          <a:prstGeom prst="rect">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Single agent</a:t>
            </a:r>
          </a:p>
          <a:p>
            <a:pPr algn="ctr">
              <a:lnSpc>
                <a:spcPct val="115000"/>
              </a:lnSpc>
              <a:spcAft>
                <a:spcPts val="0"/>
              </a:spcAft>
            </a:pPr>
            <a:r>
              <a:rPr sz="1800" b="1">
                <a:solidFill>
                  <a:srgbClr val="00175A"/>
                </a:solidFill>
                <a:latin typeface="Arial"/>
              </a:rPr>
              <a:t>medium</a:t>
            </a:r>
          </a:p>
        </p:txBody>
      </p:sp>
      <p:sp>
        <p:nvSpPr>
          <p:cNvPr id="9" name="TextBox 8"/>
          <p:cNvSpPr txBox="1"/>
          <p:nvPr/>
        </p:nvSpPr>
        <p:spPr>
          <a:xfrm>
            <a:off x="7112000" y="3175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480"/>
                </a:solidFill>
                <a:latin typeface="Arial"/>
              </a:rPr>
              <a:t>not sure?
go up</a:t>
            </a:r>
          </a:p>
        </p:txBody>
      </p:sp>
      <p:sp>
        <p:nvSpPr>
          <p:cNvPr id="10" name="Right Arrow 9"/>
          <p:cNvSpPr/>
          <p:nvPr/>
        </p:nvSpPr>
        <p:spPr>
          <a:xfrm>
            <a:off x="7207250" y="3683000"/>
            <a:ext cx="825500" cy="2794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128000" y="2349500"/>
            <a:ext cx="2540000" cy="3365500"/>
          </a:xfrm>
          <a:prstGeom prst="rect">
            <a:avLst/>
          </a:prstGeom>
          <a:solidFill>
            <a:srgbClr val="DDEDFB"/>
          </a:solidFill>
          <a:ln w="317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Agent team</a:t>
            </a:r>
          </a:p>
          <a:p>
            <a:pPr algn="ctr">
              <a:lnSpc>
                <a:spcPct val="115000"/>
              </a:lnSpc>
              <a:spcAft>
                <a:spcPts val="0"/>
              </a:spcAft>
            </a:pPr>
            <a:r>
              <a:rPr sz="1800" b="1">
                <a:solidFill>
                  <a:srgbClr val="006FCF"/>
                </a:solidFill>
                <a:latin typeface="Arial"/>
              </a:rPr>
              <a:t>most expensive</a:t>
            </a:r>
          </a:p>
        </p:txBody>
      </p:sp>
      <p:sp>
        <p:nvSpPr>
          <p:cNvPr id="12" name="TextBox 11"/>
          <p:cNvSpPr txBox="1"/>
          <p:nvPr/>
        </p:nvSpPr>
        <p:spPr>
          <a:xfrm>
            <a:off x="1016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3" name="TextBox 12"/>
          <p:cNvSpPr txBox="1"/>
          <p:nvPr/>
        </p:nvSpPr>
        <p:spPr>
          <a:xfrm>
            <a:off x="4572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4" name="TextBox 13"/>
          <p:cNvSpPr txBox="1"/>
          <p:nvPr/>
        </p:nvSpPr>
        <p:spPr>
          <a:xfrm>
            <a:off x="8128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006FCF"/>
                </a:solidFill>
                <a:latin typeface="Arial"/>
              </a:rPr>
              <a:t>always answers</a:t>
            </a:r>
          </a:p>
        </p:txBody>
      </p:sp>
      <p:sp>
        <p:nvSpPr>
          <p:cNvPr id="15" name="TextBox 14"/>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400" b="1">
                <a:solidFill>
                  <a:srgbClr val="00175A"/>
                </a:solidFill>
                <a:latin typeface="Georgia"/>
              </a:rPr>
              <a:t>Deciding when to climb: four questions</a:t>
            </a:r>
          </a:p>
        </p:txBody>
      </p:sp>
      <p:sp>
        <p:nvSpPr>
          <p:cNvPr id="4" name="Rounded Rectangle 3"/>
          <p:cNvSpPr/>
          <p:nvPr/>
        </p:nvSpPr>
        <p:spPr>
          <a:xfrm>
            <a:off x="8128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1</a:t>
            </a:r>
          </a:p>
          <a:p>
            <a:pPr algn="l">
              <a:lnSpc>
                <a:spcPct val="115000"/>
              </a:lnSpc>
              <a:spcAft>
                <a:spcPts val="1200"/>
              </a:spcAft>
            </a:pPr>
            <a:r>
              <a:rPr sz="2400" b="1">
                <a:solidFill>
                  <a:srgbClr val="00175A"/>
                </a:solidFill>
                <a:latin typeface="Arial"/>
              </a:rPr>
              <a:t>Signal</a:t>
            </a:r>
          </a:p>
          <a:p>
            <a:pPr algn="l">
              <a:lnSpc>
                <a:spcPct val="115000"/>
              </a:lnSpc>
              <a:spcAft>
                <a:spcPts val="1600"/>
              </a:spcAft>
            </a:pPr>
            <a:r>
              <a:rPr sz="1800" b="0">
                <a:solidFill>
                  <a:srgbClr val="333B47"/>
                </a:solidFill>
                <a:latin typeface="Arial"/>
              </a:rPr>
              <a:t>Does the cheap answer look right?</a:t>
            </a:r>
          </a:p>
          <a:p>
            <a:pPr algn="l">
              <a:lnSpc>
                <a:spcPct val="115000"/>
              </a:lnSpc>
              <a:spcAft>
                <a:spcPts val="0"/>
              </a:spcAft>
            </a:pPr>
            <a:r>
              <a:rPr sz="1800" b="1">
                <a:solidFill>
                  <a:srgbClr val="006FCF"/>
                </a:solidFill>
                <a:latin typeface="Arial"/>
              </a:rPr>
              <a:t>→ confidence and agreement</a:t>
            </a:r>
          </a:p>
        </p:txBody>
      </p:sp>
      <p:sp>
        <p:nvSpPr>
          <p:cNvPr id="5" name="Rounded Rectangle 4"/>
          <p:cNvSpPr/>
          <p:nvPr/>
        </p:nvSpPr>
        <p:spPr>
          <a:xfrm>
            <a:off x="35179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2</a:t>
            </a:r>
          </a:p>
          <a:p>
            <a:pPr algn="l">
              <a:lnSpc>
                <a:spcPct val="115000"/>
              </a:lnSpc>
              <a:spcAft>
                <a:spcPts val="1200"/>
              </a:spcAft>
            </a:pPr>
            <a:r>
              <a:rPr sz="2400" b="1">
                <a:solidFill>
                  <a:srgbClr val="00175A"/>
                </a:solidFill>
                <a:latin typeface="Arial"/>
              </a:rPr>
              <a:t>Rule</a:t>
            </a:r>
          </a:p>
          <a:p>
            <a:pPr algn="l">
              <a:lnSpc>
                <a:spcPct val="115000"/>
              </a:lnSpc>
              <a:spcAft>
                <a:spcPts val="1600"/>
              </a:spcAft>
            </a:pPr>
            <a:r>
              <a:rPr sz="1800" b="0">
                <a:solidFill>
                  <a:srgbClr val="333B47"/>
                </a:solidFill>
                <a:latin typeface="Arial"/>
              </a:rPr>
              <a:t>Where do we draw the line?</a:t>
            </a:r>
          </a:p>
          <a:p>
            <a:pPr algn="l">
              <a:lnSpc>
                <a:spcPct val="115000"/>
              </a:lnSpc>
              <a:spcAft>
                <a:spcPts val="0"/>
              </a:spcAft>
            </a:pPr>
            <a:r>
              <a:rPr sz="1800" b="1">
                <a:solidFill>
                  <a:srgbClr val="006FCF"/>
                </a:solidFill>
                <a:latin typeface="Arial"/>
              </a:rPr>
              <a:t>→ a threshold on the score</a:t>
            </a:r>
          </a:p>
        </p:txBody>
      </p:sp>
      <p:sp>
        <p:nvSpPr>
          <p:cNvPr id="6" name="Rounded Rectangle 5"/>
          <p:cNvSpPr/>
          <p:nvPr/>
        </p:nvSpPr>
        <p:spPr>
          <a:xfrm>
            <a:off x="6223000" y="1841500"/>
            <a:ext cx="2451100" cy="3429000"/>
          </a:xfrm>
          <a:prstGeom prst="roundRect">
            <a:avLst>
              <a:gd name="adj" fmla="val 4663"/>
            </a:avLst>
          </a:prstGeom>
          <a:solidFill>
            <a:srgbClr val="DDEDFB"/>
          </a:solidFill>
          <a:ln w="381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3</a:t>
            </a:r>
          </a:p>
          <a:p>
            <a:pPr algn="l">
              <a:lnSpc>
                <a:spcPct val="115000"/>
              </a:lnSpc>
              <a:spcAft>
                <a:spcPts val="1200"/>
              </a:spcAft>
            </a:pPr>
            <a:r>
              <a:rPr sz="2400" b="1">
                <a:solidFill>
                  <a:srgbClr val="00175A"/>
                </a:solidFill>
                <a:latin typeface="Arial"/>
              </a:rPr>
              <a:t>Check</a:t>
            </a:r>
          </a:p>
          <a:p>
            <a:pPr algn="l">
              <a:lnSpc>
                <a:spcPct val="115000"/>
              </a:lnSpc>
              <a:spcAft>
                <a:spcPts val="1600"/>
              </a:spcAft>
            </a:pPr>
            <a:r>
              <a:rPr sz="1800" b="0">
                <a:solidFill>
                  <a:srgbClr val="333B47"/>
                </a:solidFill>
                <a:latin typeface="Arial"/>
              </a:rPr>
              <a:t>Is that line safe?</a:t>
            </a:r>
          </a:p>
          <a:p>
            <a:pPr algn="l">
              <a:lnSpc>
                <a:spcPct val="115000"/>
              </a:lnSpc>
              <a:spcAft>
                <a:spcPts val="0"/>
              </a:spcAft>
            </a:pPr>
            <a:r>
              <a:rPr sz="1800" b="1">
                <a:solidFill>
                  <a:srgbClr val="006FCF"/>
                </a:solidFill>
                <a:latin typeface="Arial"/>
              </a:rPr>
              <a:t>→ a betting test: the core</a:t>
            </a:r>
          </a:p>
        </p:txBody>
      </p:sp>
      <p:sp>
        <p:nvSpPr>
          <p:cNvPr id="7" name="Rounded Rectangle 6"/>
          <p:cNvSpPr/>
          <p:nvPr/>
        </p:nvSpPr>
        <p:spPr>
          <a:xfrm>
            <a:off x="89281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4</a:t>
            </a:r>
          </a:p>
          <a:p>
            <a:pPr algn="l">
              <a:lnSpc>
                <a:spcPct val="115000"/>
              </a:lnSpc>
              <a:spcAft>
                <a:spcPts val="1200"/>
              </a:spcAft>
            </a:pPr>
            <a:r>
              <a:rPr sz="2400" b="1">
                <a:solidFill>
                  <a:srgbClr val="00175A"/>
                </a:solidFill>
                <a:latin typeface="Arial"/>
              </a:rPr>
              <a:t>Depth</a:t>
            </a:r>
          </a:p>
          <a:p>
            <a:pPr algn="l">
              <a:lnSpc>
                <a:spcPct val="115000"/>
              </a:lnSpc>
              <a:spcAft>
                <a:spcPts val="1600"/>
              </a:spcAft>
            </a:pPr>
            <a:r>
              <a:rPr sz="1800" b="0">
                <a:solidFill>
                  <a:srgbClr val="333B47"/>
                </a:solidFill>
                <a:latin typeface="Arial"/>
              </a:rPr>
              <a:t>Look one rung up or two?</a:t>
            </a:r>
          </a:p>
          <a:p>
            <a:pPr algn="l">
              <a:lnSpc>
                <a:spcPct val="115000"/>
              </a:lnSpc>
              <a:spcAft>
                <a:spcPts val="0"/>
              </a:spcAft>
            </a:pPr>
            <a:r>
              <a:rPr sz="1800" b="1">
                <a:solidFill>
                  <a:srgbClr val="006FCF"/>
                </a:solidFill>
                <a:latin typeface="Arial"/>
              </a:rPr>
              <a:t>→ let the data choose</a:t>
            </a:r>
          </a:p>
        </p:txBody>
      </p:sp>
      <p:sp>
        <p:nvSpPr>
          <p:cNvPr id="8" name="TextBox 7"/>
          <p:cNvSpPr txBox="1"/>
          <p:nvPr/>
        </p:nvSpPr>
        <p:spPr>
          <a:xfrm>
            <a:off x="812800" y="5524500"/>
            <a:ext cx="10566400" cy="381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No rule passes the check?  →  always call the team.  Worst case: no savings, never lost accuracy.</a:t>
            </a:r>
          </a:p>
        </p:txBody>
      </p:sp>
      <p:sp>
        <p:nvSpPr>
          <p:cNvPr id="9" name="TextBox 8"/>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1 · THE SCORE</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confidence, and why agreement?</a:t>
            </a:r>
          </a:p>
        </p:txBody>
      </p:sp>
      <p:sp>
        <p:nvSpPr>
          <p:cNvPr id="4" name="TextBox 3"/>
          <p:cNvSpPr txBox="1"/>
          <p:nvPr/>
        </p:nvSpPr>
        <p:spPr>
          <a:xfrm>
            <a:off x="812800" y="1473200"/>
            <a:ext cx="10566400" cy="254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A good signal tells right from wrong, and costs far less than the team.</a:t>
            </a:r>
          </a:p>
        </p:txBody>
      </p:sp>
      <p:sp>
        <p:nvSpPr>
          <p:cNvPr id="5" name="Rounded Rectangle 4"/>
          <p:cNvSpPr/>
          <p:nvPr/>
        </p:nvSpPr>
        <p:spPr>
          <a:xfrm>
            <a:off x="812800" y="1905000"/>
            <a:ext cx="5080000" cy="4254500"/>
          </a:xfrm>
          <a:prstGeom prst="roundRect">
            <a:avLst>
              <a:gd name="adj" fmla="val 2686"/>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1400" y="2032000"/>
            <a:ext cx="4635500" cy="635000"/>
          </a:xfrm>
          <a:prstGeom prst="rect">
            <a:avLst/>
          </a:prstGeom>
          <a:noFill/>
        </p:spPr>
        <p:txBody>
          <a:bodyPr wrap="square" lIns="0" rIns="0" tIns="0" bIns="0" anchor="t">
            <a:spAutoFit/>
          </a:bodyPr>
          <a:lstStyle/>
          <a:p>
            <a:pPr algn="l">
              <a:lnSpc>
                <a:spcPct val="115000"/>
              </a:lnSpc>
              <a:spcAft>
                <a:spcPts val="200"/>
              </a:spcAft>
            </a:pPr>
            <a:r>
              <a:rPr sz="2800" b="1">
                <a:solidFill>
                  <a:srgbClr val="00175A"/>
                </a:solidFill>
                <a:latin typeface="Georgia"/>
              </a:rPr>
              <a:t>Confidence</a:t>
            </a:r>
          </a:p>
          <a:p>
            <a:pPr algn="l">
              <a:lnSpc>
                <a:spcPct val="115000"/>
              </a:lnSpc>
              <a:spcAft>
                <a:spcPts val="0"/>
              </a:spcAft>
            </a:pPr>
            <a:r>
              <a:rPr sz="1800" b="0">
                <a:solidFill>
                  <a:srgbClr val="6B7480"/>
                </a:solidFill>
                <a:latin typeface="Arial"/>
              </a:rPr>
              <a:t>Is the model sure of its answer?</a:t>
            </a:r>
          </a:p>
        </p:txBody>
      </p:sp>
      <p:sp>
        <p:nvSpPr>
          <p:cNvPr id="7" name="TextBox 6"/>
          <p:cNvSpPr txBox="1"/>
          <p:nvPr/>
        </p:nvSpPr>
        <p:spPr>
          <a:xfrm>
            <a:off x="1041400" y="2844800"/>
            <a:ext cx="4635500" cy="190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Example: “When did World War II end?”</a:t>
            </a:r>
          </a:p>
        </p:txBody>
      </p:sp>
      <p:sp>
        <p:nvSpPr>
          <p:cNvPr id="8" name="Rounded Rectangle 7"/>
          <p:cNvSpPr/>
          <p:nvPr/>
        </p:nvSpPr>
        <p:spPr>
          <a:xfrm>
            <a:off x="6299200" y="1905000"/>
            <a:ext cx="5080000" cy="4254500"/>
          </a:xfrm>
          <a:prstGeom prst="roundRect">
            <a:avLst>
              <a:gd name="adj" fmla="val 2686"/>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27800" y="2032000"/>
            <a:ext cx="4635500" cy="635000"/>
          </a:xfrm>
          <a:prstGeom prst="rect">
            <a:avLst/>
          </a:prstGeom>
          <a:noFill/>
        </p:spPr>
        <p:txBody>
          <a:bodyPr wrap="square" lIns="0" rIns="0" tIns="0" bIns="0" anchor="t">
            <a:spAutoFit/>
          </a:bodyPr>
          <a:lstStyle/>
          <a:p>
            <a:pPr algn="l">
              <a:lnSpc>
                <a:spcPct val="115000"/>
              </a:lnSpc>
              <a:spcAft>
                <a:spcPts val="200"/>
              </a:spcAft>
            </a:pPr>
            <a:r>
              <a:rPr sz="2800" b="1">
                <a:solidFill>
                  <a:srgbClr val="00175A"/>
                </a:solidFill>
                <a:latin typeface="Georgia"/>
              </a:rPr>
              <a:t>Agreement</a:t>
            </a:r>
          </a:p>
          <a:p>
            <a:pPr algn="l">
              <a:lnSpc>
                <a:spcPct val="115000"/>
              </a:lnSpc>
              <a:spcAft>
                <a:spcPts val="0"/>
              </a:spcAft>
            </a:pPr>
            <a:r>
              <a:rPr sz="1800" b="0">
                <a:solidFill>
                  <a:srgbClr val="6B7480"/>
                </a:solidFill>
                <a:latin typeface="Arial"/>
              </a:rPr>
              <a:t>Do two cheap answers match?</a:t>
            </a:r>
          </a:p>
        </p:txBody>
      </p:sp>
      <p:sp>
        <p:nvSpPr>
          <p:cNvPr id="10" name="TextBox 9"/>
          <p:cNvSpPr txBox="1"/>
          <p:nvPr/>
        </p:nvSpPr>
        <p:spPr>
          <a:xfrm>
            <a:off x="6527800" y="2844800"/>
            <a:ext cx="4635500" cy="190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Example: “When did World War II end?”</a:t>
            </a:r>
          </a:p>
        </p:txBody>
      </p:sp>
      <p:sp>
        <p:nvSpPr>
          <p:cNvPr id="11" name="TextBox 10"/>
          <p:cNvSpPr txBox="1"/>
          <p:nvPr/>
        </p:nvSpPr>
        <p:spPr>
          <a:xfrm>
            <a:off x="1041400" y="3206750"/>
            <a:ext cx="10160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Sure</a:t>
            </a:r>
          </a:p>
        </p:txBody>
      </p:sp>
      <p:sp>
        <p:nvSpPr>
          <p:cNvPr id="12" name="TextBox 11"/>
          <p:cNvSpPr txBox="1"/>
          <p:nvPr/>
        </p:nvSpPr>
        <p:spPr>
          <a:xfrm>
            <a:off x="2095500" y="320675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1945</a:t>
            </a:r>
          </a:p>
        </p:txBody>
      </p:sp>
      <p:sp>
        <p:nvSpPr>
          <p:cNvPr id="13" name="Rectangle 12"/>
          <p:cNvSpPr/>
          <p:nvPr/>
        </p:nvSpPr>
        <p:spPr>
          <a:xfrm>
            <a:off x="2603500" y="3244850"/>
            <a:ext cx="1828800" cy="152400"/>
          </a:xfrm>
          <a:prstGeom prst="rect">
            <a:avLst/>
          </a:prstGeom>
          <a:solidFill>
            <a:srgbClr val="2F6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5800" y="320675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0.96</a:t>
            </a:r>
          </a:p>
        </p:txBody>
      </p:sp>
      <p:sp>
        <p:nvSpPr>
          <p:cNvPr id="15" name="TextBox 14"/>
          <p:cNvSpPr txBox="1"/>
          <p:nvPr/>
        </p:nvSpPr>
        <p:spPr>
          <a:xfrm>
            <a:off x="1041400" y="3873500"/>
            <a:ext cx="10160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Unsure</a:t>
            </a:r>
          </a:p>
        </p:txBody>
      </p:sp>
      <p:sp>
        <p:nvSpPr>
          <p:cNvPr id="16" name="TextBox 15"/>
          <p:cNvSpPr txBox="1"/>
          <p:nvPr/>
        </p:nvSpPr>
        <p:spPr>
          <a:xfrm>
            <a:off x="2095500" y="38735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1944</a:t>
            </a:r>
          </a:p>
        </p:txBody>
      </p:sp>
      <p:sp>
        <p:nvSpPr>
          <p:cNvPr id="17" name="Rectangle 16"/>
          <p:cNvSpPr/>
          <p:nvPr/>
        </p:nvSpPr>
        <p:spPr>
          <a:xfrm>
            <a:off x="2603500" y="3911600"/>
            <a:ext cx="72390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90900" y="38735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0.38</a:t>
            </a:r>
          </a:p>
        </p:txBody>
      </p:sp>
      <p:sp>
        <p:nvSpPr>
          <p:cNvPr id="19" name="TextBox 18"/>
          <p:cNvSpPr txBox="1"/>
          <p:nvPr/>
        </p:nvSpPr>
        <p:spPr>
          <a:xfrm>
            <a:off x="2095500" y="41148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1945</a:t>
            </a:r>
          </a:p>
        </p:txBody>
      </p:sp>
      <p:sp>
        <p:nvSpPr>
          <p:cNvPr id="20" name="Rectangle 19"/>
          <p:cNvSpPr/>
          <p:nvPr/>
        </p:nvSpPr>
        <p:spPr>
          <a:xfrm>
            <a:off x="2603500" y="4152900"/>
            <a:ext cx="62865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5650" y="41148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0.33</a:t>
            </a:r>
          </a:p>
        </p:txBody>
      </p:sp>
      <p:sp>
        <p:nvSpPr>
          <p:cNvPr id="22" name="TextBox 21"/>
          <p:cNvSpPr txBox="1"/>
          <p:nvPr/>
        </p:nvSpPr>
        <p:spPr>
          <a:xfrm>
            <a:off x="2095500" y="43561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1946</a:t>
            </a:r>
          </a:p>
        </p:txBody>
      </p:sp>
      <p:sp>
        <p:nvSpPr>
          <p:cNvPr id="23" name="Rectangle 22"/>
          <p:cNvSpPr/>
          <p:nvPr/>
        </p:nvSpPr>
        <p:spPr>
          <a:xfrm>
            <a:off x="2603500" y="4394200"/>
            <a:ext cx="55245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19450" y="43561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0.29</a:t>
            </a:r>
          </a:p>
        </p:txBody>
      </p:sp>
      <p:sp>
        <p:nvSpPr>
          <p:cNvPr id="25" name="TextBox 24"/>
          <p:cNvSpPr txBox="1"/>
          <p:nvPr/>
        </p:nvSpPr>
        <p:spPr>
          <a:xfrm>
            <a:off x="1041400" y="4889500"/>
            <a:ext cx="4635500" cy="635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 model that knows tends to put its probability on </a:t>
            </a:r>
            <a:r>
              <a:rPr sz="1800" b="1">
                <a:solidFill>
                  <a:srgbClr val="333B47"/>
                </a:solidFill>
                <a:latin typeface="Arial"/>
              </a:rPr>
              <a:t>one</a:t>
            </a:r>
            <a:r>
              <a:rPr sz="1800" b="0">
                <a:solidFill>
                  <a:srgbClr val="333B47"/>
                </a:solidFill>
                <a:latin typeface="Arial"/>
              </a:rPr>
              <a:t> answer. An unsure one spreads it.</a:t>
            </a:r>
          </a:p>
        </p:txBody>
      </p:sp>
      <p:sp>
        <p:nvSpPr>
          <p:cNvPr id="26" name="TextBox 25"/>
          <p:cNvSpPr txBox="1"/>
          <p:nvPr/>
        </p:nvSpPr>
        <p:spPr>
          <a:xfrm>
            <a:off x="1041400" y="5715000"/>
            <a:ext cx="4635500" cy="317500"/>
          </a:xfrm>
          <a:prstGeom prst="rect">
            <a:avLst/>
          </a:prstGeom>
          <a:noFill/>
        </p:spPr>
        <p:txBody>
          <a:bodyPr wrap="square" lIns="0" rIns="0" tIns="0" bIns="0" anchor="t">
            <a:spAutoFit/>
          </a:bodyPr>
          <a:lstStyle/>
          <a:p>
            <a:pPr algn="l">
              <a:lnSpc>
                <a:spcPct val="115000"/>
              </a:lnSpc>
              <a:spcAft>
                <a:spcPts val="0"/>
              </a:spcAft>
            </a:pPr>
            <a:r>
              <a:rPr sz="1800" b="1">
                <a:solidFill>
                  <a:srgbClr val="2F6B34"/>
                </a:solidFill>
                <a:latin typeface="Arial"/>
              </a:rPr>
              <a:t>Cost: free, it comes with the answer.</a:t>
            </a:r>
          </a:p>
        </p:txBody>
      </p:sp>
      <p:sp>
        <p:nvSpPr>
          <p:cNvPr id="27" name="TextBox 26"/>
          <p:cNvSpPr txBox="1"/>
          <p:nvPr/>
        </p:nvSpPr>
        <p:spPr>
          <a:xfrm>
            <a:off x="6731000" y="3111500"/>
            <a:ext cx="1206500" cy="1905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direct answer</a:t>
            </a:r>
          </a:p>
        </p:txBody>
      </p:sp>
      <p:sp>
        <p:nvSpPr>
          <p:cNvPr id="28" name="TextBox 27"/>
          <p:cNvSpPr txBox="1"/>
          <p:nvPr/>
        </p:nvSpPr>
        <p:spPr>
          <a:xfrm>
            <a:off x="8064500" y="3111500"/>
            <a:ext cx="1206500" cy="1905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single agent</a:t>
            </a:r>
          </a:p>
        </p:txBody>
      </p:sp>
      <p:sp>
        <p:nvSpPr>
          <p:cNvPr id="29" name="Rounded Rectangle 28"/>
          <p:cNvSpPr/>
          <p:nvPr/>
        </p:nvSpPr>
        <p:spPr>
          <a:xfrm>
            <a:off x="6731000" y="3365500"/>
            <a:ext cx="1206500" cy="539750"/>
          </a:xfrm>
          <a:prstGeom prst="roundRect">
            <a:avLst>
              <a:gd name="adj" fmla="val 10000"/>
            </a:avLst>
          </a:prstGeom>
          <a:solidFill>
            <a:srgbClr val="E6EBF4"/>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1945</a:t>
            </a:r>
          </a:p>
        </p:txBody>
      </p:sp>
      <p:sp>
        <p:nvSpPr>
          <p:cNvPr id="30" name="Rounded Rectangle 29"/>
          <p:cNvSpPr/>
          <p:nvPr/>
        </p:nvSpPr>
        <p:spPr>
          <a:xfrm>
            <a:off x="8064500" y="3365500"/>
            <a:ext cx="1206500" cy="539750"/>
          </a:xfrm>
          <a:prstGeom prst="roundRect">
            <a:avLst>
              <a:gd name="adj" fmla="val 10000"/>
            </a:avLst>
          </a:prstGeom>
          <a:solidFill>
            <a:srgbClr val="E6EBF4"/>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1945</a:t>
            </a:r>
          </a:p>
        </p:txBody>
      </p:sp>
      <p:sp>
        <p:nvSpPr>
          <p:cNvPr id="31" name="TextBox 30"/>
          <p:cNvSpPr txBox="1"/>
          <p:nvPr/>
        </p:nvSpPr>
        <p:spPr>
          <a:xfrm>
            <a:off x="9461500" y="3524250"/>
            <a:ext cx="1841500" cy="254000"/>
          </a:xfrm>
          <a:prstGeom prst="rect">
            <a:avLst/>
          </a:prstGeom>
          <a:noFill/>
        </p:spPr>
        <p:txBody>
          <a:bodyPr wrap="square" lIns="0" rIns="0" tIns="0" bIns="0" anchor="t">
            <a:spAutoFit/>
          </a:bodyPr>
          <a:lstStyle/>
          <a:p>
            <a:pPr algn="l">
              <a:lnSpc>
                <a:spcPct val="115000"/>
              </a:lnSpc>
              <a:spcAft>
                <a:spcPts val="0"/>
              </a:spcAft>
            </a:pPr>
            <a:r>
              <a:rPr sz="1600" b="1">
                <a:solidFill>
                  <a:srgbClr val="2F6B34"/>
                </a:solidFill>
                <a:latin typeface="Arial"/>
              </a:rPr>
              <a:t>agree: likely right</a:t>
            </a:r>
          </a:p>
        </p:txBody>
      </p:sp>
      <p:sp>
        <p:nvSpPr>
          <p:cNvPr id="32" name="Rounded Rectangle 31"/>
          <p:cNvSpPr/>
          <p:nvPr/>
        </p:nvSpPr>
        <p:spPr>
          <a:xfrm>
            <a:off x="6731000" y="4032250"/>
            <a:ext cx="1206500" cy="539750"/>
          </a:xfrm>
          <a:prstGeom prst="roundRect">
            <a:avLst>
              <a:gd name="adj" fmla="val 10000"/>
            </a:avLst>
          </a:prstGeom>
          <a:solidFill>
            <a:srgbClr val="E6EBF4"/>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1944</a:t>
            </a:r>
          </a:p>
        </p:txBody>
      </p:sp>
      <p:sp>
        <p:nvSpPr>
          <p:cNvPr id="33" name="Rounded Rectangle 32"/>
          <p:cNvSpPr/>
          <p:nvPr/>
        </p:nvSpPr>
        <p:spPr>
          <a:xfrm>
            <a:off x="8064500" y="4032250"/>
            <a:ext cx="1206500" cy="539750"/>
          </a:xfrm>
          <a:prstGeom prst="roundRect">
            <a:avLst>
              <a:gd name="adj" fmla="val 10000"/>
            </a:avLst>
          </a:prstGeom>
          <a:solidFill>
            <a:srgbClr val="E6EBF4"/>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1946</a:t>
            </a:r>
          </a:p>
        </p:txBody>
      </p:sp>
      <p:sp>
        <p:nvSpPr>
          <p:cNvPr id="34" name="TextBox 33"/>
          <p:cNvSpPr txBox="1"/>
          <p:nvPr/>
        </p:nvSpPr>
        <p:spPr>
          <a:xfrm>
            <a:off x="9461500" y="4191000"/>
            <a:ext cx="1841500" cy="254000"/>
          </a:xfrm>
          <a:prstGeom prst="rect">
            <a:avLst/>
          </a:prstGeom>
          <a:noFill/>
        </p:spPr>
        <p:txBody>
          <a:bodyPr wrap="square" lIns="0" rIns="0" tIns="0" bIns="0" anchor="t">
            <a:spAutoFit/>
          </a:bodyPr>
          <a:lstStyle/>
          <a:p>
            <a:pPr algn="l">
              <a:lnSpc>
                <a:spcPct val="115000"/>
              </a:lnSpc>
              <a:spcAft>
                <a:spcPts val="0"/>
              </a:spcAft>
            </a:pPr>
            <a:r>
              <a:rPr sz="1600" b="1">
                <a:solidFill>
                  <a:srgbClr val="B03A2E"/>
                </a:solidFill>
                <a:latin typeface="Arial"/>
              </a:rPr>
              <a:t>disagree: doubtful</a:t>
            </a:r>
          </a:p>
        </p:txBody>
      </p:sp>
      <p:sp>
        <p:nvSpPr>
          <p:cNvPr id="35" name="TextBox 34"/>
          <p:cNvSpPr txBox="1"/>
          <p:nvPr/>
        </p:nvSpPr>
        <p:spPr>
          <a:xfrm>
            <a:off x="6527800" y="4889500"/>
            <a:ext cx="4635500" cy="635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One right answer, many wrong ones: two tries </a:t>
            </a:r>
            <a:r>
              <a:rPr sz="1800" b="1">
                <a:solidFill>
                  <a:srgbClr val="333B47"/>
                </a:solidFill>
                <a:latin typeface="Arial"/>
              </a:rPr>
              <a:t>rarely</a:t>
            </a:r>
            <a:r>
              <a:rPr sz="1800" b="0">
                <a:solidFill>
                  <a:srgbClr val="333B47"/>
                </a:solidFill>
                <a:latin typeface="Arial"/>
              </a:rPr>
              <a:t> match on a wrong one.</a:t>
            </a:r>
          </a:p>
        </p:txBody>
      </p:sp>
      <p:sp>
        <p:nvSpPr>
          <p:cNvPr id="36" name="TextBox 35"/>
          <p:cNvSpPr txBox="1"/>
          <p:nvPr/>
        </p:nvSpPr>
        <p:spPr>
          <a:xfrm>
            <a:off x="6527800" y="5715000"/>
            <a:ext cx="4635500" cy="317500"/>
          </a:xfrm>
          <a:prstGeom prst="rect">
            <a:avLst/>
          </a:prstGeom>
          <a:noFill/>
        </p:spPr>
        <p:txBody>
          <a:bodyPr wrap="square" lIns="0" rIns="0" tIns="0" bIns="0" anchor="t">
            <a:spAutoFit/>
          </a:bodyPr>
          <a:lstStyle/>
          <a:p>
            <a:pPr algn="l">
              <a:lnSpc>
                <a:spcPct val="115000"/>
              </a:lnSpc>
              <a:spcAft>
                <a:spcPts val="0"/>
              </a:spcAft>
            </a:pPr>
            <a:r>
              <a:rPr sz="1800" b="1">
                <a:solidFill>
                  <a:srgbClr val="2F6B34"/>
                </a:solidFill>
                <a:latin typeface="Arial"/>
              </a:rPr>
              <a:t>Cost: one more cheap call, no log-probs.</a:t>
            </a:r>
          </a:p>
        </p:txBody>
      </p:sp>
      <p:sp>
        <p:nvSpPr>
          <p:cNvPr id="37" name="TextBox 3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1 · THE SCORE</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Do they work? Mostly, and they cover each other</a:t>
            </a:r>
          </a:p>
        </p:txBody>
      </p:sp>
      <p:sp>
        <p:nvSpPr>
          <p:cNvPr id="4" name="TextBox 3"/>
          <p:cNvSpPr txBox="1"/>
          <p:nvPr/>
        </p:nvSpPr>
        <p:spPr>
          <a:xfrm>
            <a:off x="8128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Confidence: direct answer accuracy</a:t>
            </a:r>
          </a:p>
        </p:txBody>
      </p:sp>
      <p:pic>
        <p:nvPicPr>
          <p:cNvPr id="5" name="Picture 4" descr="c_sig_conf.png"/>
          <p:cNvPicPr>
            <a:picLocks noChangeAspect="1"/>
          </p:cNvPicPr>
          <p:nvPr/>
        </p:nvPicPr>
        <p:blipFill>
          <a:blip r:embed="rId3"/>
          <a:stretch>
            <a:fillRect/>
          </a:stretch>
        </p:blipFill>
        <p:spPr>
          <a:xfrm>
            <a:off x="1650011" y="2019300"/>
            <a:ext cx="3405577" cy="2349500"/>
          </a:xfrm>
          <a:prstGeom prst="rect">
            <a:avLst/>
          </a:prstGeom>
        </p:spPr>
      </p:pic>
      <p:sp>
        <p:nvSpPr>
          <p:cNvPr id="6" name="TextBox 5"/>
          <p:cNvSpPr txBox="1"/>
          <p:nvPr/>
        </p:nvSpPr>
        <p:spPr>
          <a:xfrm>
            <a:off x="62992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Agreement: single agent accuracy</a:t>
            </a:r>
          </a:p>
        </p:txBody>
      </p:sp>
      <p:pic>
        <p:nvPicPr>
          <p:cNvPr id="7" name="Picture 6" descr="c_sig_agree.png"/>
          <p:cNvPicPr>
            <a:picLocks noChangeAspect="1"/>
          </p:cNvPicPr>
          <p:nvPr/>
        </p:nvPicPr>
        <p:blipFill>
          <a:blip r:embed="rId4"/>
          <a:stretch>
            <a:fillRect/>
          </a:stretch>
        </p:blipFill>
        <p:spPr>
          <a:xfrm>
            <a:off x="7136411" y="2019300"/>
            <a:ext cx="3405577" cy="2349500"/>
          </a:xfrm>
          <a:prstGeom prst="rect">
            <a:avLst/>
          </a:prstGeom>
        </p:spPr>
      </p:pic>
      <p:sp>
        <p:nvSpPr>
          <p:cNvPr id="8" name="TextBox 7"/>
          <p:cNvSpPr txBox="1"/>
          <p:nvPr/>
        </p:nvSpPr>
        <p:spPr>
          <a:xfrm>
            <a:off x="812800" y="44132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Mostly helps. </a:t>
            </a:r>
            <a:r>
              <a:rPr sz="1800" b="1">
                <a:solidFill>
                  <a:srgbClr val="B03A2E"/>
                </a:solidFill>
                <a:latin typeface="Arial"/>
              </a:rPr>
              <a:t>Backwards on 3 (Gemma).</a:t>
            </a:r>
          </a:p>
        </p:txBody>
      </p:sp>
      <p:sp>
        <p:nvSpPr>
          <p:cNvPr id="9" name="TextBox 8"/>
          <p:cNvSpPr txBox="1"/>
          <p:nvPr/>
        </p:nvSpPr>
        <p:spPr>
          <a:xfrm>
            <a:off x="6299200" y="44132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Mostly helps, </a:t>
            </a:r>
            <a:r>
              <a:rPr sz="1800" b="1">
                <a:solidFill>
                  <a:srgbClr val="2F6B34"/>
                </a:solidFill>
                <a:latin typeface="Arial"/>
              </a:rPr>
              <a:t>including those 3.</a:t>
            </a:r>
          </a:p>
        </p:txBody>
      </p:sp>
      <p:sp>
        <p:nvSpPr>
          <p:cNvPr id="10" name="TextBox 9"/>
          <p:cNvSpPr txBox="1"/>
          <p:nvPr/>
        </p:nvSpPr>
        <p:spPr>
          <a:xfrm>
            <a:off x="812800" y="4749800"/>
            <a:ext cx="10566400" cy="254000"/>
          </a:xfrm>
          <a:prstGeom prst="rect">
            <a:avLst/>
          </a:prstGeom>
          <a:noFill/>
        </p:spPr>
        <p:txBody>
          <a:bodyPr wrap="square" lIns="0" rIns="0" tIns="0" bIns="0" anchor="t">
            <a:spAutoFit/>
          </a:bodyPr>
          <a:lstStyle/>
          <a:p>
            <a:pPr algn="l">
              <a:lnSpc>
                <a:spcPct val="115000"/>
              </a:lnSpc>
              <a:spcAft>
                <a:spcPts val="0"/>
              </a:spcAft>
            </a:pPr>
            <a:r>
              <a:rPr sz="1900" b="1">
                <a:solidFill>
                  <a:srgbClr val="00175A"/>
                </a:solidFill>
                <a:latin typeface="Arial"/>
              </a:rPr>
              <a:t>When confidence is backwards, CLIMB still holds:</a:t>
            </a:r>
          </a:p>
        </p:txBody>
      </p:sp>
      <p:sp>
        <p:nvSpPr>
          <p:cNvPr id="11" name="Rounded Rectangle 10"/>
          <p:cNvSpPr/>
          <p:nvPr/>
        </p:nvSpPr>
        <p:spPr>
          <a:xfrm>
            <a:off x="8128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1  Agreement first</a:t>
            </a:r>
          </a:p>
          <a:p>
            <a:pPr algn="l">
              <a:lnSpc>
                <a:spcPct val="115000"/>
              </a:lnSpc>
              <a:spcAft>
                <a:spcPts val="0"/>
              </a:spcAft>
            </a:pPr>
            <a:r>
              <a:rPr sz="1500" b="0">
                <a:solidFill>
                  <a:srgbClr val="F6F8FB"/>
                </a:solidFill>
                <a:latin typeface="Arial"/>
              </a:rPr>
              <a:t>Option B ranks by agreement. Confidence only breaks ties.</a:t>
            </a:r>
          </a:p>
        </p:txBody>
      </p:sp>
      <p:sp>
        <p:nvSpPr>
          <p:cNvPr id="12" name="Rounded Rectangle 11"/>
          <p:cNvSpPr/>
          <p:nvPr/>
        </p:nvSpPr>
        <p:spPr>
          <a:xfrm>
            <a:off x="44069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2  The check catches it</a:t>
            </a:r>
          </a:p>
          <a:p>
            <a:pPr algn="l">
              <a:lnSpc>
                <a:spcPct val="115000"/>
              </a:lnSpc>
              <a:spcAft>
                <a:spcPts val="0"/>
              </a:spcAft>
            </a:pPr>
            <a:r>
              <a:rPr sz="1500" b="0">
                <a:solidFill>
                  <a:srgbClr val="F6F8FB"/>
                </a:solidFill>
                <a:latin typeface="Arial"/>
              </a:rPr>
              <a:t>A backwards score fails the test early. It is not deployed.</a:t>
            </a:r>
          </a:p>
        </p:txBody>
      </p:sp>
      <p:sp>
        <p:nvSpPr>
          <p:cNvPr id="13" name="Rounded Rectangle 12"/>
          <p:cNvSpPr/>
          <p:nvPr/>
        </p:nvSpPr>
        <p:spPr>
          <a:xfrm>
            <a:off x="80010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3  Worst case: the team</a:t>
            </a:r>
          </a:p>
          <a:p>
            <a:pPr algn="l">
              <a:lnSpc>
                <a:spcPct val="115000"/>
              </a:lnSpc>
              <a:spcAft>
                <a:spcPts val="0"/>
              </a:spcAft>
            </a:pPr>
            <a:r>
              <a:rPr sz="1500" b="0">
                <a:solidFill>
                  <a:srgbClr val="F6F8FB"/>
                </a:solidFill>
                <a:latin typeface="Arial"/>
              </a:rPr>
              <a:t>Less saving, no lost accuracy. Gemma: 69–96% of tokens.</a:t>
            </a:r>
          </a:p>
        </p:txBody>
      </p:sp>
      <p:sp>
        <p:nvSpPr>
          <p:cNvPr id="14" name="TextBox 1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RULE</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Where to draw the line? Guessing can go badly</a:t>
            </a:r>
          </a:p>
        </p:txBody>
      </p:sp>
      <p:pic>
        <p:nvPicPr>
          <p:cNvPr id="4" name="Picture 3" descr="c_maxloss.png"/>
          <p:cNvPicPr>
            <a:picLocks noChangeAspect="1"/>
          </p:cNvPicPr>
          <p:nvPr/>
        </p:nvPicPr>
        <p:blipFill>
          <a:blip r:embed="rId3"/>
          <a:stretch>
            <a:fillRect/>
          </a:stretch>
        </p:blipFill>
        <p:spPr>
          <a:xfrm>
            <a:off x="812800" y="2379642"/>
            <a:ext cx="7302500" cy="2987715"/>
          </a:xfrm>
          <a:prstGeom prst="rect">
            <a:avLst/>
          </a:prstGeom>
        </p:spPr>
      </p:pic>
      <p:sp>
        <p:nvSpPr>
          <p:cNvPr id="5" name="Rounded Rectangle 4"/>
          <p:cNvSpPr/>
          <p:nvPr/>
        </p:nvSpPr>
        <p:spPr>
          <a:xfrm>
            <a:off x="8445500" y="2286000"/>
            <a:ext cx="2933700" cy="1905000"/>
          </a:xfrm>
          <a:prstGeom prst="roundRect">
            <a:avLst>
              <a:gd name="adj" fmla="val 6000"/>
            </a:avLst>
          </a:prstGeom>
          <a:solidFill>
            <a:srgbClr val="F6E3E0"/>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16 points</a:t>
            </a:r>
          </a:p>
          <a:p>
            <a:pPr algn="l">
              <a:lnSpc>
                <a:spcPct val="115000"/>
              </a:lnSpc>
              <a:spcAft>
                <a:spcPts val="0"/>
              </a:spcAft>
            </a:pPr>
            <a:r>
              <a:rPr sz="1700" b="0">
                <a:solidFill>
                  <a:srgbClr val="333B47"/>
                </a:solidFill>
                <a:latin typeface="Arial"/>
              </a:rPr>
              <a:t>lost by a hand-picked threshold on one setting</a:t>
            </a:r>
          </a:p>
        </p:txBody>
      </p:sp>
      <p:sp>
        <p:nvSpPr>
          <p:cNvPr id="6" name="TextBox 5"/>
          <p:cNvSpPr txBox="1"/>
          <p:nvPr/>
        </p:nvSpPr>
        <p:spPr>
          <a:xfrm>
            <a:off x="8445500" y="4445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6B7480"/>
                </a:solidFill>
                <a:latin typeface="Arial"/>
              </a:rPr>
              <a:t>Nothing at deployment says which setting will go wrong.</a:t>
            </a:r>
          </a:p>
        </p:txBody>
      </p:sp>
      <p:sp>
        <p:nvSpPr>
          <p:cNvPr id="7" name="TextBox 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Replace guessing with a promise: calibrate, then test</a:t>
            </a:r>
          </a:p>
        </p:txBody>
      </p:sp>
      <p:sp>
        <p:nvSpPr>
          <p:cNvPr id="4" name="TextBox 3"/>
          <p:cNvSpPr txBox="1"/>
          <p:nvPr/>
        </p:nvSpPr>
        <p:spPr>
          <a:xfrm>
            <a:off x="812800" y="1435100"/>
            <a:ext cx="105664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You pick only ε, e.g. “lose at most 5 points”.  The data picks the threshold.</a:t>
            </a:r>
          </a:p>
        </p:txBody>
      </p:sp>
      <p:sp>
        <p:nvSpPr>
          <p:cNvPr id="5" name="Rounded Rectangle 4"/>
          <p:cNvSpPr/>
          <p:nvPr/>
        </p:nvSpPr>
        <p:spPr>
          <a:xfrm>
            <a:off x="812800" y="1968500"/>
            <a:ext cx="1524000" cy="3619500"/>
          </a:xfrm>
          <a:prstGeom prst="roundRect">
            <a:avLst>
              <a:gd name="adj" fmla="val 7500"/>
            </a:avLst>
          </a:prstGeom>
          <a:solidFill>
            <a:srgbClr val="E9EEF5"/>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800"/>
              </a:spcAft>
            </a:pPr>
            <a:r>
              <a:rPr sz="1800" b="1">
                <a:solidFill>
                  <a:srgbClr val="00175A"/>
                </a:solidFill>
                <a:latin typeface="Arial"/>
              </a:rPr>
              <a:t>Labelled tasks</a:t>
            </a:r>
          </a:p>
          <a:p>
            <a:pPr algn="ctr">
              <a:lnSpc>
                <a:spcPct val="115000"/>
              </a:lnSpc>
              <a:spcAft>
                <a:spcPts val="0"/>
              </a:spcAft>
            </a:pPr>
            <a:r>
              <a:rPr sz="1400" b="0">
                <a:solidFill>
                  <a:srgbClr val="6B7480"/>
                </a:solidFill>
                <a:latin typeface="Arial"/>
              </a:rPr>
              <a:t>split in two at random</a:t>
            </a:r>
          </a:p>
        </p:txBody>
      </p:sp>
      <p:sp>
        <p:nvSpPr>
          <p:cNvPr id="6" name="Rounded Rectangle 5"/>
          <p:cNvSpPr/>
          <p:nvPr/>
        </p:nvSpPr>
        <p:spPr>
          <a:xfrm>
            <a:off x="2730500" y="2222500"/>
            <a:ext cx="1587500" cy="1079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ctr">
              <a:lnSpc>
                <a:spcPct val="115000"/>
              </a:lnSpc>
              <a:spcAft>
                <a:spcPts val="0"/>
              </a:spcAft>
            </a:pPr>
            <a:r>
              <a:rPr sz="1700" b="1">
                <a:solidFill>
                  <a:srgbClr val="00175A"/>
                </a:solidFill>
                <a:latin typeface="Arial"/>
              </a:rPr>
              <a:t>Calibration half</a:t>
            </a:r>
          </a:p>
        </p:txBody>
      </p:sp>
      <p:sp>
        <p:nvSpPr>
          <p:cNvPr id="7" name="Rounded Rectangle 6"/>
          <p:cNvSpPr/>
          <p:nvPr/>
        </p:nvSpPr>
        <p:spPr>
          <a:xfrm>
            <a:off x="2730500" y="4413250"/>
            <a:ext cx="1587500" cy="1079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ctr">
              <a:lnSpc>
                <a:spcPct val="115000"/>
              </a:lnSpc>
              <a:spcAft>
                <a:spcPts val="400"/>
              </a:spcAft>
            </a:pPr>
            <a:r>
              <a:rPr sz="1700" b="1">
                <a:solidFill>
                  <a:srgbClr val="00175A"/>
                </a:solidFill>
                <a:latin typeface="Arial"/>
              </a:rPr>
              <a:t>Test half</a:t>
            </a:r>
          </a:p>
          <a:p>
            <a:pPr algn="ctr">
              <a:lnSpc>
                <a:spcPct val="115000"/>
              </a:lnSpc>
              <a:spcAft>
                <a:spcPts val="0"/>
              </a:spcAft>
            </a:pPr>
            <a:r>
              <a:rPr sz="1300" b="0">
                <a:solidFill>
                  <a:srgbClr val="6B7480"/>
                </a:solidFill>
                <a:latin typeface="Arial"/>
              </a:rPr>
              <a:t>unseen in calibration</a:t>
            </a:r>
          </a:p>
        </p:txBody>
      </p:sp>
      <p:sp>
        <p:nvSpPr>
          <p:cNvPr id="8" name="Right Arrow 7"/>
          <p:cNvSpPr/>
          <p:nvPr/>
        </p:nvSpPr>
        <p:spPr>
          <a:xfrm>
            <a:off x="2387600" y="2635250"/>
            <a:ext cx="2921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2387600" y="4826000"/>
            <a:ext cx="2921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4368800" y="2635250"/>
            <a:ext cx="2921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711700" y="1968500"/>
            <a:ext cx="3556000" cy="1587500"/>
          </a:xfrm>
          <a:prstGeom prst="roundRect">
            <a:avLst>
              <a:gd name="adj" fmla="val 7199"/>
            </a:avLst>
          </a:prstGeom>
          <a:solidFill>
            <a:srgbClr val="00175A"/>
          </a:solidFill>
          <a:ln w="381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38700" y="2070100"/>
            <a:ext cx="3302000" cy="228600"/>
          </a:xfrm>
          <a:prstGeom prst="rect">
            <a:avLst/>
          </a:prstGeom>
          <a:noFill/>
        </p:spPr>
        <p:txBody>
          <a:bodyPr wrap="square" lIns="0" rIns="0" tIns="0" bIns="0" anchor="t">
            <a:spAutoFit/>
          </a:bodyPr>
          <a:lstStyle/>
          <a:p>
            <a:pPr algn="ctr">
              <a:lnSpc>
                <a:spcPct val="115000"/>
              </a:lnSpc>
              <a:spcAft>
                <a:spcPts val="0"/>
              </a:spcAft>
            </a:pPr>
            <a:r>
              <a:rPr sz="1700" b="1">
                <a:solidFill>
                  <a:srgbClr val="F6F8FB"/>
                </a:solidFill>
                <a:latin typeface="Arial"/>
              </a:rPr>
              <a:t>Betting test on each threshold</a:t>
            </a:r>
          </a:p>
        </p:txBody>
      </p:sp>
      <p:sp>
        <p:nvSpPr>
          <p:cNvPr id="13" name="Rounded Rectangle 12"/>
          <p:cNvSpPr/>
          <p:nvPr/>
        </p:nvSpPr>
        <p:spPr>
          <a:xfrm>
            <a:off x="5092700" y="2425700"/>
            <a:ext cx="482600" cy="4826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2F6B34"/>
                </a:solidFill>
                <a:latin typeface="Arial"/>
              </a:rPr>
              <a:t>✓</a:t>
            </a:r>
          </a:p>
        </p:txBody>
      </p:sp>
      <p:sp>
        <p:nvSpPr>
          <p:cNvPr id="14" name="Rounded Rectangle 13"/>
          <p:cNvSpPr/>
          <p:nvPr/>
        </p:nvSpPr>
        <p:spPr>
          <a:xfrm>
            <a:off x="5676900" y="2425700"/>
            <a:ext cx="482600" cy="4826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2F6B34"/>
                </a:solidFill>
                <a:latin typeface="Arial"/>
              </a:rPr>
              <a:t>✓</a:t>
            </a:r>
          </a:p>
        </p:txBody>
      </p:sp>
      <p:sp>
        <p:nvSpPr>
          <p:cNvPr id="15" name="Rounded Rectangle 14"/>
          <p:cNvSpPr/>
          <p:nvPr/>
        </p:nvSpPr>
        <p:spPr>
          <a:xfrm>
            <a:off x="6261100" y="2425700"/>
            <a:ext cx="482600" cy="4826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2F6B34"/>
                </a:solidFill>
                <a:latin typeface="Arial"/>
              </a:rPr>
              <a:t>✓</a:t>
            </a:r>
          </a:p>
        </p:txBody>
      </p:sp>
      <p:sp>
        <p:nvSpPr>
          <p:cNvPr id="16" name="Rounded Rectangle 15"/>
          <p:cNvSpPr/>
          <p:nvPr/>
        </p:nvSpPr>
        <p:spPr>
          <a:xfrm>
            <a:off x="6845300" y="2425700"/>
            <a:ext cx="482600" cy="482600"/>
          </a:xfrm>
          <a:prstGeom prst="roundRect">
            <a:avLst>
              <a:gd name="adj" fmla="val 10000"/>
            </a:avLst>
          </a:prstGeom>
          <a:solidFill>
            <a:srgbClr val="F6E3E0"/>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B03A2E"/>
                </a:solidFill>
                <a:latin typeface="Arial"/>
              </a:rPr>
              <a:t>✗</a:t>
            </a:r>
          </a:p>
        </p:txBody>
      </p:sp>
      <p:sp>
        <p:nvSpPr>
          <p:cNvPr id="17" name="Rounded Rectangle 16"/>
          <p:cNvSpPr/>
          <p:nvPr/>
        </p:nvSpPr>
        <p:spPr>
          <a:xfrm>
            <a:off x="7429500" y="2425700"/>
            <a:ext cx="482600" cy="482600"/>
          </a:xfrm>
          <a:prstGeom prst="roundRect">
            <a:avLst>
              <a:gd name="adj" fmla="val 10000"/>
            </a:avLst>
          </a:prstGeom>
          <a:solidFill>
            <a:srgbClr val="FFFFFF"/>
          </a:solidFill>
          <a:ln w="25400">
            <a:solidFill>
              <a:srgbClr val="6B7480"/>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6B7480"/>
                </a:solidFill>
                <a:latin typeface="Arial"/>
              </a:rPr>
              <a:t>–</a:t>
            </a:r>
          </a:p>
        </p:txBody>
      </p:sp>
      <p:sp>
        <p:nvSpPr>
          <p:cNvPr id="18" name="TextBox 17"/>
          <p:cNvSpPr txBox="1"/>
          <p:nvPr/>
        </p:nvSpPr>
        <p:spPr>
          <a:xfrm>
            <a:off x="4838700" y="3035300"/>
            <a:ext cx="3302000" cy="381000"/>
          </a:xfrm>
          <a:prstGeom prst="rect">
            <a:avLst/>
          </a:prstGeom>
          <a:noFill/>
        </p:spPr>
        <p:txBody>
          <a:bodyPr wrap="square" lIns="0" rIns="0" tIns="0" bIns="0" anchor="t">
            <a:spAutoFit/>
          </a:bodyPr>
          <a:lstStyle/>
          <a:p>
            <a:pPr algn="ctr">
              <a:lnSpc>
                <a:spcPct val="115000"/>
              </a:lnSpc>
              <a:spcAft>
                <a:spcPts val="0"/>
              </a:spcAft>
            </a:pPr>
            <a:r>
              <a:rPr sz="1400" b="0">
                <a:solidFill>
                  <a:srgbClr val="C3D3EC"/>
                </a:solidFill>
                <a:latin typeface="Arial"/>
              </a:rPr>
              <a:t>strict → loose, stop at the first failure</a:t>
            </a:r>
          </a:p>
        </p:txBody>
      </p:sp>
      <p:sp>
        <p:nvSpPr>
          <p:cNvPr id="19" name="Right Arrow 18"/>
          <p:cNvSpPr/>
          <p:nvPr/>
        </p:nvSpPr>
        <p:spPr>
          <a:xfrm>
            <a:off x="8318500" y="2635250"/>
            <a:ext cx="3556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724900" y="1968500"/>
            <a:ext cx="2654300" cy="1587500"/>
          </a:xfrm>
          <a:prstGeom prst="roundRect">
            <a:avLst>
              <a:gd name="adj" fmla="val 7199"/>
            </a:avLst>
          </a:prstGeom>
          <a:solidFill>
            <a:srgbClr val="DDEDFB"/>
          </a:solidFill>
          <a:ln w="317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800"/>
              </a:spcAft>
            </a:pPr>
            <a:r>
              <a:rPr sz="1400" b="0">
                <a:solidFill>
                  <a:srgbClr val="00175A"/>
                </a:solidFill>
                <a:latin typeface="Arial"/>
              </a:rPr>
              <a:t>Certified: before the first failure</a:t>
            </a:r>
          </a:p>
          <a:p>
            <a:pPr algn="ctr">
              <a:lnSpc>
                <a:spcPct val="115000"/>
              </a:lnSpc>
              <a:spcAft>
                <a:spcPts val="800"/>
              </a:spcAft>
            </a:pPr>
            <a:r>
              <a:rPr sz="1700" b="1">
                <a:solidFill>
                  <a:srgbClr val="006FCF"/>
                </a:solidFill>
                <a:latin typeface="Arial"/>
              </a:rPr>
              <a:t>★ Deploy the cheapest</a:t>
            </a:r>
          </a:p>
          <a:p>
            <a:pPr algn="ctr">
              <a:lnSpc>
                <a:spcPct val="115000"/>
              </a:lnSpc>
              <a:spcAft>
                <a:spcPts val="0"/>
              </a:spcAft>
            </a:pPr>
            <a:r>
              <a:rPr sz="1300" b="0">
                <a:solidFill>
                  <a:srgbClr val="6B7480"/>
                </a:solidFill>
                <a:latin typeface="Arial"/>
              </a:rPr>
              <a:t>None passes? Always the team.</a:t>
            </a:r>
          </a:p>
        </p:txBody>
      </p:sp>
      <p:sp>
        <p:nvSpPr>
          <p:cNvPr id="21" name="Down Arrow 20"/>
          <p:cNvSpPr/>
          <p:nvPr/>
        </p:nvSpPr>
        <p:spPr>
          <a:xfrm>
            <a:off x="9893300" y="3619500"/>
            <a:ext cx="317500" cy="635000"/>
          </a:xfrm>
          <a:prstGeom prst="downArrow">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4368800" y="4826000"/>
            <a:ext cx="4305300" cy="254000"/>
          </a:xfrm>
          <a:prstGeom prst="rightArrow">
            <a:avLst/>
          </a:prstGeom>
          <a:solidFill>
            <a:srgbClr val="D3D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11700" y="4508500"/>
            <a:ext cx="3556000" cy="228600"/>
          </a:xfrm>
          <a:prstGeom prst="rect">
            <a:avLst/>
          </a:prstGeom>
          <a:noFill/>
        </p:spPr>
        <p:txBody>
          <a:bodyPr wrap="square" lIns="0" rIns="0" tIns="0" bIns="0" anchor="t">
            <a:spAutoFit/>
          </a:bodyPr>
          <a:lstStyle/>
          <a:p>
            <a:pPr algn="ctr">
              <a:lnSpc>
                <a:spcPct val="115000"/>
              </a:lnSpc>
              <a:spcAft>
                <a:spcPts val="0"/>
              </a:spcAft>
            </a:pPr>
            <a:r>
              <a:rPr sz="1400" b="0">
                <a:solidFill>
                  <a:srgbClr val="6B7480"/>
                </a:solidFill>
                <a:latin typeface="Arial"/>
              </a:rPr>
              <a:t>apply the ★ threshold to unseen tasks</a:t>
            </a:r>
          </a:p>
        </p:txBody>
      </p:sp>
      <p:sp>
        <p:nvSpPr>
          <p:cNvPr id="24" name="Rounded Rectangle 23"/>
          <p:cNvSpPr/>
          <p:nvPr/>
        </p:nvSpPr>
        <p:spPr>
          <a:xfrm>
            <a:off x="8724900" y="4318000"/>
            <a:ext cx="2654300" cy="1270000"/>
          </a:xfrm>
          <a:prstGeom prst="roundRect">
            <a:avLst>
              <a:gd name="adj" fmla="val 9000"/>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600"/>
              </a:spcAft>
            </a:pPr>
            <a:r>
              <a:rPr sz="1900" b="1">
                <a:solidFill>
                  <a:srgbClr val="2F6B34"/>
                </a:solidFill>
                <a:latin typeface="Arial"/>
              </a:rPr>
              <a:t>Check the promise</a:t>
            </a:r>
          </a:p>
          <a:p>
            <a:pPr algn="ctr">
              <a:lnSpc>
                <a:spcPct val="115000"/>
              </a:lnSpc>
              <a:spcAft>
                <a:spcPts val="0"/>
              </a:spcAft>
            </a:pPr>
            <a:r>
              <a:rPr sz="1500" b="0">
                <a:solidFill>
                  <a:srgbClr val="00175A"/>
                </a:solidFill>
                <a:latin typeface="Arial"/>
              </a:rPr>
              <a:t>Loss ≤ ε?  Tokens saved?</a:t>
            </a:r>
          </a:p>
        </p:txBody>
      </p:sp>
      <p:sp>
        <p:nvSpPr>
          <p:cNvPr id="25" name="TextBox 24"/>
          <p:cNvSpPr txBox="1"/>
          <p:nvPr/>
        </p:nvSpPr>
        <p:spPr>
          <a:xfrm>
            <a:off x="812800" y="5810250"/>
            <a:ext cx="10566400" cy="3810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In our experiments: 200 random splits.  In deployment: only the calibration half, the test half is your future tasks.</a:t>
            </a:r>
          </a:p>
        </p:txBody>
      </p:sp>
      <p:sp>
        <p:nvSpPr>
          <p:cNvPr id="26" name="TextBox 2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 betting test: start with $1, bet the threshold is safe</a:t>
            </a:r>
          </a:p>
        </p:txBody>
      </p:sp>
      <p:sp>
        <p:nvSpPr>
          <p:cNvPr id="4" name="TextBox 3"/>
          <p:cNvSpPr txBox="1"/>
          <p:nvPr/>
        </p:nvSpPr>
        <p:spPr>
          <a:xfrm>
            <a:off x="812800" y="1587500"/>
            <a:ext cx="10566400" cy="254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Reveal the labelled tasks one by one. Each task multiplies the money:</a:t>
            </a:r>
          </a:p>
        </p:txBody>
      </p:sp>
      <p:sp>
        <p:nvSpPr>
          <p:cNvPr id="5" name="Rounded Rectangle 4"/>
          <p:cNvSpPr/>
          <p:nvPr/>
        </p:nvSpPr>
        <p:spPr>
          <a:xfrm>
            <a:off x="812800" y="2032000"/>
            <a:ext cx="3111500" cy="2159000"/>
          </a:xfrm>
          <a:prstGeom prst="roundRect">
            <a:avLst>
              <a:gd name="adj" fmla="val 5294"/>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1000"/>
              </a:spcAft>
            </a:pPr>
            <a:r>
              <a:rPr sz="1900" b="1">
                <a:solidFill>
                  <a:srgbClr val="00175A"/>
                </a:solidFill>
                <a:latin typeface="Arial"/>
              </a:rPr>
              <a:t>Cheap wrong, team right</a:t>
            </a:r>
          </a:p>
          <a:p>
            <a:pPr algn="ctr">
              <a:lnSpc>
                <a:spcPct val="115000"/>
              </a:lnSpc>
              <a:spcAft>
                <a:spcPts val="800"/>
              </a:spcAft>
            </a:pPr>
            <a:r>
              <a:rPr sz="4400" b="1">
                <a:solidFill>
                  <a:srgbClr val="B03A2E"/>
                </a:solidFill>
                <a:latin typeface="Georgia"/>
              </a:rPr>
              <a:t>× 0.53</a:t>
            </a:r>
          </a:p>
          <a:p>
            <a:pPr algn="ctr">
              <a:lnSpc>
                <a:spcPct val="115000"/>
              </a:lnSpc>
              <a:spcAft>
                <a:spcPts val="0"/>
              </a:spcAft>
            </a:pPr>
            <a:r>
              <a:rPr sz="2000" b="1">
                <a:solidFill>
                  <a:srgbClr val="B03A2E"/>
                </a:solidFill>
                <a:latin typeface="Arial"/>
              </a:rPr>
              <a:t>lose a lot</a:t>
            </a:r>
          </a:p>
        </p:txBody>
      </p:sp>
      <p:sp>
        <p:nvSpPr>
          <p:cNvPr id="6" name="Rounded Rectangle 5"/>
          <p:cNvSpPr/>
          <p:nvPr/>
        </p:nvSpPr>
        <p:spPr>
          <a:xfrm>
            <a:off x="4464050" y="2032000"/>
            <a:ext cx="3111500" cy="2159000"/>
          </a:xfrm>
          <a:prstGeom prst="roundRect">
            <a:avLst>
              <a:gd name="adj" fmla="val 5294"/>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1000"/>
              </a:spcAft>
            </a:pPr>
            <a:r>
              <a:rPr sz="1900" b="1">
                <a:solidFill>
                  <a:srgbClr val="00175A"/>
                </a:solidFill>
                <a:latin typeface="Arial"/>
              </a:rPr>
              <a:t>Same result</a:t>
            </a:r>
          </a:p>
          <a:p>
            <a:pPr algn="ctr">
              <a:lnSpc>
                <a:spcPct val="115000"/>
              </a:lnSpc>
              <a:spcAft>
                <a:spcPts val="800"/>
              </a:spcAft>
            </a:pPr>
            <a:r>
              <a:rPr sz="4400" b="1">
                <a:solidFill>
                  <a:srgbClr val="00175A"/>
                </a:solidFill>
                <a:latin typeface="Georgia"/>
              </a:rPr>
              <a:t>× 1.03</a:t>
            </a:r>
          </a:p>
          <a:p>
            <a:pPr algn="ctr">
              <a:lnSpc>
                <a:spcPct val="115000"/>
              </a:lnSpc>
              <a:spcAft>
                <a:spcPts val="0"/>
              </a:spcAft>
            </a:pPr>
            <a:r>
              <a:rPr sz="2000" b="1">
                <a:solidFill>
                  <a:srgbClr val="00175A"/>
                </a:solidFill>
                <a:latin typeface="Arial"/>
              </a:rPr>
              <a:t>win a little (most tasks)</a:t>
            </a:r>
          </a:p>
        </p:txBody>
      </p:sp>
      <p:sp>
        <p:nvSpPr>
          <p:cNvPr id="7" name="Rounded Rectangle 6"/>
          <p:cNvSpPr/>
          <p:nvPr/>
        </p:nvSpPr>
        <p:spPr>
          <a:xfrm>
            <a:off x="8115300" y="2032000"/>
            <a:ext cx="3111500" cy="2159000"/>
          </a:xfrm>
          <a:prstGeom prst="roundRect">
            <a:avLst>
              <a:gd name="adj" fmla="val 5294"/>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1000"/>
              </a:spcAft>
            </a:pPr>
            <a:r>
              <a:rPr sz="1900" b="1">
                <a:solidFill>
                  <a:srgbClr val="00175A"/>
                </a:solidFill>
                <a:latin typeface="Arial"/>
              </a:rPr>
              <a:t>Cheap right, team wrong</a:t>
            </a:r>
          </a:p>
          <a:p>
            <a:pPr algn="ctr">
              <a:lnSpc>
                <a:spcPct val="115000"/>
              </a:lnSpc>
              <a:spcAft>
                <a:spcPts val="800"/>
              </a:spcAft>
            </a:pPr>
            <a:r>
              <a:rPr sz="4400" b="1">
                <a:solidFill>
                  <a:srgbClr val="2F6B34"/>
                </a:solidFill>
                <a:latin typeface="Georgia"/>
              </a:rPr>
              <a:t>× 1.53</a:t>
            </a:r>
          </a:p>
          <a:p>
            <a:pPr algn="ctr">
              <a:lnSpc>
                <a:spcPct val="115000"/>
              </a:lnSpc>
              <a:spcAft>
                <a:spcPts val="0"/>
              </a:spcAft>
            </a:pPr>
            <a:r>
              <a:rPr sz="2000" b="1">
                <a:solidFill>
                  <a:srgbClr val="2F6B34"/>
                </a:solidFill>
                <a:latin typeface="Arial"/>
              </a:rPr>
              <a:t>win a lot</a:t>
            </a:r>
          </a:p>
        </p:txBody>
      </p:sp>
      <p:sp>
        <p:nvSpPr>
          <p:cNvPr id="8" name="Rounded Rectangle 7"/>
          <p:cNvSpPr/>
          <p:nvPr/>
        </p:nvSpPr>
        <p:spPr>
          <a:xfrm>
            <a:off x="812800" y="4445000"/>
            <a:ext cx="10566400" cy="825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0"/>
              </a:spcAft>
            </a:pPr>
            <a:r>
              <a:rPr sz="2400" b="1">
                <a:solidFill>
                  <a:srgbClr val="F6F8FB"/>
                </a:solidFill>
                <a:latin typeface="Georgia"/>
              </a:rPr>
              <a:t>Money ever reaches $20  →  pass.     Never reaches it  →  fail.</a:t>
            </a:r>
          </a:p>
        </p:txBody>
      </p:sp>
      <p:sp>
        <p:nvSpPr>
          <p:cNvPr id="9" name="TextBox 8"/>
          <p:cNvSpPr txBox="1"/>
          <p:nvPr/>
        </p:nvSpPr>
        <p:spPr>
          <a:xfrm>
            <a:off x="812800" y="5461000"/>
            <a:ext cx="10566400" cy="508000"/>
          </a:xfrm>
          <a:prstGeom prst="rect">
            <a:avLst/>
          </a:prstGeom>
          <a:noFill/>
        </p:spPr>
        <p:txBody>
          <a:bodyPr wrap="square" lIns="0" rIns="0" tIns="0" bIns="0" anchor="t">
            <a:spAutoFit/>
          </a:bodyPr>
          <a:lstStyle/>
          <a:p>
            <a:pPr algn="l">
              <a:lnSpc>
                <a:spcPct val="115000"/>
              </a:lnSpc>
              <a:spcAft>
                <a:spcPts val="0"/>
              </a:spcAft>
            </a:pPr>
            <a:r>
              <a:rPr sz="1700" b="0">
                <a:solidFill>
                  <a:srgbClr val="6B7480"/>
                </a:solidFill>
                <a:latin typeface="Arial"/>
              </a:rPr>
              <a:t>Multiplier = 1 + λ (ε − loss), loss = 1, 0 or −1. Shown for ε = 5 points and bet size λ = 0.5.</a:t>
            </a:r>
          </a:p>
        </p:txBody>
      </p:sp>
      <p:sp>
        <p:nvSpPr>
          <p:cNvPr id="10" name="TextBox 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Safe thresholds get rich, unsafe ones go broke</a:t>
            </a:r>
          </a:p>
        </p:txBody>
      </p:sp>
      <p:pic>
        <p:nvPicPr>
          <p:cNvPr id="4" name="Picture 3" descr="c_wealth.png"/>
          <p:cNvPicPr>
            <a:picLocks noChangeAspect="1"/>
          </p:cNvPicPr>
          <p:nvPr/>
        </p:nvPicPr>
        <p:blipFill>
          <a:blip r:embed="rId3"/>
          <a:stretch>
            <a:fillRect/>
          </a:stretch>
        </p:blipFill>
        <p:spPr>
          <a:xfrm>
            <a:off x="812800" y="1915559"/>
            <a:ext cx="6985000" cy="3788881"/>
          </a:xfrm>
          <a:prstGeom prst="rect">
            <a:avLst/>
          </a:prstGeom>
        </p:spPr>
      </p:pic>
      <p:sp>
        <p:nvSpPr>
          <p:cNvPr id="5" name="Rounded Rectangle 4"/>
          <p:cNvSpPr/>
          <p:nvPr/>
        </p:nvSpPr>
        <p:spPr>
          <a:xfrm>
            <a:off x="8191500" y="1651000"/>
            <a:ext cx="3187700" cy="1397000"/>
          </a:xfrm>
          <a:prstGeom prst="roundRect">
            <a:avLst>
              <a:gd name="adj" fmla="val 8181"/>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400"/>
              </a:spcAft>
            </a:pPr>
            <a:r>
              <a:rPr sz="1800" b="1">
                <a:solidFill>
                  <a:srgbClr val="66B2F0"/>
                </a:solidFill>
                <a:latin typeface="Arial"/>
              </a:rPr>
              <a:t>Average multiplier</a:t>
            </a:r>
          </a:p>
          <a:p>
            <a:pPr algn="ctr">
              <a:lnSpc>
                <a:spcPct val="115000"/>
              </a:lnSpc>
              <a:spcAft>
                <a:spcPts val="400"/>
              </a:spcAft>
            </a:pPr>
            <a:r>
              <a:rPr sz="3000" b="1">
                <a:solidFill>
                  <a:srgbClr val="F6F8FB"/>
                </a:solidFill>
                <a:latin typeface="Georgia"/>
              </a:rPr>
              <a:t>1 + λ (ε − μ)</a:t>
            </a:r>
          </a:p>
          <a:p>
            <a:pPr algn="ctr">
              <a:lnSpc>
                <a:spcPct val="115000"/>
              </a:lnSpc>
              <a:spcAft>
                <a:spcPts val="0"/>
              </a:spcAft>
            </a:pPr>
            <a:r>
              <a:rPr sz="1500" b="0">
                <a:solidFill>
                  <a:srgbClr val="C3D3EC"/>
                </a:solidFill>
                <a:latin typeface="Arial"/>
              </a:rPr>
              <a:t>μ: the threshold’s true average loss</a:t>
            </a:r>
          </a:p>
        </p:txBody>
      </p:sp>
      <p:sp>
        <p:nvSpPr>
          <p:cNvPr id="6" name="Rounded Rectangle 5"/>
          <p:cNvSpPr/>
          <p:nvPr/>
        </p:nvSpPr>
        <p:spPr>
          <a:xfrm>
            <a:off x="8191500" y="3175000"/>
            <a:ext cx="3187700" cy="1270000"/>
          </a:xfrm>
          <a:prstGeom prst="roundRect">
            <a:avLst>
              <a:gd name="adj" fmla="val 9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l">
              <a:lnSpc>
                <a:spcPct val="115000"/>
              </a:lnSpc>
              <a:spcAft>
                <a:spcPts val="600"/>
              </a:spcAft>
            </a:pPr>
            <a:r>
              <a:rPr sz="2200" b="1">
                <a:solidFill>
                  <a:srgbClr val="2F6B34"/>
                </a:solidFill>
                <a:latin typeface="Arial"/>
              </a:rPr>
              <a:t>Safe: μ &lt; ε</a:t>
            </a:r>
          </a:p>
          <a:p>
            <a:pPr algn="l">
              <a:lnSpc>
                <a:spcPct val="115000"/>
              </a:lnSpc>
              <a:spcAft>
                <a:spcPts val="0"/>
              </a:spcAft>
            </a:pPr>
            <a:r>
              <a:rPr sz="1700" b="0">
                <a:solidFill>
                  <a:srgbClr val="333B47"/>
                </a:solidFill>
                <a:latin typeface="Arial"/>
              </a:rPr>
              <a:t>average &gt; 1: money grows, passes</a:t>
            </a:r>
          </a:p>
        </p:txBody>
      </p:sp>
      <p:sp>
        <p:nvSpPr>
          <p:cNvPr id="7" name="Rounded Rectangle 6"/>
          <p:cNvSpPr/>
          <p:nvPr/>
        </p:nvSpPr>
        <p:spPr>
          <a:xfrm>
            <a:off x="8191500" y="4572000"/>
            <a:ext cx="3187700" cy="1270000"/>
          </a:xfrm>
          <a:prstGeom prst="roundRect">
            <a:avLst>
              <a:gd name="adj" fmla="val 9000"/>
            </a:avLst>
          </a:prstGeom>
          <a:solidFill>
            <a:srgbClr val="F6E3E0"/>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l">
              <a:lnSpc>
                <a:spcPct val="115000"/>
              </a:lnSpc>
              <a:spcAft>
                <a:spcPts val="600"/>
              </a:spcAft>
            </a:pPr>
            <a:r>
              <a:rPr sz="2200" b="1">
                <a:solidFill>
                  <a:srgbClr val="B03A2E"/>
                </a:solidFill>
                <a:latin typeface="Arial"/>
              </a:rPr>
              <a:t>Unsafe: μ &gt; ε</a:t>
            </a:r>
          </a:p>
          <a:p>
            <a:pPr algn="l">
              <a:lnSpc>
                <a:spcPct val="115000"/>
              </a:lnSpc>
              <a:spcAft>
                <a:spcPts val="0"/>
              </a:spcAft>
            </a:pPr>
            <a:r>
              <a:rPr sz="1700" b="0">
                <a:solidFill>
                  <a:srgbClr val="333B47"/>
                </a:solidFill>
                <a:latin typeface="Arial"/>
              </a:rPr>
              <a:t>average &lt; 1: money shrinks, fails</a:t>
            </a:r>
          </a:p>
        </p:txBody>
      </p:sp>
      <p:sp>
        <p:nvSpPr>
          <p:cNvPr id="8" name="TextBox 7"/>
          <p:cNvSpPr txBox="1"/>
          <p:nvPr/>
        </p:nvSpPr>
        <p:spPr>
          <a:xfrm>
            <a:off x="8191500" y="5937250"/>
            <a:ext cx="3187700" cy="317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Bet size λ: set from earlier tasks only.</a:t>
            </a:r>
          </a:p>
        </p:txBody>
      </p:sp>
      <p:sp>
        <p:nvSpPr>
          <p:cNvPr id="9" name="TextBox 8"/>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$20? An unsafe threshold rarely gets there</a:t>
            </a:r>
          </a:p>
        </p:txBody>
      </p:sp>
      <p:sp>
        <p:nvSpPr>
          <p:cNvPr id="4" name="Rounded Rectangle 3"/>
          <p:cNvSpPr/>
          <p:nvPr/>
        </p:nvSpPr>
        <p:spPr>
          <a:xfrm>
            <a:off x="812800" y="1778000"/>
            <a:ext cx="31115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B03A2E"/>
                </a:solidFill>
                <a:latin typeface="Arial"/>
              </a:rPr>
              <a:t>Unsafe threshold</a:t>
            </a:r>
          </a:p>
          <a:p>
            <a:pPr algn="ctr">
              <a:lnSpc>
                <a:spcPct val="115000"/>
              </a:lnSpc>
              <a:spcAft>
                <a:spcPts val="0"/>
              </a:spcAft>
            </a:pPr>
            <a:r>
              <a:rPr sz="1800" b="0">
                <a:solidFill>
                  <a:srgbClr val="333B47"/>
                </a:solidFill>
                <a:latin typeface="Arial"/>
              </a:rPr>
              <a:t>each bet loses on average</a:t>
            </a:r>
          </a:p>
        </p:txBody>
      </p:sp>
      <p:sp>
        <p:nvSpPr>
          <p:cNvPr id="5" name="Right Arrow 4"/>
          <p:cNvSpPr/>
          <p:nvPr/>
        </p:nvSpPr>
        <p:spPr>
          <a:xfrm>
            <a:off x="3987800" y="23177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464050" y="1778000"/>
            <a:ext cx="3111500" cy="1397000"/>
          </a:xfrm>
          <a:prstGeom prst="roundRect">
            <a:avLst>
              <a:gd name="adj" fmla="val 8181"/>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00175A"/>
                </a:solidFill>
                <a:latin typeface="Arial"/>
              </a:rPr>
              <a:t>Average ≤ $1</a:t>
            </a:r>
          </a:p>
          <a:p>
            <a:pPr algn="ctr">
              <a:lnSpc>
                <a:spcPct val="115000"/>
              </a:lnSpc>
              <a:spcAft>
                <a:spcPts val="0"/>
              </a:spcAft>
            </a:pPr>
            <a:r>
              <a:rPr sz="1800" b="0">
                <a:solidFill>
                  <a:srgbClr val="333B47"/>
                </a:solidFill>
                <a:latin typeface="Arial"/>
              </a:rPr>
              <a:t>starts at $1, never grows on average</a:t>
            </a:r>
          </a:p>
        </p:txBody>
      </p:sp>
      <p:sp>
        <p:nvSpPr>
          <p:cNvPr id="7" name="Right Arrow 6"/>
          <p:cNvSpPr/>
          <p:nvPr/>
        </p:nvSpPr>
        <p:spPr>
          <a:xfrm>
            <a:off x="7639050" y="23177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15300" y="1778000"/>
            <a:ext cx="3111500" cy="1397000"/>
          </a:xfrm>
          <a:prstGeom prst="roundRect">
            <a:avLst>
              <a:gd name="adj" fmla="val 8181"/>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00175A"/>
                </a:solidFill>
                <a:latin typeface="Arial"/>
              </a:rPr>
              <a:t>Never below $0</a:t>
            </a:r>
          </a:p>
          <a:p>
            <a:pPr algn="ctr">
              <a:lnSpc>
                <a:spcPct val="115000"/>
              </a:lnSpc>
              <a:spcAft>
                <a:spcPts val="0"/>
              </a:spcAft>
            </a:pPr>
            <a:r>
              <a:rPr sz="1800" b="0">
                <a:solidFill>
                  <a:srgbClr val="333B47"/>
                </a:solidFill>
                <a:latin typeface="Arial"/>
              </a:rPr>
              <a:t>a lost answer at most halves it</a:t>
            </a:r>
          </a:p>
        </p:txBody>
      </p:sp>
      <p:sp>
        <p:nvSpPr>
          <p:cNvPr id="9" name="Rounded Rectangle 8"/>
          <p:cNvSpPr/>
          <p:nvPr/>
        </p:nvSpPr>
        <p:spPr>
          <a:xfrm>
            <a:off x="812800" y="3492500"/>
            <a:ext cx="10566400" cy="1270000"/>
          </a:xfrm>
          <a:prstGeom prst="roundRect">
            <a:avLst>
              <a:gd name="adj" fmla="val 9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27000" bIns="127000"/>
          <a:lstStyle/>
          <a:p>
            <a:pPr algn="ctr">
              <a:lnSpc>
                <a:spcPct val="115000"/>
              </a:lnSpc>
              <a:spcAft>
                <a:spcPts val="1000"/>
              </a:spcAft>
            </a:pPr>
            <a:r>
              <a:rPr sz="3600" b="1">
                <a:solidFill>
                  <a:srgbClr val="F6F8FB"/>
                </a:solidFill>
                <a:latin typeface="Georgia"/>
              </a:rPr>
              <a:t>1  ≥  average wealth  ≥  20 × P(reach $20)</a:t>
            </a:r>
          </a:p>
          <a:p>
            <a:pPr algn="ctr">
              <a:lnSpc>
                <a:spcPct val="115000"/>
              </a:lnSpc>
              <a:spcAft>
                <a:spcPts val="0"/>
              </a:spcAft>
            </a:pPr>
            <a:r>
              <a:rPr sz="2800" b="1">
                <a:solidFill>
                  <a:srgbClr val="F6F8FB"/>
                </a:solidFill>
                <a:latin typeface="Arial"/>
              </a:rPr>
              <a:t>so  </a:t>
            </a:r>
            <a:r>
              <a:rPr sz="2800" b="1">
                <a:solidFill>
                  <a:srgbClr val="66B2F0"/>
                </a:solidFill>
                <a:latin typeface="Arial"/>
              </a:rPr>
              <a:t>P(an unsafe threshold passes)  ≤  1/20  =  5%</a:t>
            </a:r>
          </a:p>
        </p:txBody>
      </p:sp>
      <p:sp>
        <p:nvSpPr>
          <p:cNvPr id="10" name="Rounded Rectangle 9"/>
          <p:cNvSpPr/>
          <p:nvPr/>
        </p:nvSpPr>
        <p:spPr>
          <a:xfrm>
            <a:off x="812800" y="5016500"/>
            <a:ext cx="5080000" cy="1143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l">
              <a:lnSpc>
                <a:spcPct val="115000"/>
              </a:lnSpc>
              <a:spcAft>
                <a:spcPts val="600"/>
              </a:spcAft>
            </a:pPr>
            <a:r>
              <a:rPr sz="2000" b="1">
                <a:solidFill>
                  <a:srgbClr val="00175A"/>
                </a:solidFill>
                <a:latin typeface="Arial"/>
              </a:rPr>
              <a:t>100 worlds, $100 in total</a:t>
            </a:r>
          </a:p>
          <a:p>
            <a:pPr algn="l">
              <a:lnSpc>
                <a:spcPct val="115000"/>
              </a:lnSpc>
              <a:spcAft>
                <a:spcPts val="0"/>
              </a:spcAft>
            </a:pPr>
            <a:r>
              <a:rPr sz="1800" b="0">
                <a:solidFill>
                  <a:srgbClr val="6B7480"/>
                </a:solidFill>
                <a:latin typeface="Arial"/>
              </a:rPr>
              <a:t>Each pass holds $20, so at most 5 of 100 pass. $100 line → 1%.</a:t>
            </a:r>
          </a:p>
        </p:txBody>
      </p:sp>
      <p:sp>
        <p:nvSpPr>
          <p:cNvPr id="11" name="Rounded Rectangle 10"/>
          <p:cNvSpPr/>
          <p:nvPr/>
        </p:nvSpPr>
        <p:spPr>
          <a:xfrm>
            <a:off x="6299200" y="5016500"/>
            <a:ext cx="5080000" cy="1143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l">
              <a:lnSpc>
                <a:spcPct val="115000"/>
              </a:lnSpc>
              <a:spcAft>
                <a:spcPts val="600"/>
              </a:spcAft>
            </a:pPr>
            <a:r>
              <a:rPr sz="2000" b="1">
                <a:solidFill>
                  <a:srgbClr val="00175A"/>
                </a:solidFill>
                <a:latin typeface="Arial"/>
              </a:rPr>
              <a:t>A pass: accept, wrong ≤ 5% of the time</a:t>
            </a:r>
          </a:p>
          <a:p>
            <a:pPr algn="l">
              <a:lnSpc>
                <a:spcPct val="115000"/>
              </a:lnSpc>
              <a:spcAft>
                <a:spcPts val="0"/>
              </a:spcAft>
            </a:pPr>
            <a:r>
              <a:rPr sz="1800" b="0">
                <a:solidFill>
                  <a:srgbClr val="6B7480"/>
                </a:solidFill>
                <a:latin typeface="Arial"/>
              </a:rPr>
              <a:t>Like a driving test, not proof you can drive.</a:t>
            </a:r>
          </a:p>
        </p:txBody>
      </p:sp>
      <p:sp>
        <p:nvSpPr>
          <p:cNvPr id="12" name="TextBox 1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a pass means, and what it does not</a:t>
            </a:r>
          </a:p>
        </p:txBody>
      </p:sp>
      <p:sp>
        <p:nvSpPr>
          <p:cNvPr id="4" name="Rounded Rectangle 3"/>
          <p:cNvSpPr/>
          <p:nvPr/>
        </p:nvSpPr>
        <p:spPr>
          <a:xfrm>
            <a:off x="812800" y="1714500"/>
            <a:ext cx="10566400" cy="1079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800"/>
              </a:spcAft>
            </a:pPr>
            <a:r>
              <a:rPr sz="2800" b="1">
                <a:solidFill>
                  <a:srgbClr val="F6F8FB"/>
                </a:solidFill>
                <a:latin typeface="Georgia"/>
              </a:rPr>
              <a:t>A bad rule reaches $20 at most 5% of the time.</a:t>
            </a:r>
          </a:p>
          <a:p>
            <a:pPr algn="ctr">
              <a:lnSpc>
                <a:spcPct val="115000"/>
              </a:lnSpc>
              <a:spcAft>
                <a:spcPts val="0"/>
              </a:spcAft>
            </a:pPr>
            <a:r>
              <a:rPr sz="2200" b="1">
                <a:solidFill>
                  <a:srgbClr val="66B2F0"/>
                </a:solidFill>
                <a:latin typeface="Arial"/>
              </a:rPr>
              <a:t>So: reach $20 → accept the rule.  This is wrong at most 5% of the time.</a:t>
            </a:r>
          </a:p>
        </p:txBody>
      </p:sp>
      <p:sp>
        <p:nvSpPr>
          <p:cNvPr id="5" name="Rounded Rectangle 4"/>
          <p:cNvSpPr/>
          <p:nvPr/>
        </p:nvSpPr>
        <p:spPr>
          <a:xfrm>
            <a:off x="812800" y="3111500"/>
            <a:ext cx="3111500" cy="1460500"/>
          </a:xfrm>
          <a:prstGeom prst="roundRect">
            <a:avLst>
              <a:gd name="adj" fmla="val 7826"/>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1000"/>
              </a:spcAft>
            </a:pPr>
            <a:r>
              <a:rPr sz="2400" b="1">
                <a:solidFill>
                  <a:srgbClr val="2F6B34"/>
                </a:solidFill>
                <a:latin typeface="Arial"/>
              </a:rPr>
              <a:t>Right</a:t>
            </a:r>
          </a:p>
          <a:p>
            <a:pPr algn="ctr">
              <a:lnSpc>
                <a:spcPct val="115000"/>
              </a:lnSpc>
              <a:spcAft>
                <a:spcPts val="0"/>
              </a:spcAft>
            </a:pPr>
            <a:r>
              <a:rPr sz="1700" b="0">
                <a:solidFill>
                  <a:srgbClr val="00175A"/>
                </a:solidFill>
                <a:latin typeface="Arial"/>
              </a:rPr>
              <a:t>“We accept it, and are wrong at most 5% of the time.”</a:t>
            </a:r>
          </a:p>
        </p:txBody>
      </p:sp>
      <p:sp>
        <p:nvSpPr>
          <p:cNvPr id="6" name="Rounded Rectangle 5"/>
          <p:cNvSpPr/>
          <p:nvPr/>
        </p:nvSpPr>
        <p:spPr>
          <a:xfrm>
            <a:off x="4464050" y="3111500"/>
            <a:ext cx="3111500" cy="1460500"/>
          </a:xfrm>
          <a:prstGeom prst="roundRect">
            <a:avLst>
              <a:gd name="adj" fmla="val 7826"/>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1000"/>
              </a:spcAft>
            </a:pPr>
            <a:r>
              <a:rPr sz="2400" b="1">
                <a:solidFill>
                  <a:srgbClr val="B03A2E"/>
                </a:solidFill>
                <a:latin typeface="Arial"/>
              </a:rPr>
              <a:t>Wrong</a:t>
            </a:r>
          </a:p>
          <a:p>
            <a:pPr algn="ctr">
              <a:lnSpc>
                <a:spcPct val="115000"/>
              </a:lnSpc>
              <a:spcAft>
                <a:spcPts val="0"/>
              </a:spcAft>
            </a:pPr>
            <a:r>
              <a:rPr sz="1700" b="0">
                <a:solidFill>
                  <a:srgbClr val="00175A"/>
                </a:solidFill>
                <a:latin typeface="Arial"/>
              </a:rPr>
              <a:t>“Reaching $20 proves the rule is good.”</a:t>
            </a:r>
          </a:p>
        </p:txBody>
      </p:sp>
      <p:sp>
        <p:nvSpPr>
          <p:cNvPr id="7" name="Rounded Rectangle 6"/>
          <p:cNvSpPr/>
          <p:nvPr/>
        </p:nvSpPr>
        <p:spPr>
          <a:xfrm>
            <a:off x="8115300" y="3111500"/>
            <a:ext cx="3111500" cy="1460500"/>
          </a:xfrm>
          <a:prstGeom prst="roundRect">
            <a:avLst>
              <a:gd name="adj" fmla="val 7826"/>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1000"/>
              </a:spcAft>
            </a:pPr>
            <a:r>
              <a:rPr sz="2400" b="1">
                <a:solidFill>
                  <a:srgbClr val="B03A2E"/>
                </a:solidFill>
                <a:latin typeface="Arial"/>
              </a:rPr>
              <a:t>Wrong</a:t>
            </a:r>
          </a:p>
          <a:p>
            <a:pPr algn="ctr">
              <a:lnSpc>
                <a:spcPct val="115000"/>
              </a:lnSpc>
              <a:spcAft>
                <a:spcPts val="0"/>
              </a:spcAft>
            </a:pPr>
            <a:r>
              <a:rPr sz="1700" b="0">
                <a:solidFill>
                  <a:srgbClr val="00175A"/>
                </a:solidFill>
                <a:latin typeface="Arial"/>
              </a:rPr>
              <a:t>“5% of the rules that pass are bad.”</a:t>
            </a:r>
          </a:p>
        </p:txBody>
      </p:sp>
      <p:sp>
        <p:nvSpPr>
          <p:cNvPr id="8" name="Rounded Rectangle 7"/>
          <p:cNvSpPr/>
          <p:nvPr/>
        </p:nvSpPr>
        <p:spPr>
          <a:xfrm>
            <a:off x="812800" y="4826000"/>
            <a:ext cx="10566400" cy="1270000"/>
          </a:xfrm>
          <a:prstGeom prst="roundRect">
            <a:avLst>
              <a:gd name="adj" fmla="val 9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800"/>
              </a:spcAft>
            </a:pPr>
            <a:r>
              <a:rPr sz="1900" b="1">
                <a:solidFill>
                  <a:srgbClr val="00175A"/>
                </a:solidFill>
                <a:latin typeface="Arial"/>
              </a:rPr>
              <a:t>Like a driving test.</a:t>
            </a:r>
            <a:r>
              <a:rPr sz="1900" b="0">
                <a:solidFill>
                  <a:srgbClr val="00175A"/>
                </a:solidFill>
                <a:latin typeface="Arial"/>
              </a:rPr>
              <a:t> Bad drivers pass at most 5% of the time. Passing gets you a licence, it does not prove you can drive.</a:t>
            </a:r>
          </a:p>
          <a:p>
            <a:pPr algn="l">
              <a:lnSpc>
                <a:spcPct val="115000"/>
              </a:lnSpc>
              <a:spcAft>
                <a:spcPts val="0"/>
              </a:spcAft>
            </a:pPr>
            <a:r>
              <a:rPr sz="1800" b="0">
                <a:solidFill>
                  <a:srgbClr val="6B7480"/>
                </a:solidFill>
                <a:latin typeface="Arial"/>
              </a:rPr>
              <a:t>Two families, 5% each  →  the promise holds with probability ≥ 90%.</a:t>
            </a:r>
          </a:p>
        </p:txBody>
      </p:sp>
      <p:sp>
        <p:nvSpPr>
          <p:cNvPr id="9" name="TextBox 8"/>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Putting it together: how CLIMB sets the threshold</a:t>
            </a:r>
          </a:p>
        </p:txBody>
      </p:sp>
      <p:pic>
        <p:nvPicPr>
          <p:cNvPr id="4" name="Picture 3" descr="c_sweep.png"/>
          <p:cNvPicPr>
            <a:picLocks noChangeAspect="1"/>
          </p:cNvPicPr>
          <p:nvPr/>
        </p:nvPicPr>
        <p:blipFill>
          <a:blip r:embed="rId3"/>
          <a:stretch>
            <a:fillRect/>
          </a:stretch>
        </p:blipFill>
        <p:spPr>
          <a:xfrm>
            <a:off x="2179492" y="1587500"/>
            <a:ext cx="7833014" cy="4445000"/>
          </a:xfrm>
          <a:prstGeom prst="rect">
            <a:avLst/>
          </a:prstGeom>
        </p:spPr>
      </p:pic>
      <p:sp>
        <p:nvSpPr>
          <p:cNvPr id="5" name="TextBox 4"/>
          <p:cNvSpPr txBox="1"/>
          <p:nvPr/>
        </p:nvSpPr>
        <p:spPr>
          <a:xfrm>
            <a:off x="812800" y="6096000"/>
            <a:ext cx="10566400" cy="2540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gpt-oss-120b on MuSiQue, threshold on the direct answer’s confidence, one calibration half. Two-rung thresholds are tested the same way, the cheaper is kept.</a:t>
            </a:r>
          </a:p>
        </p:txBody>
      </p:sp>
      <p:sp>
        <p:nvSpPr>
          <p:cNvPr id="6" name="TextBox 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bet on saved answers too? It saves more</a:t>
            </a:r>
          </a:p>
        </p:txBody>
      </p:sp>
      <p:pic>
        <p:nvPicPr>
          <p:cNvPr id="4" name="Picture 3" descr="c_tests.png"/>
          <p:cNvPicPr>
            <a:picLocks noChangeAspect="1"/>
          </p:cNvPicPr>
          <p:nvPr/>
        </p:nvPicPr>
        <p:blipFill>
          <a:blip r:embed="rId3"/>
          <a:stretch>
            <a:fillRect/>
          </a:stretch>
        </p:blipFill>
        <p:spPr>
          <a:xfrm>
            <a:off x="812800" y="2378610"/>
            <a:ext cx="7302500" cy="2608779"/>
          </a:xfrm>
          <a:prstGeom prst="rect">
            <a:avLst/>
          </a:prstGeom>
        </p:spPr>
      </p:pic>
      <p:sp>
        <p:nvSpPr>
          <p:cNvPr id="5" name="Rounded Rectangle 4"/>
          <p:cNvSpPr/>
          <p:nvPr/>
        </p:nvSpPr>
        <p:spPr>
          <a:xfrm>
            <a:off x="8445500" y="1905000"/>
            <a:ext cx="2933700" cy="1778000"/>
          </a:xfrm>
          <a:prstGeom prst="roundRect">
            <a:avLst>
              <a:gd name="adj" fmla="val 6428"/>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62%</a:t>
            </a:r>
          </a:p>
          <a:p>
            <a:pPr algn="l">
              <a:lnSpc>
                <a:spcPct val="115000"/>
              </a:lnSpc>
              <a:spcAft>
                <a:spcPts val="0"/>
              </a:spcAft>
            </a:pPr>
            <a:r>
              <a:rPr sz="1700" b="0">
                <a:solidFill>
                  <a:srgbClr val="333B47"/>
                </a:solidFill>
                <a:latin typeface="Arial"/>
              </a:rPr>
              <a:t>of the team’s tokens when saves count. Losses only: 79%.</a:t>
            </a:r>
          </a:p>
        </p:txBody>
      </p:sp>
      <p:sp>
        <p:nvSpPr>
          <p:cNvPr id="6" name="TextBox 5"/>
          <p:cNvSpPr txBox="1"/>
          <p:nvPr/>
        </p:nvSpPr>
        <p:spPr>
          <a:xfrm>
            <a:off x="8445500" y="3937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Teams break right answers on up to 9% of tasks. The bet gives the rule credit for them.</a:t>
            </a:r>
          </a:p>
        </p:txBody>
      </p:sp>
      <p:sp>
        <p:nvSpPr>
          <p:cNvPr id="7" name="TextBox 6"/>
          <p:cNvSpPr txBox="1"/>
          <p:nvPr/>
        </p:nvSpPr>
        <p:spPr>
          <a:xfrm>
            <a:off x="812800" y="5778500"/>
            <a:ext cx="7302500" cy="254000"/>
          </a:xfrm>
          <a:prstGeom prst="rect">
            <a:avLst/>
          </a:prstGeom>
          <a:noFill/>
        </p:spPr>
        <p:txBody>
          <a:bodyPr wrap="square" lIns="0" rIns="0" tIns="0" bIns="0" anchor="t">
            <a:spAutoFit/>
          </a:bodyPr>
          <a:lstStyle/>
          <a:p>
            <a:pPr algn="l">
              <a:lnSpc>
                <a:spcPct val="115000"/>
              </a:lnSpc>
              <a:spcAft>
                <a:spcPts val="0"/>
              </a:spcAft>
            </a:pPr>
            <a:r>
              <a:rPr sz="1600" b="0">
                <a:solidFill>
                  <a:srgbClr val="6B7480"/>
                </a:solidFill>
                <a:latin typeface="Arial"/>
              </a:rPr>
              <a:t>Tokens each valid test can certify at ε = 5. Lower is better.</a:t>
            </a:r>
          </a:p>
        </p:txBody>
      </p:sp>
      <p:sp>
        <p:nvSpPr>
          <p:cNvPr id="8" name="TextBox 7"/>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DEPTH</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One rung or two? The data decides</a:t>
            </a:r>
          </a:p>
        </p:txBody>
      </p:sp>
      <p:sp>
        <p:nvSpPr>
          <p:cNvPr id="4" name="TextBox 3"/>
          <p:cNvSpPr txBox="1"/>
          <p:nvPr/>
        </p:nvSpPr>
        <p:spPr>
          <a:xfrm>
            <a:off x="812800" y="1778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Option A: one rung</a:t>
            </a:r>
          </a:p>
        </p:txBody>
      </p:sp>
      <p:sp>
        <p:nvSpPr>
          <p:cNvPr id="5" name="Rounded Rectangle 4"/>
          <p:cNvSpPr/>
          <p:nvPr/>
        </p:nvSpPr>
        <p:spPr>
          <a:xfrm>
            <a:off x="812800" y="2159000"/>
            <a:ext cx="2667000" cy="952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00175A"/>
                </a:solidFill>
                <a:latin typeface="Arial"/>
              </a:rPr>
              <a:t>Direct answer</a:t>
            </a:r>
          </a:p>
        </p:txBody>
      </p:sp>
      <p:sp>
        <p:nvSpPr>
          <p:cNvPr id="6" name="Right Arrow 5"/>
          <p:cNvSpPr/>
          <p:nvPr/>
        </p:nvSpPr>
        <p:spPr>
          <a:xfrm>
            <a:off x="3556000" y="2476500"/>
            <a:ext cx="444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095750" y="2159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confident? stop</a:t>
            </a:r>
          </a:p>
        </p:txBody>
      </p:sp>
      <p:sp>
        <p:nvSpPr>
          <p:cNvPr id="8" name="TextBox 7"/>
          <p:cNvSpPr txBox="1"/>
          <p:nvPr/>
        </p:nvSpPr>
        <p:spPr>
          <a:xfrm>
            <a:off x="6889750" y="2444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006FCF"/>
                </a:solidFill>
                <a:latin typeface="Arial"/>
              </a:rPr>
              <a:t>otherwise → team</a:t>
            </a:r>
          </a:p>
        </p:txBody>
      </p:sp>
      <p:sp>
        <p:nvSpPr>
          <p:cNvPr id="9" name="TextBox 8"/>
          <p:cNvSpPr txBox="1"/>
          <p:nvPr/>
        </p:nvSpPr>
        <p:spPr>
          <a:xfrm>
            <a:off x="812800" y="3429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Option B: two rungs</a:t>
            </a:r>
          </a:p>
        </p:txBody>
      </p:sp>
      <p:sp>
        <p:nvSpPr>
          <p:cNvPr id="10" name="Rounded Rectangle 9"/>
          <p:cNvSpPr/>
          <p:nvPr/>
        </p:nvSpPr>
        <p:spPr>
          <a:xfrm>
            <a:off x="812800" y="3810000"/>
            <a:ext cx="2667000" cy="952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00175A"/>
                </a:solidFill>
                <a:latin typeface="Arial"/>
              </a:rPr>
              <a:t>Direct answer + single agent</a:t>
            </a:r>
          </a:p>
        </p:txBody>
      </p:sp>
      <p:sp>
        <p:nvSpPr>
          <p:cNvPr id="11" name="Right Arrow 10"/>
          <p:cNvSpPr/>
          <p:nvPr/>
        </p:nvSpPr>
        <p:spPr>
          <a:xfrm>
            <a:off x="3556000" y="4127500"/>
            <a:ext cx="444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095750" y="3810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agree and confident? stop</a:t>
            </a:r>
          </a:p>
        </p:txBody>
      </p:sp>
      <p:sp>
        <p:nvSpPr>
          <p:cNvPr id="13" name="TextBox 12"/>
          <p:cNvSpPr txBox="1"/>
          <p:nvPr/>
        </p:nvSpPr>
        <p:spPr>
          <a:xfrm>
            <a:off x="6889750" y="4095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006FCF"/>
                </a:solidFill>
                <a:latin typeface="Arial"/>
              </a:rPr>
              <a:t>otherwise → team</a:t>
            </a:r>
          </a:p>
        </p:txBody>
      </p:sp>
      <p:sp>
        <p:nvSpPr>
          <p:cNvPr id="14" name="Rounded Rectangle 13"/>
          <p:cNvSpPr/>
          <p:nvPr/>
        </p:nvSpPr>
        <p:spPr>
          <a:xfrm>
            <a:off x="8763000" y="1905000"/>
            <a:ext cx="2616200" cy="3175000"/>
          </a:xfrm>
          <a:prstGeom prst="roundRect">
            <a:avLst>
              <a:gd name="adj" fmla="val 4368"/>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77800" bIns="177800"/>
          <a:lstStyle/>
          <a:p>
            <a:pPr algn="l">
              <a:lnSpc>
                <a:spcPct val="115000"/>
              </a:lnSpc>
              <a:spcAft>
                <a:spcPts val="1200"/>
              </a:spcAft>
            </a:pPr>
            <a:r>
              <a:rPr sz="2400" b="1">
                <a:solidFill>
                  <a:srgbClr val="66B2F0"/>
                </a:solidFill>
                <a:latin typeface="Arial"/>
              </a:rPr>
              <a:t>Check both</a:t>
            </a:r>
          </a:p>
          <a:p>
            <a:pPr algn="l">
              <a:lnSpc>
                <a:spcPct val="115000"/>
              </a:lnSpc>
              <a:spcAft>
                <a:spcPts val="1200"/>
              </a:spcAft>
            </a:pPr>
            <a:r>
              <a:rPr sz="1800" b="0">
                <a:solidFill>
                  <a:srgbClr val="F6F8FB"/>
                </a:solidFill>
                <a:latin typeface="Arial"/>
              </a:rPr>
              <a:t>on calibration data, then deploy the cheaper one that passes.</a:t>
            </a:r>
          </a:p>
          <a:p>
            <a:pPr algn="l">
              <a:lnSpc>
                <a:spcPct val="115000"/>
              </a:lnSpc>
              <a:spcAft>
                <a:spcPts val="0"/>
              </a:spcAft>
            </a:pPr>
            <a:r>
              <a:rPr sz="1800" b="0">
                <a:solidFill>
                  <a:srgbClr val="C3D3EC"/>
                </a:solidFill>
                <a:latin typeface="Arial"/>
              </a:rPr>
              <a:t>Neither passes? Always call the team.</a:t>
            </a:r>
          </a:p>
        </p:txBody>
      </p:sp>
      <p:sp>
        <p:nvSpPr>
          <p:cNvPr id="15" name="TextBox 14"/>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EXPERIMENTS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3 models × 4 benchmarks = 12 settings</a:t>
            </a:r>
          </a:p>
        </p:txBody>
      </p:sp>
      <p:sp>
        <p:nvSpPr>
          <p:cNvPr id="4" name="TextBox 3"/>
          <p:cNvSpPr txBox="1"/>
          <p:nvPr/>
        </p:nvSpPr>
        <p:spPr>
          <a:xfrm>
            <a:off x="3048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MATH</a:t>
            </a:r>
          </a:p>
          <a:p>
            <a:pPr algn="ctr">
              <a:lnSpc>
                <a:spcPct val="115000"/>
              </a:lnSpc>
              <a:spcAft>
                <a:spcPts val="0"/>
              </a:spcAft>
            </a:pPr>
            <a:r>
              <a:rPr sz="1600" b="0">
                <a:solidFill>
                  <a:srgbClr val="6B7480"/>
                </a:solidFill>
                <a:latin typeface="Arial"/>
              </a:rPr>
              <a:t>math</a:t>
            </a:r>
          </a:p>
        </p:txBody>
      </p:sp>
      <p:sp>
        <p:nvSpPr>
          <p:cNvPr id="5" name="TextBox 4"/>
          <p:cNvSpPr txBox="1"/>
          <p:nvPr/>
        </p:nvSpPr>
        <p:spPr>
          <a:xfrm>
            <a:off x="5080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FRAMES</a:t>
            </a:r>
          </a:p>
          <a:p>
            <a:pPr algn="ctr">
              <a:lnSpc>
                <a:spcPct val="115000"/>
              </a:lnSpc>
              <a:spcAft>
                <a:spcPts val="0"/>
              </a:spcAft>
            </a:pPr>
            <a:r>
              <a:rPr sz="1600" b="0">
                <a:solidFill>
                  <a:srgbClr val="6B7480"/>
                </a:solidFill>
                <a:latin typeface="Arial"/>
              </a:rPr>
              <a:t>open-book QA</a:t>
            </a:r>
          </a:p>
        </p:txBody>
      </p:sp>
      <p:sp>
        <p:nvSpPr>
          <p:cNvPr id="6" name="TextBox 5"/>
          <p:cNvSpPr txBox="1"/>
          <p:nvPr/>
        </p:nvSpPr>
        <p:spPr>
          <a:xfrm>
            <a:off x="7112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MuSiQue</a:t>
            </a:r>
          </a:p>
          <a:p>
            <a:pPr algn="ctr">
              <a:lnSpc>
                <a:spcPct val="115000"/>
              </a:lnSpc>
              <a:spcAft>
                <a:spcPts val="0"/>
              </a:spcAft>
            </a:pPr>
            <a:r>
              <a:rPr sz="1600" b="0">
                <a:solidFill>
                  <a:srgbClr val="6B7480"/>
                </a:solidFill>
                <a:latin typeface="Arial"/>
              </a:rPr>
              <a:t>open-book QA</a:t>
            </a:r>
          </a:p>
        </p:txBody>
      </p:sp>
      <p:sp>
        <p:nvSpPr>
          <p:cNvPr id="7" name="TextBox 6"/>
          <p:cNvSpPr txBox="1"/>
          <p:nvPr/>
        </p:nvSpPr>
        <p:spPr>
          <a:xfrm>
            <a:off x="9144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BBEH</a:t>
            </a:r>
          </a:p>
          <a:p>
            <a:pPr algn="ctr">
              <a:lnSpc>
                <a:spcPct val="115000"/>
              </a:lnSpc>
              <a:spcAft>
                <a:spcPts val="0"/>
              </a:spcAft>
            </a:pPr>
            <a:r>
              <a:rPr sz="1600" b="0">
                <a:solidFill>
                  <a:srgbClr val="6B7480"/>
                </a:solidFill>
                <a:latin typeface="Arial"/>
              </a:rPr>
              <a:t>hard reasoning</a:t>
            </a:r>
          </a:p>
        </p:txBody>
      </p:sp>
      <p:sp>
        <p:nvSpPr>
          <p:cNvPr id="8" name="TextBox 7"/>
          <p:cNvSpPr txBox="1"/>
          <p:nvPr/>
        </p:nvSpPr>
        <p:spPr>
          <a:xfrm>
            <a:off x="812800" y="2508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gpt-oss-20b</a:t>
            </a:r>
          </a:p>
        </p:txBody>
      </p:sp>
      <p:sp>
        <p:nvSpPr>
          <p:cNvPr id="9" name="Rounded Rectangle 8"/>
          <p:cNvSpPr/>
          <p:nvPr/>
        </p:nvSpPr>
        <p:spPr>
          <a:xfrm>
            <a:off x="3048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94.8%</a:t>
            </a:r>
          </a:p>
          <a:p>
            <a:pPr algn="ctr">
              <a:lnSpc>
                <a:spcPct val="115000"/>
              </a:lnSpc>
              <a:spcAft>
                <a:spcPts val="0"/>
              </a:spcAft>
            </a:pPr>
            <a:r>
              <a:rPr sz="1300" b="0">
                <a:solidFill>
                  <a:srgbClr val="6B7480"/>
                </a:solidFill>
                <a:latin typeface="Arial"/>
              </a:rPr>
              <a:t>team accuracy</a:t>
            </a:r>
          </a:p>
        </p:txBody>
      </p:sp>
      <p:sp>
        <p:nvSpPr>
          <p:cNvPr id="10" name="Rounded Rectangle 9"/>
          <p:cNvSpPr/>
          <p:nvPr/>
        </p:nvSpPr>
        <p:spPr>
          <a:xfrm>
            <a:off x="5080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76.1%</a:t>
            </a:r>
          </a:p>
          <a:p>
            <a:pPr algn="ctr">
              <a:lnSpc>
                <a:spcPct val="115000"/>
              </a:lnSpc>
              <a:spcAft>
                <a:spcPts val="0"/>
              </a:spcAft>
            </a:pPr>
            <a:r>
              <a:rPr sz="1300" b="0">
                <a:solidFill>
                  <a:srgbClr val="6B7480"/>
                </a:solidFill>
                <a:latin typeface="Arial"/>
              </a:rPr>
              <a:t>team accuracy</a:t>
            </a:r>
          </a:p>
        </p:txBody>
      </p:sp>
      <p:sp>
        <p:nvSpPr>
          <p:cNvPr id="11" name="Rounded Rectangle 10"/>
          <p:cNvSpPr/>
          <p:nvPr/>
        </p:nvSpPr>
        <p:spPr>
          <a:xfrm>
            <a:off x="7112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64.9%</a:t>
            </a:r>
          </a:p>
          <a:p>
            <a:pPr algn="ctr">
              <a:lnSpc>
                <a:spcPct val="115000"/>
              </a:lnSpc>
              <a:spcAft>
                <a:spcPts val="0"/>
              </a:spcAft>
            </a:pPr>
            <a:r>
              <a:rPr sz="1300" b="0">
                <a:solidFill>
                  <a:srgbClr val="6B7480"/>
                </a:solidFill>
                <a:latin typeface="Arial"/>
              </a:rPr>
              <a:t>team accuracy</a:t>
            </a:r>
          </a:p>
        </p:txBody>
      </p:sp>
      <p:sp>
        <p:nvSpPr>
          <p:cNvPr id="12" name="Rounded Rectangle 11"/>
          <p:cNvSpPr/>
          <p:nvPr/>
        </p:nvSpPr>
        <p:spPr>
          <a:xfrm>
            <a:off x="9144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28.0%</a:t>
            </a:r>
          </a:p>
          <a:p>
            <a:pPr algn="ctr">
              <a:lnSpc>
                <a:spcPct val="115000"/>
              </a:lnSpc>
              <a:spcAft>
                <a:spcPts val="0"/>
              </a:spcAft>
            </a:pPr>
            <a:r>
              <a:rPr sz="1300" b="0">
                <a:solidFill>
                  <a:srgbClr val="6B7480"/>
                </a:solidFill>
                <a:latin typeface="Arial"/>
              </a:rPr>
              <a:t>team accuracy</a:t>
            </a:r>
          </a:p>
        </p:txBody>
      </p:sp>
      <p:sp>
        <p:nvSpPr>
          <p:cNvPr id="13" name="TextBox 12"/>
          <p:cNvSpPr txBox="1"/>
          <p:nvPr/>
        </p:nvSpPr>
        <p:spPr>
          <a:xfrm>
            <a:off x="812800" y="34607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gpt-oss-120b</a:t>
            </a:r>
          </a:p>
        </p:txBody>
      </p:sp>
      <p:sp>
        <p:nvSpPr>
          <p:cNvPr id="14" name="Rounded Rectangle 13"/>
          <p:cNvSpPr/>
          <p:nvPr/>
        </p:nvSpPr>
        <p:spPr>
          <a:xfrm>
            <a:off x="3048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97.0%</a:t>
            </a:r>
          </a:p>
          <a:p>
            <a:pPr algn="ctr">
              <a:lnSpc>
                <a:spcPct val="115000"/>
              </a:lnSpc>
              <a:spcAft>
                <a:spcPts val="0"/>
              </a:spcAft>
            </a:pPr>
            <a:r>
              <a:rPr sz="1300" b="0">
                <a:solidFill>
                  <a:srgbClr val="6B7480"/>
                </a:solidFill>
                <a:latin typeface="Arial"/>
              </a:rPr>
              <a:t>team accuracy</a:t>
            </a:r>
          </a:p>
        </p:txBody>
      </p:sp>
      <p:sp>
        <p:nvSpPr>
          <p:cNvPr id="15" name="Rounded Rectangle 14"/>
          <p:cNvSpPr/>
          <p:nvPr/>
        </p:nvSpPr>
        <p:spPr>
          <a:xfrm>
            <a:off x="5080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79.8%</a:t>
            </a:r>
          </a:p>
          <a:p>
            <a:pPr algn="ctr">
              <a:lnSpc>
                <a:spcPct val="115000"/>
              </a:lnSpc>
              <a:spcAft>
                <a:spcPts val="0"/>
              </a:spcAft>
            </a:pPr>
            <a:r>
              <a:rPr sz="1300" b="0">
                <a:solidFill>
                  <a:srgbClr val="6B7480"/>
                </a:solidFill>
                <a:latin typeface="Arial"/>
              </a:rPr>
              <a:t>team accuracy</a:t>
            </a:r>
          </a:p>
        </p:txBody>
      </p:sp>
      <p:sp>
        <p:nvSpPr>
          <p:cNvPr id="16" name="Rounded Rectangle 15"/>
          <p:cNvSpPr/>
          <p:nvPr/>
        </p:nvSpPr>
        <p:spPr>
          <a:xfrm>
            <a:off x="7112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71.1%</a:t>
            </a:r>
          </a:p>
          <a:p>
            <a:pPr algn="ctr">
              <a:lnSpc>
                <a:spcPct val="115000"/>
              </a:lnSpc>
              <a:spcAft>
                <a:spcPts val="0"/>
              </a:spcAft>
            </a:pPr>
            <a:r>
              <a:rPr sz="1300" b="0">
                <a:solidFill>
                  <a:srgbClr val="6B7480"/>
                </a:solidFill>
                <a:latin typeface="Arial"/>
              </a:rPr>
              <a:t>team accuracy</a:t>
            </a:r>
          </a:p>
        </p:txBody>
      </p:sp>
      <p:sp>
        <p:nvSpPr>
          <p:cNvPr id="17" name="Rounded Rectangle 16"/>
          <p:cNvSpPr/>
          <p:nvPr/>
        </p:nvSpPr>
        <p:spPr>
          <a:xfrm>
            <a:off x="9144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45.1%</a:t>
            </a:r>
          </a:p>
          <a:p>
            <a:pPr algn="ctr">
              <a:lnSpc>
                <a:spcPct val="115000"/>
              </a:lnSpc>
              <a:spcAft>
                <a:spcPts val="0"/>
              </a:spcAft>
            </a:pPr>
            <a:r>
              <a:rPr sz="1300" b="0">
                <a:solidFill>
                  <a:srgbClr val="6B7480"/>
                </a:solidFill>
                <a:latin typeface="Arial"/>
              </a:rPr>
              <a:t>team accuracy</a:t>
            </a:r>
          </a:p>
        </p:txBody>
      </p:sp>
      <p:sp>
        <p:nvSpPr>
          <p:cNvPr id="18" name="TextBox 17"/>
          <p:cNvSpPr txBox="1"/>
          <p:nvPr/>
        </p:nvSpPr>
        <p:spPr>
          <a:xfrm>
            <a:off x="812800" y="4413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Gemma-4-26B</a:t>
            </a:r>
          </a:p>
        </p:txBody>
      </p:sp>
      <p:sp>
        <p:nvSpPr>
          <p:cNvPr id="19" name="Rounded Rectangle 18"/>
          <p:cNvSpPr/>
          <p:nvPr/>
        </p:nvSpPr>
        <p:spPr>
          <a:xfrm>
            <a:off x="3048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99.8%</a:t>
            </a:r>
          </a:p>
          <a:p>
            <a:pPr algn="ctr">
              <a:lnSpc>
                <a:spcPct val="115000"/>
              </a:lnSpc>
              <a:spcAft>
                <a:spcPts val="0"/>
              </a:spcAft>
            </a:pPr>
            <a:r>
              <a:rPr sz="1300" b="0">
                <a:solidFill>
                  <a:srgbClr val="6B7480"/>
                </a:solidFill>
                <a:latin typeface="Arial"/>
              </a:rPr>
              <a:t>team accuracy</a:t>
            </a:r>
          </a:p>
        </p:txBody>
      </p:sp>
      <p:sp>
        <p:nvSpPr>
          <p:cNvPr id="20" name="Rounded Rectangle 19"/>
          <p:cNvSpPr/>
          <p:nvPr/>
        </p:nvSpPr>
        <p:spPr>
          <a:xfrm>
            <a:off x="5080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67.9%</a:t>
            </a:r>
          </a:p>
          <a:p>
            <a:pPr algn="ctr">
              <a:lnSpc>
                <a:spcPct val="115000"/>
              </a:lnSpc>
              <a:spcAft>
                <a:spcPts val="0"/>
              </a:spcAft>
            </a:pPr>
            <a:r>
              <a:rPr sz="1300" b="0">
                <a:solidFill>
                  <a:srgbClr val="6B7480"/>
                </a:solidFill>
                <a:latin typeface="Arial"/>
              </a:rPr>
              <a:t>team accuracy</a:t>
            </a:r>
          </a:p>
        </p:txBody>
      </p:sp>
      <p:sp>
        <p:nvSpPr>
          <p:cNvPr id="21" name="Rounded Rectangle 20"/>
          <p:cNvSpPr/>
          <p:nvPr/>
        </p:nvSpPr>
        <p:spPr>
          <a:xfrm>
            <a:off x="7112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65.3%</a:t>
            </a:r>
          </a:p>
          <a:p>
            <a:pPr algn="ctr">
              <a:lnSpc>
                <a:spcPct val="115000"/>
              </a:lnSpc>
              <a:spcAft>
                <a:spcPts val="0"/>
              </a:spcAft>
            </a:pPr>
            <a:r>
              <a:rPr sz="1300" b="0">
                <a:solidFill>
                  <a:srgbClr val="6B7480"/>
                </a:solidFill>
                <a:latin typeface="Arial"/>
              </a:rPr>
              <a:t>team accuracy</a:t>
            </a:r>
          </a:p>
        </p:txBody>
      </p:sp>
      <p:sp>
        <p:nvSpPr>
          <p:cNvPr id="22" name="Rounded Rectangle 21"/>
          <p:cNvSpPr/>
          <p:nvPr/>
        </p:nvSpPr>
        <p:spPr>
          <a:xfrm>
            <a:off x="9144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36.4%</a:t>
            </a:r>
          </a:p>
          <a:p>
            <a:pPr algn="ctr">
              <a:lnSpc>
                <a:spcPct val="115000"/>
              </a:lnSpc>
              <a:spcAft>
                <a:spcPts val="0"/>
              </a:spcAft>
            </a:pPr>
            <a:r>
              <a:rPr sz="1300" b="0">
                <a:solidFill>
                  <a:srgbClr val="6B7480"/>
                </a:solidFill>
                <a:latin typeface="Arial"/>
              </a:rPr>
              <a:t>team accuracy</a:t>
            </a:r>
          </a:p>
        </p:txBody>
      </p:sp>
      <p:sp>
        <p:nvSpPr>
          <p:cNvPr id="23" name="Rounded Rectangle 22"/>
          <p:cNvSpPr/>
          <p:nvPr/>
        </p:nvSpPr>
        <p:spPr>
          <a:xfrm>
            <a:off x="812800" y="5524500"/>
            <a:ext cx="10566400" cy="635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1800" b="0">
                <a:solidFill>
                  <a:srgbClr val="F6F8FB"/>
                </a:solidFill>
                <a:latin typeface="Arial"/>
              </a:rPr>
              <a:t>Record every task once, then replay </a:t>
            </a:r>
            <a:r>
              <a:rPr sz="1800" b="1">
                <a:solidFill>
                  <a:srgbClr val="66B2F0"/>
                </a:solidFill>
                <a:latin typeface="Arial"/>
              </a:rPr>
              <a:t>200 random splits</a:t>
            </a:r>
            <a:r>
              <a:rPr sz="1800" b="0">
                <a:solidFill>
                  <a:srgbClr val="F6F8FB"/>
                </a:solidFill>
                <a:latin typeface="Arial"/>
              </a:rPr>
              <a:t>: half to calibrate CLIMB, half to test it.</a:t>
            </a:r>
          </a:p>
        </p:txBody>
      </p:sp>
      <p:sp>
        <p:nvSpPr>
          <p:cNvPr id="24" name="TextBox 2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 promise holds on every setting</a:t>
            </a:r>
          </a:p>
        </p:txBody>
      </p:sp>
      <p:pic>
        <p:nvPicPr>
          <p:cNvPr id="4" name="Picture 3" descr="c_viol.png"/>
          <p:cNvPicPr>
            <a:picLocks noChangeAspect="1"/>
          </p:cNvPicPr>
          <p:nvPr/>
        </p:nvPicPr>
        <p:blipFill>
          <a:blip r:embed="rId3"/>
          <a:stretch>
            <a:fillRect/>
          </a:stretch>
        </p:blipFill>
        <p:spPr>
          <a:xfrm>
            <a:off x="812800" y="1999442"/>
            <a:ext cx="7302500" cy="3748115"/>
          </a:xfrm>
          <a:prstGeom prst="rect">
            <a:avLst/>
          </a:prstGeom>
        </p:spPr>
      </p:pic>
      <p:sp>
        <p:nvSpPr>
          <p:cNvPr id="5" name="Rounded Rectangle 4"/>
          <p:cNvSpPr/>
          <p:nvPr/>
        </p:nvSpPr>
        <p:spPr>
          <a:xfrm>
            <a:off x="8445500" y="2286000"/>
            <a:ext cx="2933700" cy="1905000"/>
          </a:xfrm>
          <a:prstGeom prst="roundRect">
            <a:avLst>
              <a:gd name="adj" fmla="val 6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 2%</a:t>
            </a:r>
          </a:p>
          <a:p>
            <a:pPr algn="l">
              <a:lnSpc>
                <a:spcPct val="115000"/>
              </a:lnSpc>
              <a:spcAft>
                <a:spcPts val="0"/>
              </a:spcAft>
            </a:pPr>
            <a:r>
              <a:rPr sz="1700" b="0">
                <a:solidFill>
                  <a:srgbClr val="333B47"/>
                </a:solidFill>
                <a:latin typeface="Arial"/>
              </a:rPr>
              <a:t>of splits broke the promise. Allowed: 10%.</a:t>
            </a:r>
          </a:p>
        </p:txBody>
      </p:sp>
      <p:sp>
        <p:nvSpPr>
          <p:cNvPr id="6" name="TextBox 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How much it saves</a:t>
            </a:r>
          </a:p>
        </p:txBody>
      </p:sp>
      <p:pic>
        <p:nvPicPr>
          <p:cNvPr id="4" name="Picture 3" descr="c_savings.png"/>
          <p:cNvPicPr>
            <a:picLocks noChangeAspect="1"/>
          </p:cNvPicPr>
          <p:nvPr/>
        </p:nvPicPr>
        <p:blipFill>
          <a:blip r:embed="rId3"/>
          <a:stretch>
            <a:fillRect/>
          </a:stretch>
        </p:blipFill>
        <p:spPr>
          <a:xfrm>
            <a:off x="812800" y="1997499"/>
            <a:ext cx="7302500" cy="3752001"/>
          </a:xfrm>
          <a:prstGeom prst="rect">
            <a:avLst/>
          </a:prstGeom>
        </p:spPr>
      </p:pic>
      <p:sp>
        <p:nvSpPr>
          <p:cNvPr id="5" name="Rounded Rectangle 4"/>
          <p:cNvSpPr/>
          <p:nvPr/>
        </p:nvSpPr>
        <p:spPr>
          <a:xfrm>
            <a:off x="8445500" y="2095500"/>
            <a:ext cx="2933700" cy="1651000"/>
          </a:xfrm>
          <a:prstGeom prst="roundRect">
            <a:avLst>
              <a:gd name="adj" fmla="val 692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38% saved</a:t>
            </a:r>
          </a:p>
          <a:p>
            <a:pPr algn="l">
              <a:lnSpc>
                <a:spcPct val="115000"/>
              </a:lnSpc>
              <a:spcAft>
                <a:spcPts val="0"/>
              </a:spcAft>
            </a:pPr>
            <a:r>
              <a:rPr sz="1700" b="0">
                <a:solidFill>
                  <a:srgbClr val="333B47"/>
                </a:solidFill>
                <a:latin typeface="Arial"/>
              </a:rPr>
              <a:t>allowing 5 points of loss</a:t>
            </a:r>
          </a:p>
        </p:txBody>
      </p:sp>
      <p:sp>
        <p:nvSpPr>
          <p:cNvPr id="6" name="Rounded Rectangle 5"/>
          <p:cNvSpPr/>
          <p:nvPr/>
        </p:nvSpPr>
        <p:spPr>
          <a:xfrm>
            <a:off x="8445500" y="4000500"/>
            <a:ext cx="2933700" cy="1651000"/>
          </a:xfrm>
          <a:prstGeom prst="roundRect">
            <a:avLst>
              <a:gd name="adj" fmla="val 692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65% saved</a:t>
            </a:r>
          </a:p>
          <a:p>
            <a:pPr algn="l">
              <a:lnSpc>
                <a:spcPct val="115000"/>
              </a:lnSpc>
              <a:spcAft>
                <a:spcPts val="0"/>
              </a:spcAft>
            </a:pPr>
            <a:r>
              <a:rPr sz="1700" b="0">
                <a:solidFill>
                  <a:srgbClr val="333B47"/>
                </a:solidFill>
                <a:latin typeface="Arial"/>
              </a:rPr>
              <a:t>allowing 10 points of loss</a:t>
            </a:r>
          </a:p>
        </p:txBody>
      </p:sp>
      <p:sp>
        <p:nvSpPr>
          <p:cNvPr id="7" name="TextBox 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 · 3 MODELS × 4 BENCHMARKS, 200 RANDOM SPLITS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These thresholds keep the promise and save 38–65%</a:t>
            </a:r>
          </a:p>
        </p:txBody>
      </p:sp>
      <p:sp>
        <p:nvSpPr>
          <p:cNvPr id="4" name="TextBox 3"/>
          <p:cNvSpPr txBox="1"/>
          <p:nvPr/>
        </p:nvSpPr>
        <p:spPr>
          <a:xfrm>
            <a:off x="812800" y="158750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Splits that broke the promise (%)</a:t>
            </a:r>
          </a:p>
        </p:txBody>
      </p:sp>
      <p:pic>
        <p:nvPicPr>
          <p:cNvPr id="5" name="Picture 4" descr="c_viol.png"/>
          <p:cNvPicPr>
            <a:picLocks noChangeAspect="1"/>
          </p:cNvPicPr>
          <p:nvPr/>
        </p:nvPicPr>
        <p:blipFill>
          <a:blip r:embed="rId3"/>
          <a:stretch>
            <a:fillRect/>
          </a:stretch>
        </p:blipFill>
        <p:spPr>
          <a:xfrm>
            <a:off x="812800" y="1998307"/>
            <a:ext cx="5080000" cy="2607384"/>
          </a:xfrm>
          <a:prstGeom prst="rect">
            <a:avLst/>
          </a:prstGeom>
        </p:spPr>
      </p:pic>
      <p:sp>
        <p:nvSpPr>
          <p:cNvPr id="6" name="TextBox 5"/>
          <p:cNvSpPr txBox="1"/>
          <p:nvPr/>
        </p:nvSpPr>
        <p:spPr>
          <a:xfrm>
            <a:off x="6299200" y="158750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Tokens used (% of the team’s)</a:t>
            </a:r>
          </a:p>
        </p:txBody>
      </p:sp>
      <p:pic>
        <p:nvPicPr>
          <p:cNvPr id="7" name="Picture 6" descr="c_savings.png"/>
          <p:cNvPicPr>
            <a:picLocks noChangeAspect="1"/>
          </p:cNvPicPr>
          <p:nvPr/>
        </p:nvPicPr>
        <p:blipFill>
          <a:blip r:embed="rId4"/>
          <a:stretch>
            <a:fillRect/>
          </a:stretch>
        </p:blipFill>
        <p:spPr>
          <a:xfrm>
            <a:off x="6299200" y="1996955"/>
            <a:ext cx="5080000" cy="2610088"/>
          </a:xfrm>
          <a:prstGeom prst="rect">
            <a:avLst/>
          </a:prstGeom>
        </p:spPr>
      </p:pic>
      <p:sp>
        <p:nvSpPr>
          <p:cNvPr id="8" name="Rounded Rectangle 7"/>
          <p:cNvSpPr/>
          <p:nvPr/>
        </p:nvSpPr>
        <p:spPr>
          <a:xfrm>
            <a:off x="812800" y="4826000"/>
            <a:ext cx="5080000" cy="1270000"/>
          </a:xfrm>
          <a:prstGeom prst="roundRect">
            <a:avLst>
              <a:gd name="adj" fmla="val 9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 2%</a:t>
            </a:r>
          </a:p>
          <a:p>
            <a:pPr algn="l">
              <a:lnSpc>
                <a:spcPct val="115000"/>
              </a:lnSpc>
              <a:spcAft>
                <a:spcPts val="0"/>
              </a:spcAft>
            </a:pPr>
            <a:r>
              <a:rPr sz="1700" b="0">
                <a:solidFill>
                  <a:srgbClr val="333B47"/>
                </a:solidFill>
                <a:latin typeface="Arial"/>
              </a:rPr>
              <a:t>of splits broke the promise. Allowed: 10%.</a:t>
            </a:r>
          </a:p>
        </p:txBody>
      </p:sp>
      <p:sp>
        <p:nvSpPr>
          <p:cNvPr id="9" name="Rounded Rectangle 8"/>
          <p:cNvSpPr/>
          <p:nvPr/>
        </p:nvSpPr>
        <p:spPr>
          <a:xfrm>
            <a:off x="6299200" y="4826000"/>
            <a:ext cx="5080000" cy="1270000"/>
          </a:xfrm>
          <a:prstGeom prst="roundRect">
            <a:avLst>
              <a:gd name="adj" fmla="val 9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38% / 65% saved</a:t>
            </a:r>
          </a:p>
          <a:p>
            <a:pPr algn="l">
              <a:lnSpc>
                <a:spcPct val="115000"/>
              </a:lnSpc>
              <a:spcAft>
                <a:spcPts val="0"/>
              </a:spcAft>
            </a:pPr>
            <a:r>
              <a:rPr sz="1700" b="0">
                <a:solidFill>
                  <a:srgbClr val="333B47"/>
                </a:solidFill>
                <a:latin typeface="Arial"/>
              </a:rPr>
              <a:t>allowing 5 / 10 points of loss</a:t>
            </a:r>
          </a:p>
        </p:txBody>
      </p:sp>
      <p:sp>
        <p:nvSpPr>
          <p:cNvPr id="10" name="TextBox 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Without the test, the promise breaks</a:t>
            </a:r>
          </a:p>
        </p:txBody>
      </p:sp>
      <p:pic>
        <p:nvPicPr>
          <p:cNvPr id="4" name="Picture 3" descr="c_tuned.png"/>
          <p:cNvPicPr>
            <a:picLocks noChangeAspect="1"/>
          </p:cNvPicPr>
          <p:nvPr/>
        </p:nvPicPr>
        <p:blipFill>
          <a:blip r:embed="rId3"/>
          <a:stretch>
            <a:fillRect/>
          </a:stretch>
        </p:blipFill>
        <p:spPr>
          <a:xfrm>
            <a:off x="812800" y="1721371"/>
            <a:ext cx="7302500" cy="4304257"/>
          </a:xfrm>
          <a:prstGeom prst="rect">
            <a:avLst/>
          </a:prstGeom>
        </p:spPr>
      </p:pic>
      <p:sp>
        <p:nvSpPr>
          <p:cNvPr id="5" name="Rounded Rectangle 4"/>
          <p:cNvSpPr/>
          <p:nvPr/>
        </p:nvSpPr>
        <p:spPr>
          <a:xfrm>
            <a:off x="8445500" y="2286000"/>
            <a:ext cx="2933700" cy="1905000"/>
          </a:xfrm>
          <a:prstGeom prst="roundRect">
            <a:avLst>
              <a:gd name="adj" fmla="val 6000"/>
            </a:avLst>
          </a:prstGeom>
          <a:solidFill>
            <a:srgbClr val="F6E3E0"/>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31%</a:t>
            </a:r>
          </a:p>
          <a:p>
            <a:pPr algn="l">
              <a:lnSpc>
                <a:spcPct val="115000"/>
              </a:lnSpc>
              <a:spcAft>
                <a:spcPts val="0"/>
              </a:spcAft>
            </a:pPr>
            <a:r>
              <a:rPr sz="1700" b="0">
                <a:solidFill>
                  <a:srgbClr val="333B47"/>
                </a:solidFill>
                <a:latin typeface="Arial"/>
              </a:rPr>
              <a:t>of splits broken at ε = 5 by the tuned rule. CLIMB: 0.6%.</a:t>
            </a:r>
          </a:p>
        </p:txBody>
      </p:sp>
      <p:sp>
        <p:nvSpPr>
          <p:cNvPr id="6" name="TextBox 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TAKEAWAYS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600" b="1">
                <a:solidFill>
                  <a:srgbClr val="00175A"/>
                </a:solidFill>
                <a:latin typeface="Georgia"/>
              </a:rPr>
              <a:t>Call the team only when you must</a:t>
            </a:r>
          </a:p>
        </p:txBody>
      </p:sp>
      <p:sp>
        <p:nvSpPr>
          <p:cNvPr id="4" name="Rectangle 3"/>
          <p:cNvSpPr/>
          <p:nvPr/>
        </p:nvSpPr>
        <p:spPr>
          <a:xfrm>
            <a:off x="81280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Teams are costly</a:t>
            </a:r>
          </a:p>
          <a:p>
            <a:pPr algn="l">
              <a:lnSpc>
                <a:spcPct val="115000"/>
              </a:lnSpc>
              <a:spcAft>
                <a:spcPts val="0"/>
              </a:spcAft>
            </a:pPr>
            <a:r>
              <a:rPr sz="2000" b="0">
                <a:solidFill>
                  <a:srgbClr val="333B47"/>
                </a:solidFill>
                <a:latin typeface="Arial"/>
              </a:rPr>
              <a:t>and sometimes break right answers.</a:t>
            </a:r>
          </a:p>
        </p:txBody>
      </p:sp>
      <p:sp>
        <p:nvSpPr>
          <p:cNvPr id="6" name="Rectangle 5"/>
          <p:cNvSpPr/>
          <p:nvPr/>
        </p:nvSpPr>
        <p:spPr>
          <a:xfrm>
            <a:off x="440055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0055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Data-set threshold</a:t>
            </a:r>
          </a:p>
          <a:p>
            <a:pPr algn="l">
              <a:lnSpc>
                <a:spcPct val="115000"/>
              </a:lnSpc>
              <a:spcAft>
                <a:spcPts val="0"/>
              </a:spcAft>
            </a:pPr>
            <a:r>
              <a:rPr sz="2000" b="0">
                <a:solidFill>
                  <a:srgbClr val="333B47"/>
                </a:solidFill>
                <a:latin typeface="Arial"/>
              </a:rPr>
              <a:t>you set the loss, a betting test finds the cheapest safe threshold.</a:t>
            </a:r>
          </a:p>
        </p:txBody>
      </p:sp>
      <p:sp>
        <p:nvSpPr>
          <p:cNvPr id="8" name="Rectangle 7"/>
          <p:cNvSpPr/>
          <p:nvPr/>
        </p:nvSpPr>
        <p:spPr>
          <a:xfrm>
            <a:off x="798830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883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38–65% saved</a:t>
            </a:r>
          </a:p>
          <a:p>
            <a:pPr algn="l">
              <a:lnSpc>
                <a:spcPct val="115000"/>
              </a:lnSpc>
              <a:spcAft>
                <a:spcPts val="0"/>
              </a:spcAft>
            </a:pPr>
            <a:r>
              <a:rPr sz="2000" b="0">
                <a:solidFill>
                  <a:srgbClr val="333B47"/>
                </a:solidFill>
                <a:latin typeface="Arial"/>
              </a:rPr>
              <a:t>at 5 and 10 points, with the promise kept.</a:t>
            </a:r>
          </a:p>
        </p:txBody>
      </p:sp>
      <p:sp>
        <p:nvSpPr>
          <p:cNvPr id="10" name="TextBox 9"/>
          <p:cNvSpPr txBox="1"/>
          <p:nvPr/>
        </p:nvSpPr>
        <p:spPr>
          <a:xfrm>
            <a:off x="812800" y="4699000"/>
            <a:ext cx="10566400" cy="508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Assumes calibration tasks resemble deployment tasks. Recalibrating takes under a second.</a:t>
            </a:r>
          </a:p>
        </p:txBody>
      </p:sp>
      <p:sp>
        <p:nvSpPr>
          <p:cNvPr id="11" name="TextBox 10"/>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FOR AMEX</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this offers Amex</a:t>
            </a:r>
          </a:p>
        </p:txBody>
      </p:sp>
      <p:sp>
        <p:nvSpPr>
          <p:cNvPr id="4" name="Oval 3"/>
          <p:cNvSpPr/>
          <p:nvPr/>
        </p:nvSpPr>
        <p:spPr>
          <a:xfrm>
            <a:off x="812800" y="1663700"/>
            <a:ext cx="381000" cy="3810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1</a:t>
            </a:r>
          </a:p>
        </p:txBody>
      </p:sp>
      <p:sp>
        <p:nvSpPr>
          <p:cNvPr id="5" name="TextBox 4"/>
          <p:cNvSpPr txBox="1"/>
          <p:nvPr/>
        </p:nvSpPr>
        <p:spPr>
          <a:xfrm>
            <a:off x="1320800" y="1663700"/>
            <a:ext cx="4699000" cy="381000"/>
          </a:xfrm>
          <a:prstGeom prst="rect">
            <a:avLst/>
          </a:prstGeom>
          <a:noFill/>
        </p:spPr>
        <p:txBody>
          <a:bodyPr wrap="square" lIns="0" rIns="0" tIns="0" bIns="0" anchor="ctr">
            <a:spAutoFit/>
          </a:bodyPr>
          <a:lstStyle/>
          <a:p>
            <a:pPr algn="l">
              <a:lnSpc>
                <a:spcPct val="115000"/>
              </a:lnSpc>
              <a:spcAft>
                <a:spcPts val="0"/>
              </a:spcAft>
            </a:pPr>
            <a:r>
              <a:rPr sz="2000" b="1">
                <a:solidFill>
                  <a:srgbClr val="00175A"/>
                </a:solidFill>
                <a:latin typeface="Arial"/>
              </a:rPr>
              <a:t>Fewer tokens, even on closed models</a:t>
            </a:r>
          </a:p>
        </p:txBody>
      </p:sp>
      <p:sp>
        <p:nvSpPr>
          <p:cNvPr id="6" name="Oval 5"/>
          <p:cNvSpPr/>
          <p:nvPr/>
        </p:nvSpPr>
        <p:spPr>
          <a:xfrm>
            <a:off x="6223000" y="1663700"/>
            <a:ext cx="381000" cy="3810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2</a:t>
            </a:r>
          </a:p>
        </p:txBody>
      </p:sp>
      <p:sp>
        <p:nvSpPr>
          <p:cNvPr id="7" name="TextBox 6"/>
          <p:cNvSpPr txBox="1"/>
          <p:nvPr/>
        </p:nvSpPr>
        <p:spPr>
          <a:xfrm>
            <a:off x="6731000" y="1663700"/>
            <a:ext cx="4699000" cy="381000"/>
          </a:xfrm>
          <a:prstGeom prst="rect">
            <a:avLst/>
          </a:prstGeom>
          <a:noFill/>
        </p:spPr>
        <p:txBody>
          <a:bodyPr wrap="square" lIns="0" rIns="0" tIns="0" bIns="0" anchor="ctr">
            <a:spAutoFit/>
          </a:bodyPr>
          <a:lstStyle/>
          <a:p>
            <a:pPr algn="l">
              <a:lnSpc>
                <a:spcPct val="115000"/>
              </a:lnSpc>
              <a:spcAft>
                <a:spcPts val="0"/>
              </a:spcAft>
            </a:pPr>
            <a:r>
              <a:rPr sz="2000" b="1">
                <a:solidFill>
                  <a:srgbClr val="00175A"/>
                </a:solidFill>
                <a:latin typeface="Arial"/>
              </a:rPr>
              <a:t>Lessons for complex agent systems</a:t>
            </a:r>
          </a:p>
        </p:txBody>
      </p:sp>
      <p:sp>
        <p:nvSpPr>
          <p:cNvPr id="8" name="Rounded Rectangle 7"/>
          <p:cNvSpPr/>
          <p:nvPr/>
        </p:nvSpPr>
        <p:spPr>
          <a:xfrm>
            <a:off x="812800" y="2286000"/>
            <a:ext cx="1473200" cy="889000"/>
          </a:xfrm>
          <a:prstGeom prst="roundRect">
            <a:avLst>
              <a:gd name="adj" fmla="val 10000"/>
            </a:avLst>
          </a:prstGeom>
          <a:solidFill>
            <a:srgbClr val="E6EBF4"/>
          </a:solidFill>
          <a:ln w="1905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Closed model</a:t>
            </a:r>
          </a:p>
          <a:p>
            <a:pPr algn="ctr">
              <a:lnSpc>
                <a:spcPct val="115000"/>
              </a:lnSpc>
              <a:spcAft>
                <a:spcPts val="0"/>
              </a:spcAft>
            </a:pPr>
            <a:r>
              <a:rPr sz="1300" b="0">
                <a:solidFill>
                  <a:srgbClr val="6B7480"/>
                </a:solidFill>
                <a:latin typeface="Arial"/>
              </a:rPr>
              <a:t>writes the output</a:t>
            </a:r>
          </a:p>
        </p:txBody>
      </p:sp>
      <p:sp>
        <p:nvSpPr>
          <p:cNvPr id="9" name="Right Arrow 8"/>
          <p:cNvSpPr/>
          <p:nvPr/>
        </p:nvSpPr>
        <p:spPr>
          <a:xfrm>
            <a:off x="2324100" y="2603500"/>
            <a:ext cx="1778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40000" y="2286000"/>
            <a:ext cx="1473200" cy="889000"/>
          </a:xfrm>
          <a:prstGeom prst="roundRect">
            <a:avLst>
              <a:gd name="adj" fmla="val 10000"/>
            </a:avLst>
          </a:prstGeom>
          <a:solidFill>
            <a:srgbClr val="E6EBF4"/>
          </a:solidFill>
          <a:ln w="1905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Open model</a:t>
            </a:r>
          </a:p>
          <a:p>
            <a:pPr algn="ctr">
              <a:lnSpc>
                <a:spcPct val="115000"/>
              </a:lnSpc>
              <a:spcAft>
                <a:spcPts val="0"/>
              </a:spcAft>
            </a:pPr>
            <a:r>
              <a:rPr sz="1300" b="0">
                <a:solidFill>
                  <a:srgbClr val="6B7480"/>
                </a:solidFill>
                <a:latin typeface="Arial"/>
              </a:rPr>
              <a:t>reads it → log-probs</a:t>
            </a:r>
          </a:p>
        </p:txBody>
      </p:sp>
      <p:sp>
        <p:nvSpPr>
          <p:cNvPr id="11" name="Right Arrow 10"/>
          <p:cNvSpPr/>
          <p:nvPr/>
        </p:nvSpPr>
        <p:spPr>
          <a:xfrm>
            <a:off x="4051300" y="2603500"/>
            <a:ext cx="1778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67200" y="2286000"/>
            <a:ext cx="1473200" cy="889000"/>
          </a:xfrm>
          <a:prstGeom prst="roundRect">
            <a:avLst>
              <a:gd name="adj" fmla="val 10000"/>
            </a:avLst>
          </a:prstGeom>
          <a:solidFill>
            <a:srgbClr val="DDEDFB"/>
          </a:solidFill>
          <a:ln w="190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CLIMB</a:t>
            </a:r>
          </a:p>
          <a:p>
            <a:pPr algn="ctr">
              <a:lnSpc>
                <a:spcPct val="115000"/>
              </a:lnSpc>
              <a:spcAft>
                <a:spcPts val="0"/>
              </a:spcAft>
            </a:pPr>
            <a:r>
              <a:rPr sz="1300" b="0">
                <a:solidFill>
                  <a:srgbClr val="6B7480"/>
                </a:solidFill>
                <a:latin typeface="Arial"/>
              </a:rPr>
              <a:t>uses them as S₀</a:t>
            </a:r>
          </a:p>
        </p:txBody>
      </p:sp>
      <p:sp>
        <p:nvSpPr>
          <p:cNvPr id="13" name="TextBox 12"/>
          <p:cNvSpPr txBox="1"/>
          <p:nvPr/>
        </p:nvSpPr>
        <p:spPr>
          <a:xfrm>
            <a:off x="812800" y="3270250"/>
            <a:ext cx="5016500" cy="254000"/>
          </a:xfrm>
          <a:prstGeom prst="rect">
            <a:avLst/>
          </a:prstGeom>
          <a:noFill/>
        </p:spPr>
        <p:txBody>
          <a:bodyPr wrap="square" lIns="0" rIns="0" tIns="0" bIns="0" anchor="t">
            <a:spAutoFit/>
          </a:bodyPr>
          <a:lstStyle/>
          <a:p>
            <a:pPr algn="l">
              <a:lnSpc>
                <a:spcPct val="115000"/>
              </a:lnSpc>
              <a:spcAft>
                <a:spcPts val="0"/>
              </a:spcAft>
            </a:pPr>
            <a:r>
              <a:rPr sz="1400" b="1">
                <a:solidFill>
                  <a:srgbClr val="006FCF"/>
                </a:solidFill>
                <a:latin typeface="Arial"/>
              </a:rPr>
              <a:t>Same idea as the reference model in PPO.</a:t>
            </a:r>
          </a:p>
        </p:txBody>
      </p:sp>
      <p:sp>
        <p:nvSpPr>
          <p:cNvPr id="14" name="TextBox 13"/>
          <p:cNvSpPr txBox="1"/>
          <p:nvPr/>
        </p:nvSpPr>
        <p:spPr>
          <a:xfrm>
            <a:off x="812800" y="3778250"/>
            <a:ext cx="5016500" cy="2095500"/>
          </a:xfrm>
          <a:prstGeom prst="rect">
            <a:avLst/>
          </a:prstGeom>
          <a:noFill/>
        </p:spPr>
        <p:txBody>
          <a:bodyPr wrap="square" lIns="0" rIns="0" tIns="0" bIns="0" anchor="t">
            <a:spAutoFit/>
          </a:bodyPr>
          <a:lstStyle/>
          <a:p>
            <a:pPr algn="l">
              <a:lnSpc>
                <a:spcPct val="115000"/>
              </a:lnSpc>
              <a:spcAft>
                <a:spcPts val="1000"/>
              </a:spcAft>
            </a:pPr>
            <a:r>
              <a:rPr sz="1600" b="0">
                <a:solidFill>
                  <a:srgbClr val="333B47"/>
                </a:solidFill>
                <a:latin typeface="Arial"/>
              </a:rPr>
              <a:t>• Feed the closed model’s output to an open model to get its </a:t>
            </a:r>
            <a:r>
              <a:rPr sz="1600" b="1">
                <a:solidFill>
                  <a:srgbClr val="333B47"/>
                </a:solidFill>
                <a:latin typeface="Arial"/>
              </a:rPr>
              <a:t>log-probs</a:t>
            </a:r>
          </a:p>
          <a:p>
            <a:pPr algn="l">
              <a:lnSpc>
                <a:spcPct val="115000"/>
              </a:lnSpc>
              <a:spcAft>
                <a:spcPts val="1000"/>
              </a:spcAft>
            </a:pPr>
            <a:r>
              <a:rPr sz="1600" b="0">
                <a:solidFill>
                  <a:srgbClr val="333B47"/>
                </a:solidFill>
                <a:latin typeface="Arial"/>
              </a:rPr>
              <a:t>• </a:t>
            </a:r>
            <a:r>
              <a:rPr sz="1600" b="1">
                <a:solidFill>
                  <a:srgbClr val="333B47"/>
                </a:solidFill>
                <a:latin typeface="Arial"/>
              </a:rPr>
              <a:t>38–65% fewer tokens</a:t>
            </a:r>
            <a:r>
              <a:rPr sz="1600" b="0">
                <a:solidFill>
                  <a:srgbClr val="333B47"/>
                </a:solidFill>
                <a:latin typeface="Arial"/>
              </a:rPr>
              <a:t> at 5–10 points in our tests</a:t>
            </a:r>
          </a:p>
          <a:p>
            <a:pPr algn="l">
              <a:lnSpc>
                <a:spcPct val="115000"/>
              </a:lnSpc>
              <a:spcAft>
                <a:spcPts val="1000"/>
              </a:spcAft>
            </a:pPr>
            <a:r>
              <a:rPr sz="1600" b="0">
                <a:solidFill>
                  <a:srgbClr val="333B47"/>
                </a:solidFill>
                <a:latin typeface="Arial"/>
              </a:rPr>
              <a:t>• Agreement of two cheap calls needs </a:t>
            </a:r>
            <a:r>
              <a:rPr sz="1600" b="1">
                <a:solidFill>
                  <a:srgbClr val="333B47"/>
                </a:solidFill>
                <a:latin typeface="Arial"/>
              </a:rPr>
              <a:t>no log-probs</a:t>
            </a:r>
          </a:p>
          <a:p>
            <a:pPr algn="l">
              <a:lnSpc>
                <a:spcPct val="115000"/>
              </a:lnSpc>
              <a:spcAft>
                <a:spcPts val="1000"/>
              </a:spcAft>
            </a:pPr>
            <a:r>
              <a:rPr sz="1600" b="0">
                <a:solidFill>
                  <a:srgbClr val="333B47"/>
                </a:solidFill>
                <a:latin typeface="Arial"/>
              </a:rPr>
              <a:t>• A weaker score saves less, the </a:t>
            </a:r>
            <a:r>
              <a:rPr sz="1600" b="1">
                <a:solidFill>
                  <a:srgbClr val="333B47"/>
                </a:solidFill>
                <a:latin typeface="Arial"/>
              </a:rPr>
              <a:t>promise still holds</a:t>
            </a:r>
          </a:p>
          <a:p>
            <a:pPr algn="l">
              <a:lnSpc>
                <a:spcPct val="115000"/>
              </a:lnSpc>
              <a:spcAft>
                <a:spcPts val="0"/>
              </a:spcAft>
            </a:pPr>
            <a:r>
              <a:rPr sz="1300" b="0">
                <a:solidFill>
                  <a:srgbClr val="6B7480"/>
                </a:solidFill>
                <a:latin typeface="Arial"/>
              </a:rPr>
              <a:t>Getting a closed model’s log-probs from an open model is a proposal, not yet tested.</a:t>
            </a:r>
          </a:p>
        </p:txBody>
      </p:sp>
      <p:sp>
        <p:nvSpPr>
          <p:cNvPr id="15" name="Rounded Rectangle 14"/>
          <p:cNvSpPr/>
          <p:nvPr/>
        </p:nvSpPr>
        <p:spPr>
          <a:xfrm>
            <a:off x="6223000" y="2286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More agents is not always better</a:t>
            </a:r>
          </a:p>
          <a:p>
            <a:pPr algn="l">
              <a:lnSpc>
                <a:spcPct val="115000"/>
              </a:lnSpc>
              <a:spcAft>
                <a:spcPts val="0"/>
              </a:spcAft>
            </a:pPr>
            <a:r>
              <a:rPr sz="1400" b="0">
                <a:solidFill>
                  <a:srgbClr val="6B7480"/>
                </a:solidFill>
                <a:latin typeface="Arial"/>
              </a:rPr>
              <a:t>Reviewers pass 23–58% of wrong drafts.</a:t>
            </a:r>
          </a:p>
        </p:txBody>
      </p:sp>
      <p:sp>
        <p:nvSpPr>
          <p:cNvPr id="16" name="Rounded Rectangle 15"/>
          <p:cNvSpPr/>
          <p:nvPr/>
        </p:nvSpPr>
        <p:spPr>
          <a:xfrm>
            <a:off x="6223000" y="3175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Route each task, not the whole system</a:t>
            </a:r>
          </a:p>
          <a:p>
            <a:pPr algn="l">
              <a:lnSpc>
                <a:spcPct val="115000"/>
              </a:lnSpc>
              <a:spcAft>
                <a:spcPts val="0"/>
              </a:spcAft>
            </a:pPr>
            <a:r>
              <a:rPr sz="1400" b="0">
                <a:solidFill>
                  <a:srgbClr val="6B7480"/>
                </a:solidFill>
                <a:latin typeface="Arial"/>
              </a:rPr>
              <a:t>Escalate only the doubtful tasks.</a:t>
            </a:r>
          </a:p>
        </p:txBody>
      </p:sp>
      <p:sp>
        <p:nvSpPr>
          <p:cNvPr id="17" name="Rounded Rectangle 16"/>
          <p:cNvSpPr/>
          <p:nvPr/>
        </p:nvSpPr>
        <p:spPr>
          <a:xfrm>
            <a:off x="6223000" y="4064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Cheap signals are strong</a:t>
            </a:r>
          </a:p>
          <a:p>
            <a:pPr algn="l">
              <a:lnSpc>
                <a:spcPct val="115000"/>
              </a:lnSpc>
              <a:spcAft>
                <a:spcPts val="0"/>
              </a:spcAft>
            </a:pPr>
            <a:r>
              <a:rPr sz="1400" b="0">
                <a:solidFill>
                  <a:srgbClr val="6B7480"/>
                </a:solidFill>
                <a:latin typeface="Arial"/>
              </a:rPr>
              <a:t>Two cheap answers agree → usually right.</a:t>
            </a:r>
          </a:p>
        </p:txBody>
      </p:sp>
      <p:sp>
        <p:nvSpPr>
          <p:cNvPr id="18" name="Rounded Rectangle 17"/>
          <p:cNvSpPr/>
          <p:nvPr/>
        </p:nvSpPr>
        <p:spPr>
          <a:xfrm>
            <a:off x="6223000" y="4953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Put a guarantee on any routing rule</a:t>
            </a:r>
          </a:p>
          <a:p>
            <a:pPr algn="l">
              <a:lnSpc>
                <a:spcPct val="115000"/>
              </a:lnSpc>
              <a:spcAft>
                <a:spcPts val="0"/>
              </a:spcAft>
            </a:pPr>
            <a:r>
              <a:rPr sz="1400" b="0">
                <a:solidFill>
                  <a:srgbClr val="6B7480"/>
                </a:solidFill>
                <a:latin typeface="Arial"/>
              </a:rPr>
              <a:t>Cascades, tool calls, human review.</a:t>
            </a:r>
          </a:p>
        </p:txBody>
      </p:sp>
      <p:sp>
        <p:nvSpPr>
          <p:cNvPr id="19" name="TextBox 18"/>
          <p:cNvSpPr txBox="1"/>
          <p:nvPr/>
        </p:nvSpPr>
        <p:spPr>
          <a:xfrm>
            <a:off x="6223000" y="5969000"/>
            <a:ext cx="5156200" cy="317500"/>
          </a:xfrm>
          <a:prstGeom prst="rect">
            <a:avLst/>
          </a:prstGeom>
          <a:noFill/>
        </p:spPr>
        <p:txBody>
          <a:bodyPr wrap="square" lIns="0" rIns="0" tIns="0" bIns="0" anchor="t">
            <a:spAutoFit/>
          </a:bodyPr>
          <a:lstStyle/>
          <a:p>
            <a:pPr algn="r">
              <a:lnSpc>
                <a:spcPct val="115000"/>
              </a:lnSpc>
              <a:spcAft>
                <a:spcPts val="0"/>
              </a:spcAft>
            </a:pPr>
            <a:r>
              <a:rPr sz="2200" b="1">
                <a:solidFill>
                  <a:srgbClr val="006FCF"/>
                </a:solidFill>
                <a:latin typeface="Georgia"/>
              </a:rPr>
              <a:t>Thank you. Questions?</a:t>
            </a:r>
          </a:p>
        </p:txBody>
      </p:sp>
      <p:sp>
        <p:nvSpPr>
          <p:cNvPr id="20" name="TextBox 1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2667000"/>
            <a:ext cx="10566400" cy="762000"/>
          </a:xfrm>
          <a:prstGeom prst="rect">
            <a:avLst/>
          </a:prstGeom>
          <a:noFill/>
        </p:spPr>
        <p:txBody>
          <a:bodyPr wrap="square" lIns="0" rIns="0" tIns="0" bIns="0" anchor="t">
            <a:spAutoFit/>
          </a:bodyPr>
          <a:lstStyle/>
          <a:p>
            <a:pPr algn="l">
              <a:lnSpc>
                <a:spcPct val="115000"/>
              </a:lnSpc>
              <a:spcAft>
                <a:spcPts val="0"/>
              </a:spcAft>
            </a:pPr>
            <a:r>
              <a:rPr sz="5600" b="1">
                <a:solidFill>
                  <a:srgbClr val="00175A"/>
                </a:solidFill>
                <a:latin typeface="Georgia"/>
              </a:rPr>
              <a:t>Backup</a:t>
            </a:r>
          </a:p>
        </p:txBody>
      </p:sp>
      <p:sp>
        <p:nvSpPr>
          <p:cNvPr id="3" name="TextBox 2"/>
          <p:cNvSpPr txBox="1"/>
          <p:nvPr/>
        </p:nvSpPr>
        <p:spPr>
          <a:xfrm>
            <a:off x="812800" y="3683000"/>
            <a:ext cx="10566400" cy="381000"/>
          </a:xfrm>
          <a:prstGeom prst="rect">
            <a:avLst/>
          </a:prstGeom>
          <a:noFill/>
        </p:spPr>
        <p:txBody>
          <a:bodyPr wrap="square" lIns="0" rIns="0" tIns="0" bIns="0" anchor="t">
            <a:spAutoFit/>
          </a:bodyPr>
          <a:lstStyle/>
          <a:p>
            <a:pPr algn="l">
              <a:lnSpc>
                <a:spcPct val="115000"/>
              </a:lnSpc>
              <a:spcAft>
                <a:spcPts val="0"/>
              </a:spcAft>
            </a:pPr>
            <a:r>
              <a:rPr sz="2400" b="0">
                <a:solidFill>
                  <a:srgbClr val="6B7480"/>
                </a:solidFill>
                <a:latin typeface="Arial"/>
              </a:rPr>
              <a:t>Details for questions</a:t>
            </a:r>
          </a:p>
        </p:txBody>
      </p:sp>
      <p:sp>
        <p:nvSpPr>
          <p:cNvPr id="4" name="TextBox 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EXECUTIVE SUMMARY</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Call the team only when you must, with a guarantee</a:t>
            </a:r>
          </a:p>
        </p:txBody>
      </p:sp>
      <p:sp>
        <p:nvSpPr>
          <p:cNvPr id="4" name="Rounded Rectangle 3"/>
          <p:cNvSpPr/>
          <p:nvPr/>
        </p:nvSpPr>
        <p:spPr>
          <a:xfrm>
            <a:off x="812800" y="16827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Problem</a:t>
            </a:r>
          </a:p>
        </p:txBody>
      </p:sp>
      <p:sp>
        <p:nvSpPr>
          <p:cNvPr id="5" name="Rounded Rectangle 4"/>
          <p:cNvSpPr/>
          <p:nvPr/>
        </p:nvSpPr>
        <p:spPr>
          <a:xfrm>
            <a:off x="2844800" y="16827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Agent teams are more accurate, but use up to </a:t>
            </a:r>
            <a:r>
              <a:rPr sz="2100" b="1">
                <a:solidFill>
                  <a:srgbClr val="00175A"/>
                </a:solidFill>
                <a:latin typeface="Arial"/>
              </a:rPr>
              <a:t>6.3×</a:t>
            </a:r>
            <a:r>
              <a:rPr sz="2100" b="0">
                <a:solidFill>
                  <a:srgbClr val="00175A"/>
                </a:solidFill>
                <a:latin typeface="Arial"/>
              </a:rPr>
              <a:t> the tokens of a single agent and break right answers on up to </a:t>
            </a:r>
            <a:r>
              <a:rPr sz="2100" b="1">
                <a:solidFill>
                  <a:srgbClr val="00175A"/>
                </a:solidFill>
                <a:latin typeface="Arial"/>
              </a:rPr>
              <a:t>9%</a:t>
            </a:r>
            <a:r>
              <a:rPr sz="2100" b="0">
                <a:solidFill>
                  <a:srgbClr val="00175A"/>
                </a:solidFill>
                <a:latin typeface="Arial"/>
              </a:rPr>
              <a:t> of tasks.</a:t>
            </a:r>
          </a:p>
        </p:txBody>
      </p:sp>
      <p:sp>
        <p:nvSpPr>
          <p:cNvPr id="6" name="Rounded Rectangle 5"/>
          <p:cNvSpPr/>
          <p:nvPr/>
        </p:nvSpPr>
        <p:spPr>
          <a:xfrm>
            <a:off x="812800" y="25844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Idea</a:t>
            </a:r>
          </a:p>
        </p:txBody>
      </p:sp>
      <p:sp>
        <p:nvSpPr>
          <p:cNvPr id="7" name="Rounded Rectangle 6"/>
          <p:cNvSpPr/>
          <p:nvPr/>
        </p:nvSpPr>
        <p:spPr>
          <a:xfrm>
            <a:off x="2844800" y="25844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Try cheap answers first. Call the team only when a cheap answer looks unreliable (</a:t>
            </a:r>
            <a:r>
              <a:rPr sz="2100" b="1">
                <a:solidFill>
                  <a:srgbClr val="00175A"/>
                </a:solidFill>
                <a:latin typeface="Arial"/>
              </a:rPr>
              <a:t>confidence</a:t>
            </a:r>
            <a:r>
              <a:rPr sz="2100" b="0">
                <a:solidFill>
                  <a:srgbClr val="00175A"/>
                </a:solidFill>
                <a:latin typeface="Arial"/>
              </a:rPr>
              <a:t>, </a:t>
            </a:r>
            <a:r>
              <a:rPr sz="2100" b="1">
                <a:solidFill>
                  <a:srgbClr val="00175A"/>
                </a:solidFill>
                <a:latin typeface="Arial"/>
              </a:rPr>
              <a:t>agreement</a:t>
            </a:r>
            <a:r>
              <a:rPr sz="2100" b="0">
                <a:solidFill>
                  <a:srgbClr val="00175A"/>
                </a:solidFill>
                <a:latin typeface="Arial"/>
              </a:rPr>
              <a:t>).</a:t>
            </a:r>
          </a:p>
        </p:txBody>
      </p:sp>
      <p:sp>
        <p:nvSpPr>
          <p:cNvPr id="8" name="Rounded Rectangle 7"/>
          <p:cNvSpPr/>
          <p:nvPr/>
        </p:nvSpPr>
        <p:spPr>
          <a:xfrm>
            <a:off x="812800" y="3486150"/>
            <a:ext cx="1905000" cy="762000"/>
          </a:xfrm>
          <a:prstGeom prst="roundRect">
            <a:avLst>
              <a:gd name="adj" fmla="val 10000"/>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Guarantee</a:t>
            </a:r>
          </a:p>
        </p:txBody>
      </p:sp>
      <p:sp>
        <p:nvSpPr>
          <p:cNvPr id="9" name="Rounded Rectangle 8"/>
          <p:cNvSpPr/>
          <p:nvPr/>
        </p:nvSpPr>
        <p:spPr>
          <a:xfrm>
            <a:off x="2844800" y="3486150"/>
            <a:ext cx="8534400" cy="7620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You set the accuracy you can lose. The </a:t>
            </a:r>
            <a:r>
              <a:rPr sz="2100" b="1">
                <a:solidFill>
                  <a:srgbClr val="00175A"/>
                </a:solidFill>
                <a:latin typeface="Arial"/>
              </a:rPr>
              <a:t>data sets the threshold</a:t>
            </a:r>
            <a:r>
              <a:rPr sz="2100" b="0">
                <a:solidFill>
                  <a:srgbClr val="00175A"/>
                </a:solidFill>
                <a:latin typeface="Arial"/>
              </a:rPr>
              <a:t>: a </a:t>
            </a:r>
            <a:r>
              <a:rPr sz="2100" b="1">
                <a:solidFill>
                  <a:srgbClr val="00175A"/>
                </a:solidFill>
                <a:latin typeface="Arial"/>
              </a:rPr>
              <a:t>betting test</a:t>
            </a:r>
            <a:r>
              <a:rPr sz="2100" b="0">
                <a:solidFill>
                  <a:srgbClr val="00175A"/>
                </a:solidFill>
                <a:latin typeface="Arial"/>
              </a:rPr>
              <a:t> certifies the cheapest one that keeps it, </a:t>
            </a:r>
            <a:r>
              <a:rPr sz="2100" b="1">
                <a:solidFill>
                  <a:srgbClr val="00175A"/>
                </a:solidFill>
                <a:latin typeface="Arial"/>
              </a:rPr>
              <a:t>90%</a:t>
            </a:r>
            <a:r>
              <a:rPr sz="2100" b="0">
                <a:solidFill>
                  <a:srgbClr val="00175A"/>
                </a:solidFill>
                <a:latin typeface="Arial"/>
              </a:rPr>
              <a:t> of the time.</a:t>
            </a:r>
          </a:p>
        </p:txBody>
      </p:sp>
      <p:sp>
        <p:nvSpPr>
          <p:cNvPr id="10" name="Rounded Rectangle 9"/>
          <p:cNvSpPr/>
          <p:nvPr/>
        </p:nvSpPr>
        <p:spPr>
          <a:xfrm>
            <a:off x="812800" y="43878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Result</a:t>
            </a:r>
          </a:p>
        </p:txBody>
      </p:sp>
      <p:sp>
        <p:nvSpPr>
          <p:cNvPr id="11" name="Rounded Rectangle 10"/>
          <p:cNvSpPr/>
          <p:nvPr/>
        </p:nvSpPr>
        <p:spPr>
          <a:xfrm>
            <a:off x="2844800" y="43878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1">
                <a:solidFill>
                  <a:srgbClr val="00175A"/>
                </a:solidFill>
                <a:latin typeface="Arial"/>
              </a:rPr>
              <a:t>38–65% fewer tokens</a:t>
            </a:r>
            <a:r>
              <a:rPr sz="2100" b="0">
                <a:solidFill>
                  <a:srgbClr val="00175A"/>
                </a:solidFill>
                <a:latin typeface="Arial"/>
              </a:rPr>
              <a:t> on 3 models × 4 benchmarks. The promise broke in </a:t>
            </a:r>
            <a:r>
              <a:rPr sz="2100" b="1">
                <a:solidFill>
                  <a:srgbClr val="00175A"/>
                </a:solidFill>
                <a:latin typeface="Arial"/>
              </a:rPr>
              <a:t>≤ 2%</a:t>
            </a:r>
            <a:r>
              <a:rPr sz="2100" b="0">
                <a:solidFill>
                  <a:srgbClr val="00175A"/>
                </a:solidFill>
                <a:latin typeface="Arial"/>
              </a:rPr>
              <a:t> of splits (10% allowed).</a:t>
            </a:r>
          </a:p>
        </p:txBody>
      </p:sp>
      <p:sp>
        <p:nvSpPr>
          <p:cNvPr id="12" name="Rounded Rectangle 11"/>
          <p:cNvSpPr/>
          <p:nvPr/>
        </p:nvSpPr>
        <p:spPr>
          <a:xfrm>
            <a:off x="812800" y="52895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For Amex</a:t>
            </a:r>
          </a:p>
        </p:txBody>
      </p:sp>
      <p:sp>
        <p:nvSpPr>
          <p:cNvPr id="13" name="Rounded Rectangle 12"/>
          <p:cNvSpPr/>
          <p:nvPr/>
        </p:nvSpPr>
        <p:spPr>
          <a:xfrm>
            <a:off x="2844800" y="52895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Sits in front of any multi-agent workflow. Lessons for designing complex agent systems.</a:t>
            </a:r>
          </a:p>
        </p:txBody>
      </p:sp>
      <p:sp>
        <p:nvSpPr>
          <p:cNvPr id="14" name="TextBox 1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Two shortcuts, and both break the promise</a:t>
            </a:r>
          </a:p>
        </p:txBody>
      </p:sp>
      <p:sp>
        <p:nvSpPr>
          <p:cNvPr id="4" name="TextBox 3"/>
          <p:cNvSpPr txBox="1"/>
          <p:nvPr/>
        </p:nvSpPr>
        <p:spPr>
          <a:xfrm>
            <a:off x="8128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One threshold for all settings</a:t>
            </a:r>
          </a:p>
        </p:txBody>
      </p:sp>
      <p:pic>
        <p:nvPicPr>
          <p:cNvPr id="5" name="Picture 4" descr="c_fixed.png"/>
          <p:cNvPicPr>
            <a:picLocks noChangeAspect="1"/>
          </p:cNvPicPr>
          <p:nvPr/>
        </p:nvPicPr>
        <p:blipFill>
          <a:blip r:embed="rId3"/>
          <a:stretch>
            <a:fillRect/>
          </a:stretch>
        </p:blipFill>
        <p:spPr>
          <a:xfrm>
            <a:off x="812800" y="1944723"/>
            <a:ext cx="5080000" cy="2651053"/>
          </a:xfrm>
          <a:prstGeom prst="rect">
            <a:avLst/>
          </a:prstGeom>
        </p:spPr>
      </p:pic>
      <p:sp>
        <p:nvSpPr>
          <p:cNvPr id="6" name="TextBox 5"/>
          <p:cNvSpPr txBox="1"/>
          <p:nvPr/>
        </p:nvSpPr>
        <p:spPr>
          <a:xfrm>
            <a:off x="812800" y="47307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Above ε on </a:t>
            </a:r>
            <a:r>
              <a:rPr sz="1800" b="1">
                <a:solidFill>
                  <a:srgbClr val="B03A2E"/>
                </a:solidFill>
                <a:latin typeface="Arial"/>
              </a:rPr>
              <a:t>4 of 12 settings, up to 16 points.</a:t>
            </a:r>
          </a:p>
        </p:txBody>
      </p:sp>
      <p:sp>
        <p:nvSpPr>
          <p:cNvPr id="7" name="TextBox 6"/>
          <p:cNvSpPr txBox="1"/>
          <p:nvPr/>
        </p:nvSpPr>
        <p:spPr>
          <a:xfrm>
            <a:off x="62992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Tuned on each setting’s data, no test</a:t>
            </a:r>
          </a:p>
        </p:txBody>
      </p:sp>
      <p:pic>
        <p:nvPicPr>
          <p:cNvPr id="8" name="Picture 7" descr="c_tuned.png"/>
          <p:cNvPicPr>
            <a:picLocks noChangeAspect="1"/>
          </p:cNvPicPr>
          <p:nvPr/>
        </p:nvPicPr>
        <p:blipFill>
          <a:blip r:embed="rId4"/>
          <a:stretch>
            <a:fillRect/>
          </a:stretch>
        </p:blipFill>
        <p:spPr>
          <a:xfrm>
            <a:off x="6522949" y="1905000"/>
            <a:ext cx="4632501" cy="2730500"/>
          </a:xfrm>
          <a:prstGeom prst="rect">
            <a:avLst/>
          </a:prstGeom>
        </p:spPr>
      </p:pic>
      <p:sp>
        <p:nvSpPr>
          <p:cNvPr id="9" name="TextBox 8"/>
          <p:cNvSpPr txBox="1"/>
          <p:nvPr/>
        </p:nvSpPr>
        <p:spPr>
          <a:xfrm>
            <a:off x="6299200" y="47307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Breaks the promise on </a:t>
            </a:r>
            <a:r>
              <a:rPr sz="1800" b="1">
                <a:solidFill>
                  <a:srgbClr val="B03A2E"/>
                </a:solidFill>
                <a:latin typeface="Arial"/>
              </a:rPr>
              <a:t>31% of splits</a:t>
            </a:r>
            <a:r>
              <a:rPr sz="1800" b="0">
                <a:solidFill>
                  <a:srgbClr val="333B47"/>
                </a:solidFill>
                <a:latin typeface="Arial"/>
              </a:rPr>
              <a:t> at ε = 5.</a:t>
            </a:r>
          </a:p>
        </p:txBody>
      </p:sp>
      <p:sp>
        <p:nvSpPr>
          <p:cNvPr id="10" name="Rounded Rectangle 9"/>
          <p:cNvSpPr/>
          <p:nvPr/>
        </p:nvSpPr>
        <p:spPr>
          <a:xfrm>
            <a:off x="812800" y="5270500"/>
            <a:ext cx="10566400" cy="825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400"/>
              </a:spcAft>
            </a:pPr>
            <a:r>
              <a:rPr sz="2400" b="1">
                <a:solidFill>
                  <a:srgbClr val="F6F8FB"/>
                </a:solidFill>
                <a:latin typeface="Georgia"/>
              </a:rPr>
              <a:t>The right threshold depends on the model and task.</a:t>
            </a:r>
          </a:p>
          <a:p>
            <a:pPr algn="ctr">
              <a:lnSpc>
                <a:spcPct val="115000"/>
              </a:lnSpc>
              <a:spcAft>
                <a:spcPts val="0"/>
              </a:spcAft>
            </a:pPr>
            <a:r>
              <a:rPr sz="2000" b="1">
                <a:solidFill>
                  <a:srgbClr val="66B2F0"/>
                </a:solidFill>
                <a:latin typeface="Arial"/>
              </a:rPr>
              <a:t>We need it set from each setting’s data, with a guarantee.</a:t>
            </a:r>
          </a:p>
        </p:txBody>
      </p:sp>
      <p:sp>
        <p:nvSpPr>
          <p:cNvPr id="11" name="TextBox 10"/>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a betting test?</a:t>
            </a:r>
          </a:p>
        </p:txBody>
      </p:sp>
      <p:sp>
        <p:nvSpPr>
          <p:cNvPr id="4" name="TextBox 3"/>
          <p:cNvSpPr txBox="1"/>
          <p:nvPr/>
        </p:nvSpPr>
        <p:spPr>
          <a:xfrm>
            <a:off x="812800" y="1473200"/>
            <a:ext cx="105664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We need: accept an unsafe threshold at most 5% of the time, from a few hundred tasks.</a:t>
            </a:r>
          </a:p>
        </p:txBody>
      </p:sp>
      <p:sp>
        <p:nvSpPr>
          <p:cNvPr id="5" name="Rounded Rectangle 4"/>
          <p:cNvSpPr/>
          <p:nvPr/>
        </p:nvSpPr>
        <p:spPr>
          <a:xfrm>
            <a:off x="812800" y="190500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Saves count</a:t>
            </a:r>
          </a:p>
          <a:p>
            <a:pPr algn="l">
              <a:lnSpc>
                <a:spcPct val="115000"/>
              </a:lnSpc>
              <a:spcAft>
                <a:spcPts val="0"/>
              </a:spcAft>
            </a:pPr>
            <a:r>
              <a:rPr sz="1500" b="0">
                <a:solidFill>
                  <a:srgbClr val="333B47"/>
                </a:solidFill>
                <a:latin typeface="Arial"/>
              </a:rPr>
              <a:t>A cheap answer can also save one the team breaks (up to 9%). The bet credits it.</a:t>
            </a:r>
          </a:p>
        </p:txBody>
      </p:sp>
      <p:sp>
        <p:nvSpPr>
          <p:cNvPr id="6" name="Rounded Rectangle 5"/>
          <p:cNvSpPr/>
          <p:nvPr/>
        </p:nvSpPr>
        <p:spPr>
          <a:xfrm>
            <a:off x="812800" y="295275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Uses low variance</a:t>
            </a:r>
          </a:p>
          <a:p>
            <a:pPr algn="l">
              <a:lnSpc>
                <a:spcPct val="115000"/>
              </a:lnSpc>
              <a:spcAft>
                <a:spcPts val="0"/>
              </a:spcAft>
            </a:pPr>
            <a:r>
              <a:rPr sz="1500" b="0">
                <a:solidFill>
                  <a:srgbClr val="333B47"/>
                </a:solidFill>
                <a:latin typeface="Arial"/>
              </a:rPr>
              <a:t>Most tasks lose 0. The bet size adapts to what it has seen.</a:t>
            </a:r>
          </a:p>
        </p:txBody>
      </p:sp>
      <p:sp>
        <p:nvSpPr>
          <p:cNvPr id="7" name="Rounded Rectangle 6"/>
          <p:cNvSpPr/>
          <p:nvPr/>
        </p:nvSpPr>
        <p:spPr>
          <a:xfrm>
            <a:off x="812800" y="400050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Many thresholds, full 5%</a:t>
            </a:r>
          </a:p>
          <a:p>
            <a:pPr algn="l">
              <a:lnSpc>
                <a:spcPct val="115000"/>
              </a:lnSpc>
              <a:spcAft>
                <a:spcPts val="0"/>
              </a:spcAft>
            </a:pPr>
            <a:r>
              <a:rPr sz="1500" b="0">
                <a:solidFill>
                  <a:srgbClr val="333B47"/>
                </a:solidFill>
                <a:latin typeface="Arial"/>
              </a:rPr>
              <a:t>Tested strict → loose, each test keeps the whole 5%.</a:t>
            </a:r>
          </a:p>
        </p:txBody>
      </p:sp>
      <p:sp>
        <p:nvSpPr>
          <p:cNvPr id="8" name="Rounded Rectangle 7"/>
          <p:cNvSpPr/>
          <p:nvPr/>
        </p:nvSpPr>
        <p:spPr>
          <a:xfrm>
            <a:off x="812800" y="504825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Any data</a:t>
            </a:r>
          </a:p>
          <a:p>
            <a:pPr algn="l">
              <a:lnSpc>
                <a:spcPct val="115000"/>
              </a:lnSpc>
              <a:spcAft>
                <a:spcPts val="0"/>
              </a:spcAft>
            </a:pPr>
            <a:r>
              <a:rPr sz="1500" b="0">
                <a:solidFill>
                  <a:srgbClr val="333B47"/>
                </a:solidFill>
                <a:latin typeface="Arial"/>
              </a:rPr>
              <a:t>No model of the score. Only: calibration looks like deployment.</a:t>
            </a:r>
          </a:p>
        </p:txBody>
      </p:sp>
      <p:sp>
        <p:nvSpPr>
          <p:cNvPr id="9" name="TextBox 8"/>
          <p:cNvSpPr txBox="1"/>
          <p:nvPr/>
        </p:nvSpPr>
        <p:spPr>
          <a:xfrm>
            <a:off x="5270500" y="1905000"/>
            <a:ext cx="61087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All valid. Which one saves the most?</a:t>
            </a:r>
          </a:p>
        </p:txBody>
      </p:sp>
      <p:pic>
        <p:nvPicPr>
          <p:cNvPr id="10" name="Picture 9" descr="c_tests.png"/>
          <p:cNvPicPr>
            <a:picLocks noChangeAspect="1"/>
          </p:cNvPicPr>
          <p:nvPr/>
        </p:nvPicPr>
        <p:blipFill>
          <a:blip r:embed="rId3"/>
          <a:stretch>
            <a:fillRect/>
          </a:stretch>
        </p:blipFill>
        <p:spPr>
          <a:xfrm>
            <a:off x="5270500" y="2464849"/>
            <a:ext cx="6108700" cy="2182300"/>
          </a:xfrm>
          <a:prstGeom prst="rect">
            <a:avLst/>
          </a:prstGeom>
        </p:spPr>
      </p:pic>
      <p:sp>
        <p:nvSpPr>
          <p:cNvPr id="11" name="Rounded Rectangle 10"/>
          <p:cNvSpPr/>
          <p:nvPr/>
        </p:nvSpPr>
        <p:spPr>
          <a:xfrm>
            <a:off x="5270500" y="5080000"/>
            <a:ext cx="6108700" cy="984250"/>
          </a:xfrm>
          <a:prstGeom prst="roundRect">
            <a:avLst>
              <a:gd name="adj" fmla="val 10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62% vs 79–100%</a:t>
            </a:r>
          </a:p>
          <a:p>
            <a:pPr algn="l">
              <a:lnSpc>
                <a:spcPct val="115000"/>
              </a:lnSpc>
              <a:spcAft>
                <a:spcPts val="0"/>
              </a:spcAft>
            </a:pPr>
            <a:r>
              <a:rPr sz="1700" b="0">
                <a:solidFill>
                  <a:srgbClr val="333B47"/>
                </a:solidFill>
                <a:latin typeface="Arial"/>
              </a:rPr>
              <a:t>of the team’s tokens at ε = 5</a:t>
            </a:r>
          </a:p>
        </p:txBody>
      </p:sp>
      <p:sp>
        <p:nvSpPr>
          <p:cNvPr id="12" name="TextBox 1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In CLIMB: testing one threshold, task by task</a:t>
            </a:r>
          </a:p>
        </p:txBody>
      </p:sp>
      <p:sp>
        <p:nvSpPr>
          <p:cNvPr id="4" name="Rectangle 3"/>
          <p:cNvSpPr/>
          <p:nvPr/>
        </p:nvSpPr>
        <p:spPr>
          <a:xfrm>
            <a:off x="812800" y="1587500"/>
            <a:ext cx="5969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Task</a:t>
            </a:r>
          </a:p>
        </p:txBody>
      </p:sp>
      <p:sp>
        <p:nvSpPr>
          <p:cNvPr id="5" name="Rectangle 4"/>
          <p:cNvSpPr/>
          <p:nvPr/>
        </p:nvSpPr>
        <p:spPr>
          <a:xfrm>
            <a:off x="812800" y="1993900"/>
            <a:ext cx="596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1</a:t>
            </a:r>
          </a:p>
        </p:txBody>
      </p:sp>
      <p:sp>
        <p:nvSpPr>
          <p:cNvPr id="6" name="Rectangle 5"/>
          <p:cNvSpPr/>
          <p:nvPr/>
        </p:nvSpPr>
        <p:spPr>
          <a:xfrm>
            <a:off x="812800" y="2501900"/>
            <a:ext cx="596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2</a:t>
            </a:r>
          </a:p>
        </p:txBody>
      </p:sp>
      <p:sp>
        <p:nvSpPr>
          <p:cNvPr id="7" name="Rectangle 6"/>
          <p:cNvSpPr/>
          <p:nvPr/>
        </p:nvSpPr>
        <p:spPr>
          <a:xfrm>
            <a:off x="812800" y="3009900"/>
            <a:ext cx="5969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3</a:t>
            </a:r>
          </a:p>
        </p:txBody>
      </p:sp>
      <p:sp>
        <p:nvSpPr>
          <p:cNvPr id="8" name="Rectangle 7"/>
          <p:cNvSpPr/>
          <p:nvPr/>
        </p:nvSpPr>
        <p:spPr>
          <a:xfrm>
            <a:off x="812800" y="3517900"/>
            <a:ext cx="5969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4</a:t>
            </a:r>
          </a:p>
        </p:txBody>
      </p:sp>
      <p:sp>
        <p:nvSpPr>
          <p:cNvPr id="9" name="Rectangle 8"/>
          <p:cNvSpPr/>
          <p:nvPr/>
        </p:nvSpPr>
        <p:spPr>
          <a:xfrm>
            <a:off x="812800" y="4025900"/>
            <a:ext cx="596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5</a:t>
            </a:r>
          </a:p>
        </p:txBody>
      </p:sp>
      <p:sp>
        <p:nvSpPr>
          <p:cNvPr id="10" name="Rectangle 9"/>
          <p:cNvSpPr/>
          <p:nvPr/>
        </p:nvSpPr>
        <p:spPr>
          <a:xfrm>
            <a:off x="812800" y="4533900"/>
            <a:ext cx="596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11" name="Rectangle 10"/>
          <p:cNvSpPr/>
          <p:nvPr/>
        </p:nvSpPr>
        <p:spPr>
          <a:xfrm>
            <a:off x="1447800" y="1587500"/>
            <a:ext cx="1168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Score &gt; t?</a:t>
            </a:r>
          </a:p>
        </p:txBody>
      </p:sp>
      <p:sp>
        <p:nvSpPr>
          <p:cNvPr id="12" name="Rectangle 11"/>
          <p:cNvSpPr/>
          <p:nvPr/>
        </p:nvSpPr>
        <p:spPr>
          <a:xfrm>
            <a:off x="1447800" y="1993900"/>
            <a:ext cx="1168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3" name="Rectangle 12"/>
          <p:cNvSpPr/>
          <p:nvPr/>
        </p:nvSpPr>
        <p:spPr>
          <a:xfrm>
            <a:off x="1447800" y="2501900"/>
            <a:ext cx="1168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no → team</a:t>
            </a:r>
          </a:p>
        </p:txBody>
      </p:sp>
      <p:sp>
        <p:nvSpPr>
          <p:cNvPr id="14" name="Rectangle 13"/>
          <p:cNvSpPr/>
          <p:nvPr/>
        </p:nvSpPr>
        <p:spPr>
          <a:xfrm>
            <a:off x="1447800" y="3009900"/>
            <a:ext cx="1168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5" name="Rectangle 14"/>
          <p:cNvSpPr/>
          <p:nvPr/>
        </p:nvSpPr>
        <p:spPr>
          <a:xfrm>
            <a:off x="1447800" y="3517900"/>
            <a:ext cx="1168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6" name="Rectangle 15"/>
          <p:cNvSpPr/>
          <p:nvPr/>
        </p:nvSpPr>
        <p:spPr>
          <a:xfrm>
            <a:off x="1447800" y="4025900"/>
            <a:ext cx="1168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7" name="Rectangle 16"/>
          <p:cNvSpPr/>
          <p:nvPr/>
        </p:nvSpPr>
        <p:spPr>
          <a:xfrm>
            <a:off x="1447800" y="4533900"/>
            <a:ext cx="1168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18" name="Rectangle 17"/>
          <p:cNvSpPr/>
          <p:nvPr/>
        </p:nvSpPr>
        <p:spPr>
          <a:xfrm>
            <a:off x="2654300" y="1587500"/>
            <a:ext cx="11049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Our answer</a:t>
            </a:r>
          </a:p>
        </p:txBody>
      </p:sp>
      <p:sp>
        <p:nvSpPr>
          <p:cNvPr id="19" name="Rectangle 18"/>
          <p:cNvSpPr/>
          <p:nvPr/>
        </p:nvSpPr>
        <p:spPr>
          <a:xfrm>
            <a:off x="2654300" y="1993900"/>
            <a:ext cx="1104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0" name="Rectangle 19"/>
          <p:cNvSpPr/>
          <p:nvPr/>
        </p:nvSpPr>
        <p:spPr>
          <a:xfrm>
            <a:off x="2654300" y="2501900"/>
            <a:ext cx="1104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team’s</a:t>
            </a:r>
          </a:p>
        </p:txBody>
      </p:sp>
      <p:sp>
        <p:nvSpPr>
          <p:cNvPr id="21" name="Rectangle 20"/>
          <p:cNvSpPr/>
          <p:nvPr/>
        </p:nvSpPr>
        <p:spPr>
          <a:xfrm>
            <a:off x="2654300" y="3009900"/>
            <a:ext cx="11049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B03A2E"/>
                </a:solidFill>
                <a:latin typeface="Arial"/>
              </a:rPr>
              <a:t>✗</a:t>
            </a:r>
          </a:p>
        </p:txBody>
      </p:sp>
      <p:sp>
        <p:nvSpPr>
          <p:cNvPr id="22" name="Rectangle 21"/>
          <p:cNvSpPr/>
          <p:nvPr/>
        </p:nvSpPr>
        <p:spPr>
          <a:xfrm>
            <a:off x="2654300" y="3517900"/>
            <a:ext cx="11049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3" name="Rectangle 22"/>
          <p:cNvSpPr/>
          <p:nvPr/>
        </p:nvSpPr>
        <p:spPr>
          <a:xfrm>
            <a:off x="2654300" y="4025900"/>
            <a:ext cx="1104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4" name="Rectangle 23"/>
          <p:cNvSpPr/>
          <p:nvPr/>
        </p:nvSpPr>
        <p:spPr>
          <a:xfrm>
            <a:off x="2654300" y="4533900"/>
            <a:ext cx="1104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25" name="Rectangle 24"/>
          <p:cNvSpPr/>
          <p:nvPr/>
        </p:nvSpPr>
        <p:spPr>
          <a:xfrm>
            <a:off x="3797300" y="1587500"/>
            <a:ext cx="7239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Team</a:t>
            </a:r>
          </a:p>
        </p:txBody>
      </p:sp>
      <p:sp>
        <p:nvSpPr>
          <p:cNvPr id="26" name="Rectangle 25"/>
          <p:cNvSpPr/>
          <p:nvPr/>
        </p:nvSpPr>
        <p:spPr>
          <a:xfrm>
            <a:off x="3797300" y="1993900"/>
            <a:ext cx="723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7" name="Rectangle 26"/>
          <p:cNvSpPr/>
          <p:nvPr/>
        </p:nvSpPr>
        <p:spPr>
          <a:xfrm>
            <a:off x="3797300" y="2501900"/>
            <a:ext cx="723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8" name="Rectangle 27"/>
          <p:cNvSpPr/>
          <p:nvPr/>
        </p:nvSpPr>
        <p:spPr>
          <a:xfrm>
            <a:off x="3797300" y="3009900"/>
            <a:ext cx="7239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9" name="Rectangle 28"/>
          <p:cNvSpPr/>
          <p:nvPr/>
        </p:nvSpPr>
        <p:spPr>
          <a:xfrm>
            <a:off x="3797300" y="3517900"/>
            <a:ext cx="7239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B03A2E"/>
                </a:solidFill>
                <a:latin typeface="Arial"/>
              </a:rPr>
              <a:t>✗</a:t>
            </a:r>
          </a:p>
        </p:txBody>
      </p:sp>
      <p:sp>
        <p:nvSpPr>
          <p:cNvPr id="30" name="Rectangle 29"/>
          <p:cNvSpPr/>
          <p:nvPr/>
        </p:nvSpPr>
        <p:spPr>
          <a:xfrm>
            <a:off x="3797300" y="4025900"/>
            <a:ext cx="723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31" name="Rectangle 30"/>
          <p:cNvSpPr/>
          <p:nvPr/>
        </p:nvSpPr>
        <p:spPr>
          <a:xfrm>
            <a:off x="3797300" y="4533900"/>
            <a:ext cx="723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32" name="Rectangle 31"/>
          <p:cNvSpPr/>
          <p:nvPr/>
        </p:nvSpPr>
        <p:spPr>
          <a:xfrm>
            <a:off x="4559300" y="1587500"/>
            <a:ext cx="1041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Loss ℓ</a:t>
            </a:r>
          </a:p>
        </p:txBody>
      </p:sp>
      <p:sp>
        <p:nvSpPr>
          <p:cNvPr id="33" name="Rectangle 32"/>
          <p:cNvSpPr/>
          <p:nvPr/>
        </p:nvSpPr>
        <p:spPr>
          <a:xfrm>
            <a:off x="4559300" y="1993900"/>
            <a:ext cx="1041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a:t>
            </a:r>
          </a:p>
        </p:txBody>
      </p:sp>
      <p:sp>
        <p:nvSpPr>
          <p:cNvPr id="34" name="Rectangle 33"/>
          <p:cNvSpPr/>
          <p:nvPr/>
        </p:nvSpPr>
        <p:spPr>
          <a:xfrm>
            <a:off x="4559300" y="2501900"/>
            <a:ext cx="1041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a:t>
            </a:r>
          </a:p>
        </p:txBody>
      </p:sp>
      <p:sp>
        <p:nvSpPr>
          <p:cNvPr id="35" name="Rectangle 34"/>
          <p:cNvSpPr/>
          <p:nvPr/>
        </p:nvSpPr>
        <p:spPr>
          <a:xfrm>
            <a:off x="4559300" y="3009900"/>
            <a:ext cx="1041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B03A2E"/>
                </a:solidFill>
                <a:latin typeface="Arial"/>
              </a:rPr>
              <a:t>+1 lost</a:t>
            </a:r>
          </a:p>
        </p:txBody>
      </p:sp>
      <p:sp>
        <p:nvSpPr>
          <p:cNvPr id="36" name="Rectangle 35"/>
          <p:cNvSpPr/>
          <p:nvPr/>
        </p:nvSpPr>
        <p:spPr>
          <a:xfrm>
            <a:off x="4559300" y="3517900"/>
            <a:ext cx="1041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2F6B34"/>
                </a:solidFill>
                <a:latin typeface="Arial"/>
              </a:rPr>
              <a:t>−1 saved</a:t>
            </a:r>
          </a:p>
        </p:txBody>
      </p:sp>
      <p:sp>
        <p:nvSpPr>
          <p:cNvPr id="37" name="Rectangle 36"/>
          <p:cNvSpPr/>
          <p:nvPr/>
        </p:nvSpPr>
        <p:spPr>
          <a:xfrm>
            <a:off x="4559300" y="4025900"/>
            <a:ext cx="1041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a:t>
            </a:r>
          </a:p>
        </p:txBody>
      </p:sp>
      <p:sp>
        <p:nvSpPr>
          <p:cNvPr id="38" name="Rectangle 37"/>
          <p:cNvSpPr/>
          <p:nvPr/>
        </p:nvSpPr>
        <p:spPr>
          <a:xfrm>
            <a:off x="4559300" y="4533900"/>
            <a:ext cx="1041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39" name="Rectangle 38"/>
          <p:cNvSpPr/>
          <p:nvPr/>
        </p:nvSpPr>
        <p:spPr>
          <a:xfrm>
            <a:off x="5638800" y="1587500"/>
            <a:ext cx="914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 money</a:t>
            </a:r>
          </a:p>
        </p:txBody>
      </p:sp>
      <p:sp>
        <p:nvSpPr>
          <p:cNvPr id="40" name="Rectangle 39"/>
          <p:cNvSpPr/>
          <p:nvPr/>
        </p:nvSpPr>
        <p:spPr>
          <a:xfrm>
            <a:off x="5638800" y="1993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 1.03</a:t>
            </a:r>
          </a:p>
        </p:txBody>
      </p:sp>
      <p:sp>
        <p:nvSpPr>
          <p:cNvPr id="41" name="Rectangle 40"/>
          <p:cNvSpPr/>
          <p:nvPr/>
        </p:nvSpPr>
        <p:spPr>
          <a:xfrm>
            <a:off x="5638800" y="2501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 1.03</a:t>
            </a:r>
          </a:p>
        </p:txBody>
      </p:sp>
      <p:sp>
        <p:nvSpPr>
          <p:cNvPr id="42" name="Rectangle 41"/>
          <p:cNvSpPr/>
          <p:nvPr/>
        </p:nvSpPr>
        <p:spPr>
          <a:xfrm>
            <a:off x="5638800" y="3009900"/>
            <a:ext cx="914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B03A2E"/>
                </a:solidFill>
                <a:latin typeface="Arial"/>
              </a:rPr>
              <a:t>× 0.53</a:t>
            </a:r>
          </a:p>
        </p:txBody>
      </p:sp>
      <p:sp>
        <p:nvSpPr>
          <p:cNvPr id="43" name="Rectangle 42"/>
          <p:cNvSpPr/>
          <p:nvPr/>
        </p:nvSpPr>
        <p:spPr>
          <a:xfrm>
            <a:off x="5638800" y="3517900"/>
            <a:ext cx="914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2F6B34"/>
                </a:solidFill>
                <a:latin typeface="Arial"/>
              </a:rPr>
              <a:t>× 1.53</a:t>
            </a:r>
          </a:p>
        </p:txBody>
      </p:sp>
      <p:sp>
        <p:nvSpPr>
          <p:cNvPr id="44" name="Rectangle 43"/>
          <p:cNvSpPr/>
          <p:nvPr/>
        </p:nvSpPr>
        <p:spPr>
          <a:xfrm>
            <a:off x="5638800" y="4025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 1.03</a:t>
            </a:r>
          </a:p>
        </p:txBody>
      </p:sp>
      <p:sp>
        <p:nvSpPr>
          <p:cNvPr id="45" name="Rectangle 44"/>
          <p:cNvSpPr/>
          <p:nvPr/>
        </p:nvSpPr>
        <p:spPr>
          <a:xfrm>
            <a:off x="5638800" y="4533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46" name="Rectangle 45"/>
          <p:cNvSpPr/>
          <p:nvPr/>
        </p:nvSpPr>
        <p:spPr>
          <a:xfrm>
            <a:off x="6591300" y="1587500"/>
            <a:ext cx="914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Money</a:t>
            </a:r>
          </a:p>
        </p:txBody>
      </p:sp>
      <p:sp>
        <p:nvSpPr>
          <p:cNvPr id="47" name="Rectangle 46"/>
          <p:cNvSpPr/>
          <p:nvPr/>
        </p:nvSpPr>
        <p:spPr>
          <a:xfrm>
            <a:off x="6591300" y="1993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$1.03</a:t>
            </a:r>
          </a:p>
        </p:txBody>
      </p:sp>
      <p:sp>
        <p:nvSpPr>
          <p:cNvPr id="48" name="Rectangle 47"/>
          <p:cNvSpPr/>
          <p:nvPr/>
        </p:nvSpPr>
        <p:spPr>
          <a:xfrm>
            <a:off x="6591300" y="2501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$1.05</a:t>
            </a:r>
          </a:p>
        </p:txBody>
      </p:sp>
      <p:sp>
        <p:nvSpPr>
          <p:cNvPr id="49" name="Rectangle 48"/>
          <p:cNvSpPr/>
          <p:nvPr/>
        </p:nvSpPr>
        <p:spPr>
          <a:xfrm>
            <a:off x="6591300" y="3009900"/>
            <a:ext cx="914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$0.55</a:t>
            </a:r>
          </a:p>
        </p:txBody>
      </p:sp>
      <p:sp>
        <p:nvSpPr>
          <p:cNvPr id="50" name="Rectangle 49"/>
          <p:cNvSpPr/>
          <p:nvPr/>
        </p:nvSpPr>
        <p:spPr>
          <a:xfrm>
            <a:off x="6591300" y="3517900"/>
            <a:ext cx="914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$0.84</a:t>
            </a:r>
          </a:p>
        </p:txBody>
      </p:sp>
      <p:sp>
        <p:nvSpPr>
          <p:cNvPr id="51" name="Rectangle 50"/>
          <p:cNvSpPr/>
          <p:nvPr/>
        </p:nvSpPr>
        <p:spPr>
          <a:xfrm>
            <a:off x="6591300" y="4025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$0.86</a:t>
            </a:r>
          </a:p>
        </p:txBody>
      </p:sp>
      <p:sp>
        <p:nvSpPr>
          <p:cNvPr id="52" name="Rectangle 51"/>
          <p:cNvSpPr/>
          <p:nvPr/>
        </p:nvSpPr>
        <p:spPr>
          <a:xfrm>
            <a:off x="6591300" y="4533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 $20?</a:t>
            </a:r>
          </a:p>
        </p:txBody>
      </p:sp>
      <p:sp>
        <p:nvSpPr>
          <p:cNvPr id="53" name="TextBox 52"/>
          <p:cNvSpPr txBox="1"/>
          <p:nvPr/>
        </p:nvSpPr>
        <p:spPr>
          <a:xfrm>
            <a:off x="812800" y="5080000"/>
            <a:ext cx="6819900" cy="3810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ε = 5 points, bet size λ = 0.5.  Escalated tasks use the team’s answer: loss 0.</a:t>
            </a:r>
          </a:p>
        </p:txBody>
      </p:sp>
      <p:sp>
        <p:nvSpPr>
          <p:cNvPr id="54" name="Rounded Rectangle 53"/>
          <p:cNvSpPr/>
          <p:nvPr/>
        </p:nvSpPr>
        <p:spPr>
          <a:xfrm>
            <a:off x="7874000" y="1587500"/>
            <a:ext cx="3505200" cy="3873500"/>
          </a:xfrm>
          <a:prstGeom prst="roundRect">
            <a:avLst>
              <a:gd name="adj" fmla="val 326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9700" rIns="139700" tIns="139700" bIns="139700"/>
          <a:lstStyle/>
          <a:p>
            <a:pPr algn="l">
              <a:lnSpc>
                <a:spcPct val="115000"/>
              </a:lnSpc>
              <a:spcAft>
                <a:spcPts val="1000"/>
              </a:spcAft>
            </a:pPr>
            <a:r>
              <a:rPr sz="1800" b="1">
                <a:solidFill>
                  <a:srgbClr val="66B2F0"/>
                </a:solidFill>
                <a:latin typeface="Arial"/>
              </a:rPr>
              <a:t>Each threshold, strict → loose</a:t>
            </a:r>
          </a:p>
          <a:p>
            <a:pPr algn="l">
              <a:lnSpc>
                <a:spcPct val="115000"/>
              </a:lnSpc>
              <a:spcAft>
                <a:spcPts val="800"/>
              </a:spcAft>
            </a:pPr>
            <a:r>
              <a:rPr sz="1500" b="1">
                <a:solidFill>
                  <a:srgbClr val="F6F8FB"/>
                </a:solidFill>
                <a:latin typeface="Arial"/>
              </a:rPr>
              <a:t>1</a:t>
            </a:r>
            <a:r>
              <a:rPr sz="1500" b="0">
                <a:solidFill>
                  <a:srgbClr val="F6F8FB"/>
                </a:solidFill>
                <a:latin typeface="Arial"/>
              </a:rPr>
              <a:t>  Tasks in random order, $1.</a:t>
            </a:r>
          </a:p>
          <a:p>
            <a:pPr algn="l">
              <a:lnSpc>
                <a:spcPct val="115000"/>
              </a:lnSpc>
              <a:spcAft>
                <a:spcPts val="800"/>
              </a:spcAft>
            </a:pPr>
            <a:r>
              <a:rPr sz="1500" b="1">
                <a:solidFill>
                  <a:srgbClr val="F6F8FB"/>
                </a:solidFill>
                <a:latin typeface="Arial"/>
              </a:rPr>
              <a:t>2</a:t>
            </a:r>
            <a:r>
              <a:rPr sz="1500" b="0">
                <a:solidFill>
                  <a:srgbClr val="F6F8FB"/>
                </a:solidFill>
                <a:latin typeface="Arial"/>
              </a:rPr>
              <a:t>  ℓ = team right − ours right.</a:t>
            </a:r>
          </a:p>
          <a:p>
            <a:pPr algn="l">
              <a:lnSpc>
                <a:spcPct val="115000"/>
              </a:lnSpc>
              <a:spcAft>
                <a:spcPts val="800"/>
              </a:spcAft>
            </a:pPr>
            <a:r>
              <a:rPr sz="1500" b="1">
                <a:solidFill>
                  <a:srgbClr val="F6F8FB"/>
                </a:solidFill>
                <a:latin typeface="Arial"/>
              </a:rPr>
              <a:t>3</a:t>
            </a:r>
            <a:r>
              <a:rPr sz="1500" b="0">
                <a:solidFill>
                  <a:srgbClr val="F6F8FB"/>
                </a:solidFill>
                <a:latin typeface="Arial"/>
              </a:rPr>
              <a:t>  λ from </a:t>
            </a:r>
            <a:r>
              <a:rPr sz="1500" b="1">
                <a:solidFill>
                  <a:srgbClr val="F6F8FB"/>
                </a:solidFill>
                <a:latin typeface="Arial"/>
              </a:rPr>
              <a:t>earlier tasks only</a:t>
            </a:r>
            <a:r>
              <a:rPr sz="1500" b="0">
                <a:solidFill>
                  <a:srgbClr val="F6F8FB"/>
                </a:solidFill>
                <a:latin typeface="Arial"/>
              </a:rPr>
              <a:t>. A loss at most halves the money.</a:t>
            </a:r>
          </a:p>
          <a:p>
            <a:pPr algn="l">
              <a:lnSpc>
                <a:spcPct val="115000"/>
              </a:lnSpc>
              <a:spcAft>
                <a:spcPts val="800"/>
              </a:spcAft>
            </a:pPr>
            <a:r>
              <a:rPr sz="1500" b="1">
                <a:solidFill>
                  <a:srgbClr val="F6F8FB"/>
                </a:solidFill>
                <a:latin typeface="Arial"/>
              </a:rPr>
              <a:t>4</a:t>
            </a:r>
            <a:r>
              <a:rPr sz="1500" b="0">
                <a:solidFill>
                  <a:srgbClr val="F6F8FB"/>
                </a:solidFill>
                <a:latin typeface="Arial"/>
              </a:rPr>
              <a:t>  Money × (1 + λ (ε − ℓ)).</a:t>
            </a:r>
          </a:p>
          <a:p>
            <a:pPr algn="l">
              <a:lnSpc>
                <a:spcPct val="115000"/>
              </a:lnSpc>
              <a:spcAft>
                <a:spcPts val="0"/>
              </a:spcAft>
            </a:pPr>
            <a:r>
              <a:rPr sz="1500" b="1">
                <a:solidFill>
                  <a:srgbClr val="F6F8FB"/>
                </a:solidFill>
                <a:latin typeface="Arial"/>
              </a:rPr>
              <a:t>5</a:t>
            </a:r>
            <a:r>
              <a:rPr sz="1500" b="0">
                <a:solidFill>
                  <a:srgbClr val="F6F8FB"/>
                </a:solidFill>
                <a:latin typeface="Arial"/>
              </a:rPr>
              <a:t>  Ever ≥ $20: certified, next threshold. Never: stop.</a:t>
            </a:r>
          </a:p>
        </p:txBody>
      </p:sp>
      <p:sp>
        <p:nvSpPr>
          <p:cNvPr id="55" name="Rounded Rectangle 54"/>
          <p:cNvSpPr/>
          <p:nvPr/>
        </p:nvSpPr>
        <p:spPr>
          <a:xfrm>
            <a:off x="812800" y="5651500"/>
            <a:ext cx="10566400" cy="5080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1800" b="1">
                <a:solidFill>
                  <a:srgbClr val="00175A"/>
                </a:solidFill>
                <a:latin typeface="Arial"/>
              </a:rPr>
              <a:t>Options A and B are each tested this way at 5%, so both hold together with probability ≥ 90%.</a:t>
            </a:r>
          </a:p>
        </p:txBody>
      </p:sp>
      <p:sp>
        <p:nvSpPr>
          <p:cNvPr id="56" name="TextBox 5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a threshold? It is the best rule</a:t>
            </a:r>
          </a:p>
        </p:txBody>
      </p:sp>
      <p:sp>
        <p:nvSpPr>
          <p:cNvPr id="4" name="Oval 3"/>
          <p:cNvSpPr/>
          <p:nvPr/>
        </p:nvSpPr>
        <p:spPr>
          <a:xfrm>
            <a:off x="812800" y="1587500"/>
            <a:ext cx="355600" cy="3556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1</a:t>
            </a:r>
          </a:p>
        </p:txBody>
      </p:sp>
      <p:sp>
        <p:nvSpPr>
          <p:cNvPr id="5" name="TextBox 4"/>
          <p:cNvSpPr txBox="1"/>
          <p:nvPr/>
        </p:nvSpPr>
        <p:spPr>
          <a:xfrm>
            <a:off x="1295400" y="1574800"/>
            <a:ext cx="4826000" cy="698500"/>
          </a:xfrm>
          <a:prstGeom prst="rect">
            <a:avLst/>
          </a:prstGeom>
          <a:noFill/>
        </p:spPr>
        <p:txBody>
          <a:bodyPr wrap="square" lIns="0" rIns="0" tIns="0" bIns="0" anchor="t">
            <a:spAutoFit/>
          </a:bodyPr>
          <a:lstStyle/>
          <a:p>
            <a:pPr algn="l">
              <a:lnSpc>
                <a:spcPct val="115000"/>
              </a:lnSpc>
              <a:spcAft>
                <a:spcPts val="0"/>
              </a:spcAft>
            </a:pPr>
            <a:r>
              <a:rPr sz="1700" b="0">
                <a:solidFill>
                  <a:srgbClr val="333B47"/>
                </a:solidFill>
                <a:latin typeface="Arial"/>
              </a:rPr>
              <a:t>Stopping a task early saves its team tokens, but risks the accuracy the team would add: its </a:t>
            </a:r>
            <a:r>
              <a:rPr sz="1700" b="1">
                <a:solidFill>
                  <a:srgbClr val="333B47"/>
                </a:solidFill>
                <a:latin typeface="Arial"/>
              </a:rPr>
              <a:t>gain</a:t>
            </a:r>
            <a:r>
              <a:rPr sz="1700" b="0">
                <a:solidFill>
                  <a:srgbClr val="333B47"/>
                </a:solidFill>
                <a:latin typeface="Arial"/>
              </a:rPr>
              <a:t>.</a:t>
            </a:r>
          </a:p>
        </p:txBody>
      </p:sp>
      <p:sp>
        <p:nvSpPr>
          <p:cNvPr id="6" name="Oval 5"/>
          <p:cNvSpPr/>
          <p:nvPr/>
        </p:nvSpPr>
        <p:spPr>
          <a:xfrm>
            <a:off x="812800" y="2317750"/>
            <a:ext cx="355600" cy="3556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2</a:t>
            </a:r>
          </a:p>
        </p:txBody>
      </p:sp>
      <p:sp>
        <p:nvSpPr>
          <p:cNvPr id="7" name="TextBox 6"/>
          <p:cNvSpPr txBox="1"/>
          <p:nvPr/>
        </p:nvSpPr>
        <p:spPr>
          <a:xfrm>
            <a:off x="1295400" y="2305050"/>
            <a:ext cx="4826000" cy="698500"/>
          </a:xfrm>
          <a:prstGeom prst="rect">
            <a:avLst/>
          </a:prstGeom>
          <a:noFill/>
        </p:spPr>
        <p:txBody>
          <a:bodyPr wrap="square" lIns="0" rIns="0" tIns="0" bIns="0" anchor="t">
            <a:spAutoFit/>
          </a:bodyPr>
          <a:lstStyle/>
          <a:p>
            <a:pPr algn="l">
              <a:lnSpc>
                <a:spcPct val="115000"/>
              </a:lnSpc>
              <a:spcAft>
                <a:spcPts val="0"/>
              </a:spcAft>
            </a:pPr>
            <a:r>
              <a:rPr sz="1700" b="0">
                <a:solidFill>
                  <a:srgbClr val="333B47"/>
                </a:solidFill>
                <a:latin typeface="Arial"/>
              </a:rPr>
              <a:t>With a risk budget ε, stop first the tasks with the </a:t>
            </a:r>
            <a:r>
              <a:rPr sz="1700" b="1">
                <a:solidFill>
                  <a:srgbClr val="333B47"/>
                </a:solidFill>
                <a:latin typeface="Arial"/>
              </a:rPr>
              <a:t>least gain per token</a:t>
            </a:r>
            <a:r>
              <a:rPr sz="1700" b="0">
                <a:solidFill>
                  <a:srgbClr val="333B47"/>
                </a:solidFill>
                <a:latin typeface="Arial"/>
              </a:rPr>
              <a:t>, like packing a knapsack.</a:t>
            </a:r>
          </a:p>
        </p:txBody>
      </p:sp>
      <p:sp>
        <p:nvSpPr>
          <p:cNvPr id="8" name="Oval 7"/>
          <p:cNvSpPr/>
          <p:nvPr/>
        </p:nvSpPr>
        <p:spPr>
          <a:xfrm>
            <a:off x="812800" y="3048000"/>
            <a:ext cx="355600" cy="3556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3</a:t>
            </a:r>
          </a:p>
        </p:txBody>
      </p:sp>
      <p:sp>
        <p:nvSpPr>
          <p:cNvPr id="9" name="TextBox 8"/>
          <p:cNvSpPr txBox="1"/>
          <p:nvPr/>
        </p:nvSpPr>
        <p:spPr>
          <a:xfrm>
            <a:off x="1295400" y="3035300"/>
            <a:ext cx="4826000" cy="698500"/>
          </a:xfrm>
          <a:prstGeom prst="rect">
            <a:avLst/>
          </a:prstGeom>
          <a:noFill/>
        </p:spPr>
        <p:txBody>
          <a:bodyPr wrap="square" lIns="0" rIns="0" tIns="0" bIns="0" anchor="t">
            <a:spAutoFit/>
          </a:bodyPr>
          <a:lstStyle/>
          <a:p>
            <a:pPr algn="l">
              <a:lnSpc>
                <a:spcPct val="115000"/>
              </a:lnSpc>
              <a:spcAft>
                <a:spcPts val="0"/>
              </a:spcAft>
            </a:pPr>
            <a:r>
              <a:rPr sz="1700" b="0">
                <a:solidFill>
                  <a:srgbClr val="333B47"/>
                </a:solidFill>
                <a:latin typeface="Arial"/>
              </a:rPr>
              <a:t>If gain falls as confidence rises, those are the </a:t>
            </a:r>
            <a:r>
              <a:rPr sz="1700" b="1">
                <a:solidFill>
                  <a:srgbClr val="333B47"/>
                </a:solidFill>
                <a:latin typeface="Arial"/>
              </a:rPr>
              <a:t>most confident</a:t>
            </a:r>
            <a:r>
              <a:rPr sz="1700" b="0">
                <a:solidFill>
                  <a:srgbClr val="333B47"/>
                </a:solidFill>
                <a:latin typeface="Arial"/>
              </a:rPr>
              <a:t> tasks.</a:t>
            </a:r>
          </a:p>
        </p:txBody>
      </p:sp>
      <p:sp>
        <p:nvSpPr>
          <p:cNvPr id="10" name="TextBox 9"/>
          <p:cNvSpPr txBox="1"/>
          <p:nvPr/>
        </p:nvSpPr>
        <p:spPr>
          <a:xfrm>
            <a:off x="812800" y="3810000"/>
            <a:ext cx="5207000" cy="2159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So the best rule:</a:t>
            </a:r>
          </a:p>
        </p:txBody>
      </p:sp>
      <p:sp>
        <p:nvSpPr>
          <p:cNvPr id="11" name="Rectangle 10"/>
          <p:cNvSpPr/>
          <p:nvPr/>
        </p:nvSpPr>
        <p:spPr>
          <a:xfrm>
            <a:off x="812800" y="4127500"/>
            <a:ext cx="2984500" cy="571500"/>
          </a:xfrm>
          <a:prstGeom prst="rect">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0"/>
              </a:spcAft>
            </a:pPr>
            <a:r>
              <a:rPr sz="1800" b="1">
                <a:solidFill>
                  <a:srgbClr val="00175A"/>
                </a:solidFill>
                <a:latin typeface="Arial"/>
              </a:rPr>
              <a:t>below t: call the team</a:t>
            </a:r>
          </a:p>
        </p:txBody>
      </p:sp>
      <p:sp>
        <p:nvSpPr>
          <p:cNvPr id="12" name="Rectangle 11"/>
          <p:cNvSpPr/>
          <p:nvPr/>
        </p:nvSpPr>
        <p:spPr>
          <a:xfrm>
            <a:off x="3797300" y="4127500"/>
            <a:ext cx="2222500" cy="571500"/>
          </a:xfrm>
          <a:prstGeom prst="rect">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0"/>
              </a:spcAft>
            </a:pPr>
            <a:r>
              <a:rPr sz="1800" b="1">
                <a:solidFill>
                  <a:srgbClr val="2F6B34"/>
                </a:solidFill>
                <a:latin typeface="Arial"/>
              </a:rPr>
              <a:t>above t: stop</a:t>
            </a:r>
          </a:p>
        </p:txBody>
      </p:sp>
      <p:sp>
        <p:nvSpPr>
          <p:cNvPr id="13" name="Rectangle 12"/>
          <p:cNvSpPr/>
          <p:nvPr/>
        </p:nvSpPr>
        <p:spPr>
          <a:xfrm>
            <a:off x="3759200" y="4000500"/>
            <a:ext cx="76200" cy="8255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56000" y="4838700"/>
            <a:ext cx="508000" cy="215900"/>
          </a:xfrm>
          <a:prstGeom prst="rect">
            <a:avLst/>
          </a:prstGeom>
          <a:noFill/>
        </p:spPr>
        <p:txBody>
          <a:bodyPr wrap="square" lIns="0" rIns="0" tIns="0" bIns="0" anchor="t">
            <a:spAutoFit/>
          </a:bodyPr>
          <a:lstStyle/>
          <a:p>
            <a:pPr algn="ctr">
              <a:lnSpc>
                <a:spcPct val="115000"/>
              </a:lnSpc>
              <a:spcAft>
                <a:spcPts val="0"/>
              </a:spcAft>
            </a:pPr>
            <a:r>
              <a:rPr sz="2000" b="1">
                <a:solidFill>
                  <a:srgbClr val="B03A2E"/>
                </a:solidFill>
                <a:latin typeface="Arial"/>
              </a:rPr>
              <a:t>t</a:t>
            </a:r>
          </a:p>
        </p:txBody>
      </p:sp>
      <p:sp>
        <p:nvSpPr>
          <p:cNvPr id="15" name="TextBox 14"/>
          <p:cNvSpPr txBox="1"/>
          <p:nvPr/>
        </p:nvSpPr>
        <p:spPr>
          <a:xfrm>
            <a:off x="812800" y="4838700"/>
            <a:ext cx="25400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low confidence</a:t>
            </a:r>
          </a:p>
        </p:txBody>
      </p:sp>
      <p:sp>
        <p:nvSpPr>
          <p:cNvPr id="16" name="TextBox 15"/>
          <p:cNvSpPr txBox="1"/>
          <p:nvPr/>
        </p:nvSpPr>
        <p:spPr>
          <a:xfrm>
            <a:off x="4749800" y="4838700"/>
            <a:ext cx="1270000" cy="215900"/>
          </a:xfrm>
          <a:prstGeom prst="rect">
            <a:avLst/>
          </a:prstGeom>
          <a:noFill/>
        </p:spPr>
        <p:txBody>
          <a:bodyPr wrap="square" lIns="0" rIns="0" tIns="0" bIns="0" anchor="t">
            <a:spAutoFit/>
          </a:bodyPr>
          <a:lstStyle/>
          <a:p>
            <a:pPr algn="r">
              <a:lnSpc>
                <a:spcPct val="115000"/>
              </a:lnSpc>
              <a:spcAft>
                <a:spcPts val="0"/>
              </a:spcAft>
            </a:pPr>
            <a:r>
              <a:rPr sz="1500" b="0">
                <a:solidFill>
                  <a:srgbClr val="6B7480"/>
                </a:solidFill>
                <a:latin typeface="Arial"/>
              </a:rPr>
              <a:t>high</a:t>
            </a:r>
          </a:p>
        </p:txBody>
      </p:sp>
      <p:sp>
        <p:nvSpPr>
          <p:cNvPr id="17" name="TextBox 16"/>
          <p:cNvSpPr txBox="1"/>
          <p:nvPr/>
        </p:nvSpPr>
        <p:spPr>
          <a:xfrm>
            <a:off x="6350000" y="1524000"/>
            <a:ext cx="50292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Does gain fall with confidence?  Mostly</a:t>
            </a:r>
          </a:p>
        </p:txBody>
      </p:sp>
      <p:pic>
        <p:nvPicPr>
          <p:cNvPr id="18" name="Picture 17" descr="c_monotone.png"/>
          <p:cNvPicPr>
            <a:picLocks noChangeAspect="1"/>
          </p:cNvPicPr>
          <p:nvPr/>
        </p:nvPicPr>
        <p:blipFill>
          <a:blip r:embed="rId3"/>
          <a:stretch>
            <a:fillRect/>
          </a:stretch>
        </p:blipFill>
        <p:spPr>
          <a:xfrm>
            <a:off x="6607907" y="1841500"/>
            <a:ext cx="4564184" cy="3048000"/>
          </a:xfrm>
          <a:prstGeom prst="rect">
            <a:avLst/>
          </a:prstGeom>
        </p:spPr>
      </p:pic>
      <p:sp>
        <p:nvSpPr>
          <p:cNvPr id="19" name="TextBox 18"/>
          <p:cNvSpPr txBox="1"/>
          <p:nvPr/>
        </p:nvSpPr>
        <p:spPr>
          <a:xfrm>
            <a:off x="6350000" y="4953000"/>
            <a:ext cx="5029200" cy="444500"/>
          </a:xfrm>
          <a:prstGeom prst="rect">
            <a:avLst/>
          </a:prstGeom>
          <a:noFill/>
        </p:spPr>
        <p:txBody>
          <a:bodyPr wrap="square" lIns="0" rIns="0" tIns="0" bIns="0" anchor="t">
            <a:spAutoFit/>
          </a:bodyPr>
          <a:lstStyle/>
          <a:p>
            <a:pPr algn="l">
              <a:lnSpc>
                <a:spcPct val="115000"/>
              </a:lnSpc>
              <a:spcAft>
                <a:spcPts val="0"/>
              </a:spcAft>
            </a:pPr>
            <a:r>
              <a:rPr sz="1400" b="0">
                <a:solidFill>
                  <a:srgbClr val="6B7480"/>
                </a:solidFill>
                <a:latin typeface="Arial"/>
              </a:rPr>
              <a:t>9 settings where confidence ranks right. Falls on 8. Gemma’s 3 backwards ones excluded.</a:t>
            </a:r>
          </a:p>
        </p:txBody>
      </p:sp>
      <p:sp>
        <p:nvSpPr>
          <p:cNvPr id="20" name="Rounded Rectangle 19"/>
          <p:cNvSpPr/>
          <p:nvPr/>
        </p:nvSpPr>
        <p:spPr>
          <a:xfrm>
            <a:off x="812800" y="5588000"/>
            <a:ext cx="10566400" cy="571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ctr">
              <a:lnSpc>
                <a:spcPct val="115000"/>
              </a:lnSpc>
              <a:spcAft>
                <a:spcPts val="0"/>
              </a:spcAft>
            </a:pPr>
            <a:r>
              <a:rPr sz="2000" b="0">
                <a:solidFill>
                  <a:srgbClr val="F6F8FB"/>
                </a:solidFill>
                <a:latin typeface="Arial"/>
              </a:rPr>
              <a:t>Theory gives the </a:t>
            </a:r>
            <a:r>
              <a:rPr sz="2000" b="1">
                <a:solidFill>
                  <a:srgbClr val="F6F8FB"/>
                </a:solidFill>
                <a:latin typeface="Arial"/>
              </a:rPr>
              <a:t>form</a:t>
            </a:r>
            <a:r>
              <a:rPr sz="2000" b="0">
                <a:solidFill>
                  <a:srgbClr val="F6F8FB"/>
                </a:solidFill>
                <a:latin typeface="Arial"/>
              </a:rPr>
              <a:t>: a threshold.   Where to put it: </a:t>
            </a:r>
            <a:r>
              <a:rPr sz="2000" b="1">
                <a:solidFill>
                  <a:srgbClr val="66B2F0"/>
                </a:solidFill>
                <a:latin typeface="Arial"/>
              </a:rPr>
              <a:t>the data must decide.</a:t>
            </a:r>
          </a:p>
        </p:txBody>
      </p:sp>
      <p:sp>
        <p:nvSpPr>
          <p:cNvPr id="21" name="TextBox 20"/>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