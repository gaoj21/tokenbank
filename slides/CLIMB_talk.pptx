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is a ladder. Try the cheapest configuration first: a direct answer. If it looks reliable, stop. Otherwise try a single agent. Only if that also looks unreliable, call the full team. All three use the same model. The question is how to decide 'looks reliable'.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know a cheap answer is reliable? The first signal is free: the model's own confidence, its average token probability. Above the dashed line, confident answers are more often right. On three Gemma settings it points the wrong way: the model is confidently wrong. So any rule built on this signal must be checked, not trusted.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signal is also nearly free. The direct answer and the single agent answer independently. When they agree, the single agent is much more often right, for example 99 against 77 percent on gpt-oss-20b MATH. So CLIMB stops on agreeing tasks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shortcut is to pick a threshold by hand or by intuition. These rules can look fine on average but lose a lot on some settings. A fixed confidence threshold with the same average cost as CLIMB loses up to 16 points. Always using the single agent loses up to 9. CLIMB at a 5 point tolerance loses at most 2.8. In deployment, nothing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CLIMB turns this into a promise. You choose how much accuracy you can give up, say 5 points. CLIMB looks at a few hundred labelled tasks and returns the cheapest rule that keeps that promise, with 90 percent probability. If no cheaper rule qualifies, it simply calls the team every time, so the worst case is no savings, not lost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real example: gpt-oss-120b on MuSiQue. Each dot is one possible threshold. On the left, almost everything goes to the team: safe but expensive. Moving right, more tasks stop early: cheaper but riskier. CLIMB tests them in this order and stops at the first one that fails. It deploys the cheapest one that passed, the star, at 57 percent of the tokens. Some grey dots are still under the line: the test is cautious, it needs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the test decide pass or fail? Think of a gambler who bets that skipping the team is harmless. Start with one dollar. For each calibration task, if skipping did no harm, the gambler wins a little. If it broke an answer, the gambler loses. If the wealth ever reaches 20 times the start, the rule passes. A safe rule makes the gambler rich fast. A rule that loses 6 points makes the gambler broke. The bet size adapts to how often skipping changes anything, which makes the test efficient.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detail matters a lot. Skipping the team is not only a risk. Sometimes the cheap answer is right and the team would have broken it. Standard tests count only the losses. CLIMB counts both sides, so these saved answers offset the lost 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choice of test matter? Every test here is valid, they differ only in how much they can certify. A worst-case bound certifies nothing cheaper than the team. Ignoring the saved answers keeps 79 percent of tokens. CLIMB's test, which counts both sides and adapts to the variance, keeps 62 percent.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F0A66B"/>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F7F6F2"/>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C9D1E0"/>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C9D1E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What is an agent team?</a:t>
            </a:r>
          </a:p>
        </p:txBody>
      </p:sp>
      <p:sp>
        <p:nvSpPr>
          <p:cNvPr id="5" name="TextBox 4"/>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2E5C99"/>
                </a:solidFill>
                <a:latin typeface="Arial"/>
              </a:rPr>
              <a:t>Single agent</a:t>
            </a:r>
          </a:p>
        </p:txBody>
      </p:sp>
      <p:sp>
        <p:nvSpPr>
          <p:cNvPr id="6" name="Rounded Rectangle 5"/>
          <p:cNvSpPr/>
          <p:nvPr/>
        </p:nvSpPr>
        <p:spPr>
          <a:xfrm>
            <a:off x="812800" y="2095500"/>
            <a:ext cx="19050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Question</a:t>
            </a:r>
          </a:p>
        </p:txBody>
      </p:sp>
      <p:sp>
        <p:nvSpPr>
          <p:cNvPr id="7" name="Right Arrow 6"/>
          <p:cNvSpPr/>
          <p:nvPr/>
        </p:nvSpPr>
        <p:spPr>
          <a:xfrm>
            <a:off x="2825750" y="2349500"/>
            <a:ext cx="571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92500" y="2095500"/>
            <a:ext cx="1905000" cy="825500"/>
          </a:xfrm>
          <a:prstGeom prst="roundRect">
            <a:avLst>
              <a:gd name="adj" fmla="val 10000"/>
            </a:avLst>
          </a:prstGeom>
          <a:solidFill>
            <a:srgbClr val="E2EAF5"/>
          </a:solidFill>
          <a:ln w="2540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Model</a:t>
            </a:r>
          </a:p>
          <a:p>
            <a:pPr algn="ctr">
              <a:lnSpc>
                <a:spcPct val="115000"/>
              </a:lnSpc>
              <a:spcAft>
                <a:spcPts val="0"/>
              </a:spcAft>
            </a:pPr>
            <a:r>
              <a:rPr sz="1600" b="0">
                <a:solidFill>
                  <a:srgbClr val="2E5C99"/>
                </a:solidFill>
                <a:latin typeface="Arial"/>
              </a:rPr>
              <a:t>thinks once</a:t>
            </a:r>
          </a:p>
        </p:txBody>
      </p:sp>
      <p:sp>
        <p:nvSpPr>
          <p:cNvPr id="9" name="Right Arrow 8"/>
          <p:cNvSpPr/>
          <p:nvPr/>
        </p:nvSpPr>
        <p:spPr>
          <a:xfrm>
            <a:off x="5505450" y="2349500"/>
            <a:ext cx="571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72200" y="2095500"/>
            <a:ext cx="19050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Answer</a:t>
            </a:r>
          </a:p>
        </p:txBody>
      </p:sp>
      <p:sp>
        <p:nvSpPr>
          <p:cNvPr id="11" name="TextBox 10"/>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B4541A"/>
                </a:solidFill>
                <a:latin typeface="Arial"/>
              </a:rPr>
              <a:t>Agent team: plan, execute, review</a:t>
            </a:r>
          </a:p>
        </p:txBody>
      </p:sp>
      <p:sp>
        <p:nvSpPr>
          <p:cNvPr id="12" name="Rounded Rectangle 11"/>
          <p:cNvSpPr/>
          <p:nvPr/>
        </p:nvSpPr>
        <p:spPr>
          <a:xfrm>
            <a:off x="812800" y="4064000"/>
            <a:ext cx="1778000" cy="1079500"/>
          </a:xfrm>
          <a:prstGeom prst="roundRect">
            <a:avLst>
              <a:gd name="adj" fmla="val 10000"/>
            </a:avLst>
          </a:prstGeom>
          <a:solidFill>
            <a:srgbClr val="FDFCF9"/>
          </a:solidFill>
          <a:ln w="254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Question</a:t>
            </a:r>
          </a:p>
        </p:txBody>
      </p:sp>
      <p:sp>
        <p:nvSpPr>
          <p:cNvPr id="13" name="Right Arrow 12"/>
          <p:cNvSpPr/>
          <p:nvPr/>
        </p:nvSpPr>
        <p:spPr>
          <a:xfrm>
            <a:off x="262890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0355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Planner</a:t>
            </a:r>
          </a:p>
          <a:p>
            <a:pPr algn="ctr">
              <a:lnSpc>
                <a:spcPct val="115000"/>
              </a:lnSpc>
              <a:spcAft>
                <a:spcPts val="0"/>
              </a:spcAft>
            </a:pPr>
            <a:r>
              <a:rPr sz="1500" b="0">
                <a:solidFill>
                  <a:srgbClr val="B4541A"/>
                </a:solidFill>
                <a:latin typeface="Arial"/>
              </a:rPr>
              <a:t>writes a plan</a:t>
            </a:r>
          </a:p>
        </p:txBody>
      </p:sp>
      <p:sp>
        <p:nvSpPr>
          <p:cNvPr id="15" name="Right Arrow 14"/>
          <p:cNvSpPr/>
          <p:nvPr/>
        </p:nvSpPr>
        <p:spPr>
          <a:xfrm>
            <a:off x="481965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9430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Executor</a:t>
            </a:r>
          </a:p>
          <a:p>
            <a:pPr algn="ctr">
              <a:lnSpc>
                <a:spcPct val="115000"/>
              </a:lnSpc>
              <a:spcAft>
                <a:spcPts val="0"/>
              </a:spcAft>
            </a:pPr>
            <a:r>
              <a:rPr sz="1500" b="0">
                <a:solidFill>
                  <a:srgbClr val="B4541A"/>
                </a:solidFill>
                <a:latin typeface="Arial"/>
              </a:rPr>
              <a:t>follows the plan</a:t>
            </a:r>
          </a:p>
        </p:txBody>
      </p:sp>
      <p:sp>
        <p:nvSpPr>
          <p:cNvPr id="17" name="Right Arrow 16"/>
          <p:cNvSpPr/>
          <p:nvPr/>
        </p:nvSpPr>
        <p:spPr>
          <a:xfrm>
            <a:off x="701040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8505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Reviewer</a:t>
            </a:r>
          </a:p>
          <a:p>
            <a:pPr algn="ctr">
              <a:lnSpc>
                <a:spcPct val="115000"/>
              </a:lnSpc>
              <a:spcAft>
                <a:spcPts val="0"/>
              </a:spcAft>
            </a:pPr>
            <a:r>
              <a:rPr sz="1500" b="0">
                <a:solidFill>
                  <a:srgbClr val="B4541A"/>
                </a:solidFill>
                <a:latin typeface="Arial"/>
              </a:rPr>
              <a:t>accept or reject</a:t>
            </a:r>
          </a:p>
        </p:txBody>
      </p:sp>
      <p:sp>
        <p:nvSpPr>
          <p:cNvPr id="19" name="Right Arrow 18"/>
          <p:cNvSpPr/>
          <p:nvPr/>
        </p:nvSpPr>
        <p:spPr>
          <a:xfrm>
            <a:off x="920115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75800" y="4064000"/>
            <a:ext cx="1778000" cy="1079500"/>
          </a:xfrm>
          <a:prstGeom prst="roundRect">
            <a:avLst>
              <a:gd name="adj" fmla="val 10000"/>
            </a:avLst>
          </a:prstGeom>
          <a:solidFill>
            <a:srgbClr val="FDFCF9"/>
          </a:solidFill>
          <a:ln w="254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Answer</a:t>
            </a:r>
          </a:p>
        </p:txBody>
      </p:sp>
      <p:sp>
        <p:nvSpPr>
          <p:cNvPr id="21" name="Left Arrow 20"/>
          <p:cNvSpPr/>
          <p:nvPr/>
        </p:nvSpPr>
        <p:spPr>
          <a:xfrm>
            <a:off x="5194300" y="5334000"/>
            <a:ext cx="2540000" cy="317500"/>
          </a:xfrm>
          <a:prstGeom prst="leftArrow">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B4541A"/>
                </a:solidFill>
                <a:latin typeface="Arial"/>
              </a:rPr>
              <a:t>rejected? revise, up to 5 rounds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Teams are more accurate</a:t>
            </a:r>
          </a:p>
        </p:txBody>
      </p:sp>
      <p:pic>
        <p:nvPicPr>
          <p:cNvPr id="5" name="Picture 4" descr="c_accuracy.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4541A"/>
                </a:solidFill>
                <a:latin typeface="Georgia"/>
              </a:rPr>
              <a:t>+2 to +21</a:t>
            </a:r>
          </a:p>
          <a:p>
            <a:pPr algn="l">
              <a:lnSpc>
                <a:spcPct val="115000"/>
              </a:lnSpc>
              <a:spcAft>
                <a:spcPts val="0"/>
              </a:spcAft>
            </a:pPr>
            <a:r>
              <a:rPr sz="1700" b="0">
                <a:solidFill>
                  <a:srgbClr val="3A4150"/>
                </a:solidFill>
                <a:latin typeface="Arial"/>
              </a:rPr>
              <a:t>points over a direct answer</a:t>
            </a:r>
          </a:p>
        </p:txBody>
      </p:sp>
      <p:sp>
        <p:nvSpPr>
          <p:cNvPr id="7" name="Rounded Rectangle 6"/>
          <p:cNvSpPr/>
          <p:nvPr/>
        </p:nvSpPr>
        <p:spPr>
          <a:xfrm>
            <a:off x="8445500" y="4000500"/>
            <a:ext cx="2933700" cy="1651000"/>
          </a:xfrm>
          <a:prstGeom prst="roundRect">
            <a:avLst>
              <a:gd name="adj" fmla="val 6923"/>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4541A"/>
                </a:solidFill>
                <a:latin typeface="Georgia"/>
              </a:rPr>
              <a:t>12 / 12</a:t>
            </a:r>
          </a:p>
          <a:p>
            <a:pPr algn="l">
              <a:lnSpc>
                <a:spcPct val="115000"/>
              </a:lnSpc>
              <a:spcAft>
                <a:spcPts val="0"/>
              </a:spcAft>
            </a:pPr>
            <a:r>
              <a:rPr sz="1700" b="0">
                <a:solidFill>
                  <a:srgbClr val="3A4150"/>
                </a:solidFill>
                <a:latin typeface="Arial"/>
              </a:rPr>
              <a:t>settings where the team is best, up to 9 points over a single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BUT…</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But teams are costly, and sometimes harmful</a:t>
            </a:r>
          </a:p>
        </p:txBody>
      </p:sp>
      <p:sp>
        <p:nvSpPr>
          <p:cNvPr id="5" name="TextBox 4"/>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14213D"/>
                </a:solidFill>
                <a:latin typeface="Arial"/>
              </a:rPr>
              <a:t>Cost: up to </a:t>
            </a:r>
            <a:r>
              <a:rPr sz="2400" b="1">
                <a:solidFill>
                  <a:srgbClr val="B4541A"/>
                </a:solidFill>
                <a:latin typeface="Arial"/>
              </a:rPr>
              <a:t>6.3×</a:t>
            </a:r>
            <a:r>
              <a:rPr sz="2400" b="1">
                <a:solidFill>
                  <a:srgbClr val="14213D"/>
                </a:solidFill>
                <a:latin typeface="Arial"/>
              </a:rPr>
              <a:t> a single agent</a:t>
            </a:r>
          </a:p>
        </p:txBody>
      </p:sp>
      <p:pic>
        <p:nvPicPr>
          <p:cNvPr id="6" name="Picture 5" descr="c_cost_n.png"/>
          <p:cNvPicPr>
            <a:picLocks noChangeAspect="1"/>
          </p:cNvPicPr>
          <p:nvPr/>
        </p:nvPicPr>
        <p:blipFill>
          <a:blip r:embed="rId3"/>
          <a:stretch>
            <a:fillRect/>
          </a:stretch>
        </p:blipFill>
        <p:spPr>
          <a:xfrm>
            <a:off x="925882" y="2159000"/>
            <a:ext cx="4853835" cy="3937000"/>
          </a:xfrm>
          <a:prstGeom prst="rect">
            <a:avLst/>
          </a:prstGeom>
        </p:spPr>
      </p:pic>
      <p:sp>
        <p:nvSpPr>
          <p:cNvPr id="7" name="TextBox 6"/>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14213D"/>
                </a:solidFill>
                <a:latin typeface="Arial"/>
              </a:rPr>
              <a:t>Harm: up to </a:t>
            </a:r>
            <a:r>
              <a:rPr sz="2400" b="1">
                <a:solidFill>
                  <a:srgbClr val="B03A2E"/>
                </a:solidFill>
                <a:latin typeface="Arial"/>
              </a:rPr>
              <a:t>9%</a:t>
            </a:r>
            <a:r>
              <a:rPr sz="2400" b="1">
                <a:solidFill>
                  <a:srgbClr val="14213D"/>
                </a:solidFill>
                <a:latin typeface="Arial"/>
              </a:rPr>
              <a:t> of tasks broken</a:t>
            </a:r>
          </a:p>
        </p:txBody>
      </p:sp>
      <p:pic>
        <p:nvPicPr>
          <p:cNvPr id="8" name="Picture 7" descr="c_flows_n.png"/>
          <p:cNvPicPr>
            <a:picLocks noChangeAspect="1"/>
          </p:cNvPicPr>
          <p:nvPr/>
        </p:nvPicPr>
        <p:blipFill>
          <a:blip r:embed="rId4"/>
          <a:stretch>
            <a:fillRect/>
          </a:stretch>
        </p:blipFill>
        <p:spPr>
          <a:xfrm>
            <a:off x="6299200" y="2168345"/>
            <a:ext cx="5080000" cy="391830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PROBLEM</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Why does the team break right answers?</a:t>
            </a:r>
          </a:p>
        </p:txBody>
      </p:sp>
      <p:sp>
        <p:nvSpPr>
          <p:cNvPr id="5" name="Rounded Rectangle 4"/>
          <p:cNvSpPr/>
          <p:nvPr/>
        </p:nvSpPr>
        <p:spPr>
          <a:xfrm>
            <a:off x="812800" y="2095500"/>
            <a:ext cx="2159000" cy="1397000"/>
          </a:xfrm>
          <a:prstGeom prst="roundRect">
            <a:avLst>
              <a:gd name="adj" fmla="val 8181"/>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Planner</a:t>
            </a:r>
          </a:p>
          <a:p>
            <a:pPr algn="ctr">
              <a:lnSpc>
                <a:spcPct val="115000"/>
              </a:lnSpc>
              <a:spcAft>
                <a:spcPts val="0"/>
              </a:spcAft>
            </a:pPr>
            <a:r>
              <a:rPr sz="1700" b="1">
                <a:solidFill>
                  <a:srgbClr val="2E5C99"/>
                </a:solidFill>
                <a:latin typeface="Arial"/>
              </a:rPr>
              <a:t>writes a plan</a:t>
            </a:r>
          </a:p>
        </p:txBody>
      </p:sp>
      <p:sp>
        <p:nvSpPr>
          <p:cNvPr id="6" name="Right Arrow 5"/>
          <p:cNvSpPr/>
          <p:nvPr/>
        </p:nvSpPr>
        <p:spPr>
          <a:xfrm>
            <a:off x="30480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8" name="Right Arrow 7"/>
          <p:cNvSpPr/>
          <p:nvPr/>
        </p:nvSpPr>
        <p:spPr>
          <a:xfrm>
            <a:off x="57785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3800" y="2095500"/>
            <a:ext cx="2159000" cy="1397000"/>
          </a:xfrm>
          <a:prstGeom prst="roundRect">
            <a:avLst>
              <a:gd name="adj" fmla="val 8181"/>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Reviewer</a:t>
            </a:r>
          </a:p>
          <a:p>
            <a:pPr algn="ctr">
              <a:lnSpc>
                <a:spcPct val="115000"/>
              </a:lnSpc>
              <a:spcAft>
                <a:spcPts val="0"/>
              </a:spcAft>
            </a:pPr>
            <a:r>
              <a:rPr sz="1700" b="1">
                <a:solidFill>
                  <a:srgbClr val="2E5C99"/>
                </a:solidFill>
                <a:latin typeface="Arial"/>
              </a:rPr>
              <a:t>“Looks good” ACCEPTED</a:t>
            </a:r>
          </a:p>
        </p:txBody>
      </p:sp>
      <p:sp>
        <p:nvSpPr>
          <p:cNvPr id="10" name="Right Arrow 9"/>
          <p:cNvSpPr/>
          <p:nvPr/>
        </p:nvSpPr>
        <p:spPr>
          <a:xfrm>
            <a:off x="85090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Final answer</a:t>
            </a:r>
          </a:p>
          <a:p>
            <a:pPr algn="ctr">
              <a:lnSpc>
                <a:spcPct val="115000"/>
              </a:lnSpc>
              <a:spcAft>
                <a:spcPts val="0"/>
              </a:spcAft>
            </a:pPr>
            <a:r>
              <a:rPr sz="1700" b="1">
                <a:solidFill>
                  <a:srgbClr val="B03A2E"/>
                </a:solidFill>
                <a:latin typeface="Arial"/>
              </a:rPr>
              <a:t>WRONG</a:t>
            </a:r>
          </a:p>
        </p:txBody>
      </p:sp>
      <p:sp>
        <p:nvSpPr>
          <p:cNvPr id="12" name="Rounded Rectangle 11"/>
          <p:cNvSpPr/>
          <p:nvPr/>
        </p:nvSpPr>
        <p:spPr>
          <a:xfrm>
            <a:off x="812800" y="4064000"/>
            <a:ext cx="5080000" cy="1587500"/>
          </a:xfrm>
          <a:prstGeom prst="roundRect">
            <a:avLst>
              <a:gd name="adj" fmla="val 7199"/>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A4150"/>
                </a:solidFill>
                <a:latin typeface="Arial"/>
              </a:rPr>
              <a:t>of broken answers start as a wrong first draft the reviewer did not catch</a:t>
            </a:r>
          </a:p>
        </p:txBody>
      </p:sp>
      <p:sp>
        <p:nvSpPr>
          <p:cNvPr id="13" name="Rounded Rectangle 12"/>
          <p:cNvSpPr/>
          <p:nvPr/>
        </p:nvSpPr>
        <p:spPr>
          <a:xfrm>
            <a:off x="6299200" y="4064000"/>
            <a:ext cx="5080000" cy="1587500"/>
          </a:xfrm>
          <a:prstGeom prst="roundRect">
            <a:avLst>
              <a:gd name="adj" fmla="val 7199"/>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A4150"/>
                </a:solidFill>
                <a:latin typeface="Arial"/>
              </a:rPr>
              <a:t>of wrong answers are accepted by the reviewer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IDEA</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Climb a ladder: call the team only when needed</a:t>
            </a:r>
          </a:p>
        </p:txBody>
      </p:sp>
      <p:sp>
        <p:nvSpPr>
          <p:cNvPr id="5" name="Rectangle 4"/>
          <p:cNvSpPr/>
          <p:nvPr/>
        </p:nvSpPr>
        <p:spPr>
          <a:xfrm>
            <a:off x="1016000" y="4127500"/>
            <a:ext cx="2540000" cy="1587500"/>
          </a:xfrm>
          <a:prstGeom prst="rect">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Direct answer</a:t>
            </a:r>
          </a:p>
          <a:p>
            <a:pPr algn="ctr">
              <a:lnSpc>
                <a:spcPct val="115000"/>
              </a:lnSpc>
              <a:spcAft>
                <a:spcPts val="0"/>
              </a:spcAft>
            </a:pPr>
            <a:r>
              <a:rPr sz="1800" b="1">
                <a:solidFill>
                  <a:srgbClr val="2E5C99"/>
                </a:solidFill>
                <a:latin typeface="Arial"/>
              </a:rPr>
              <a:t>cheapest</a:t>
            </a:r>
          </a:p>
        </p:txBody>
      </p:sp>
      <p:sp>
        <p:nvSpPr>
          <p:cNvPr id="6" name="TextBox 5"/>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280"/>
                </a:solidFill>
                <a:latin typeface="Arial"/>
              </a:rPr>
              <a:t>not sure?
go up</a:t>
            </a:r>
          </a:p>
        </p:txBody>
      </p:sp>
      <p:sp>
        <p:nvSpPr>
          <p:cNvPr id="7" name="Right Arrow 6"/>
          <p:cNvSpPr/>
          <p:nvPr/>
        </p:nvSpPr>
        <p:spPr>
          <a:xfrm>
            <a:off x="3651250" y="4572000"/>
            <a:ext cx="825500" cy="279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0" y="3238500"/>
            <a:ext cx="2540000" cy="2476500"/>
          </a:xfrm>
          <a:prstGeom prst="rect">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Single agent</a:t>
            </a:r>
          </a:p>
          <a:p>
            <a:pPr algn="ctr">
              <a:lnSpc>
                <a:spcPct val="115000"/>
              </a:lnSpc>
              <a:spcAft>
                <a:spcPts val="0"/>
              </a:spcAft>
            </a:pPr>
            <a:r>
              <a:rPr sz="1800" b="1">
                <a:solidFill>
                  <a:srgbClr val="2E5C99"/>
                </a:solidFill>
                <a:latin typeface="Arial"/>
              </a:rPr>
              <a:t>medium</a:t>
            </a:r>
          </a:p>
        </p:txBody>
      </p:sp>
      <p:sp>
        <p:nvSpPr>
          <p:cNvPr id="9" name="TextBox 8"/>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280"/>
                </a:solidFill>
                <a:latin typeface="Arial"/>
              </a:rPr>
              <a:t>not sure?
go up</a:t>
            </a:r>
          </a:p>
        </p:txBody>
      </p:sp>
      <p:sp>
        <p:nvSpPr>
          <p:cNvPr id="10" name="Right Arrow 9"/>
          <p:cNvSpPr/>
          <p:nvPr/>
        </p:nvSpPr>
        <p:spPr>
          <a:xfrm>
            <a:off x="7207250" y="3683000"/>
            <a:ext cx="825500" cy="279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0" y="2349500"/>
            <a:ext cx="2540000" cy="3365500"/>
          </a:xfrm>
          <a:prstGeom prst="rect">
            <a:avLst/>
          </a:prstGeom>
          <a:solidFill>
            <a:srgbClr val="F8E8DC"/>
          </a:solidFill>
          <a:ln w="3175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Agent team</a:t>
            </a:r>
          </a:p>
          <a:p>
            <a:pPr algn="ctr">
              <a:lnSpc>
                <a:spcPct val="115000"/>
              </a:lnSpc>
              <a:spcAft>
                <a:spcPts val="0"/>
              </a:spcAft>
            </a:pPr>
            <a:r>
              <a:rPr sz="1800" b="1">
                <a:solidFill>
                  <a:srgbClr val="B4541A"/>
                </a:solidFill>
                <a:latin typeface="Arial"/>
              </a:rPr>
              <a:t>most expensive</a:t>
            </a:r>
          </a:p>
        </p:txBody>
      </p:sp>
      <p:sp>
        <p:nvSpPr>
          <p:cNvPr id="12" name="TextBox 11"/>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3" name="TextBox 12"/>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B4541A"/>
                </a:solidFill>
                <a:latin typeface="Arial"/>
              </a:rPr>
              <a:t>always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SIGNALS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Signal 1: how confident is the direct answer?</a:t>
            </a:r>
          </a:p>
        </p:txBody>
      </p:sp>
      <p:pic>
        <p:nvPicPr>
          <p:cNvPr id="5" name="Picture 4" descr="c_auroc.png"/>
          <p:cNvPicPr>
            <a:picLocks noChangeAspect="1"/>
          </p:cNvPicPr>
          <p:nvPr/>
        </p:nvPicPr>
        <p:blipFill>
          <a:blip r:embed="rId3"/>
          <a:stretch>
            <a:fillRect/>
          </a:stretch>
        </p:blipFill>
        <p:spPr>
          <a:xfrm>
            <a:off x="812800" y="2046894"/>
            <a:ext cx="7302500" cy="365321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usually helps</a:t>
            </a:r>
          </a:p>
          <a:p>
            <a:pPr algn="l">
              <a:lnSpc>
                <a:spcPct val="115000"/>
              </a:lnSpc>
              <a:spcAft>
                <a:spcPts val="0"/>
              </a:spcAft>
            </a:pPr>
            <a:r>
              <a:rPr sz="1700" b="0">
                <a:solidFill>
                  <a:srgbClr val="3A4150"/>
                </a:solidFill>
                <a:latin typeface="Arial"/>
              </a:rPr>
              <a:t>confident answers tend to be right</a:t>
            </a:r>
          </a:p>
        </p:txBody>
      </p:sp>
      <p:sp>
        <p:nvSpPr>
          <p:cNvPr id="7" name="Rounded Rectangle 6"/>
          <p:cNvSpPr/>
          <p:nvPr/>
        </p:nvSpPr>
        <p:spPr>
          <a:xfrm>
            <a:off x="8445500" y="4000500"/>
            <a:ext cx="2933700" cy="1651000"/>
          </a:xfrm>
          <a:prstGeom prst="roundRect">
            <a:avLst>
              <a:gd name="adj" fmla="val 6923"/>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 of 12</a:t>
            </a:r>
          </a:p>
          <a:p>
            <a:pPr algn="l">
              <a:lnSpc>
                <a:spcPct val="115000"/>
              </a:lnSpc>
              <a:spcAft>
                <a:spcPts val="0"/>
              </a:spcAft>
            </a:pPr>
            <a:r>
              <a:rPr sz="1700" b="0">
                <a:solidFill>
                  <a:srgbClr val="3A4150"/>
                </a:solidFill>
                <a:latin typeface="Arial"/>
              </a:rPr>
              <a:t>settings where it points the wrong 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SIGNALS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Signal 2: do two cheap answers agree?</a:t>
            </a:r>
          </a:p>
        </p:txBody>
      </p:sp>
      <p:pic>
        <p:nvPicPr>
          <p:cNvPr id="5" name="Picture 4" descr="c_agree.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agree</a:t>
            </a:r>
          </a:p>
          <a:p>
            <a:pPr algn="l">
              <a:lnSpc>
                <a:spcPct val="115000"/>
              </a:lnSpc>
              <a:spcAft>
                <a:spcPts val="0"/>
              </a:spcAft>
            </a:pPr>
            <a:r>
              <a:rPr sz="1700" b="0">
                <a:solidFill>
                  <a:srgbClr val="3A4150"/>
                </a:solidFill>
                <a:latin typeface="Arial"/>
              </a:rPr>
              <a:t>→ the single agent is usually right</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280"/>
                </a:solidFill>
                <a:latin typeface="Arial"/>
              </a:rPr>
              <a:t>Neither answer sees the other, so agreement costs nothing extra.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PROBLEM</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Guessing a rule can go badly</a:t>
            </a:r>
          </a:p>
        </p:txBody>
      </p:sp>
      <p:pic>
        <p:nvPicPr>
          <p:cNvPr id="5" name="Picture 4" descr="c_maxloss.png"/>
          <p:cNvPicPr>
            <a:picLocks noChangeAspect="1"/>
          </p:cNvPicPr>
          <p:nvPr/>
        </p:nvPicPr>
        <p:blipFill>
          <a:blip r:embed="rId3"/>
          <a:stretch>
            <a:fillRect/>
          </a:stretch>
        </p:blipFill>
        <p:spPr>
          <a:xfrm>
            <a:off x="812800" y="2379642"/>
            <a:ext cx="7302500" cy="29877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A4150"/>
                </a:solidFill>
                <a:latin typeface="Arial"/>
              </a:rPr>
              <a:t>lost by a hand-picked threshold on one setting</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280"/>
                </a:solidFill>
                <a:latin typeface="Arial"/>
              </a:rPr>
              <a:t>Nothing at deployment says which setting will go wrong.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CLIMB</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What CLIMB promises</a:t>
            </a:r>
          </a:p>
        </p:txBody>
      </p:sp>
      <p:sp>
        <p:nvSpPr>
          <p:cNvPr id="5" name="Rounded Rectangle 4"/>
          <p:cNvSpPr/>
          <p:nvPr/>
        </p:nvSpPr>
        <p:spPr>
          <a:xfrm>
            <a:off x="812800" y="2095500"/>
            <a:ext cx="3111500" cy="2032000"/>
          </a:xfrm>
          <a:prstGeom prst="roundRect">
            <a:avLst>
              <a:gd name="adj" fmla="val 5625"/>
            </a:avLst>
          </a:prstGeom>
          <a:solidFill>
            <a:srgbClr val="F8E8DC"/>
          </a:solidFill>
          <a:ln w="3175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B4541A"/>
                </a:solidFill>
                <a:latin typeface="Arial"/>
              </a:rPr>
              <a:t>You choose</a:t>
            </a:r>
          </a:p>
          <a:p>
            <a:pPr algn="ctr">
              <a:lnSpc>
                <a:spcPct val="115000"/>
              </a:lnSpc>
              <a:spcAft>
                <a:spcPts val="0"/>
              </a:spcAft>
            </a:pPr>
            <a:r>
              <a:rPr sz="1900" b="0">
                <a:solidFill>
                  <a:srgbClr val="14213D"/>
                </a:solidFill>
                <a:latin typeface="Arial"/>
              </a:rPr>
              <a:t>“I can lose at most 5 points of accuracy”</a:t>
            </a:r>
          </a:p>
        </p:txBody>
      </p:sp>
      <p:sp>
        <p:nvSpPr>
          <p:cNvPr id="6" name="Right Arrow 5"/>
          <p:cNvSpPr/>
          <p:nvPr/>
        </p:nvSpPr>
        <p:spPr>
          <a:xfrm>
            <a:off x="4000500" y="2857500"/>
            <a:ext cx="482600" cy="3810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9300" y="2095500"/>
            <a:ext cx="3111500" cy="2032000"/>
          </a:xfrm>
          <a:prstGeom prst="roundRect">
            <a:avLst>
              <a:gd name="adj" fmla="val 5625"/>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F0A66B"/>
                </a:solidFill>
                <a:latin typeface="Arial"/>
              </a:rPr>
              <a:t>CLIMB checks</a:t>
            </a:r>
          </a:p>
          <a:p>
            <a:pPr algn="ctr">
              <a:lnSpc>
                <a:spcPct val="115000"/>
              </a:lnSpc>
              <a:spcAft>
                <a:spcPts val="0"/>
              </a:spcAft>
            </a:pPr>
            <a:r>
              <a:rPr sz="1900" b="0">
                <a:solidFill>
                  <a:srgbClr val="F7F6F2"/>
                </a:solidFill>
                <a:latin typeface="Arial"/>
              </a:rPr>
              <a:t>a few hundred labelled tasks</a:t>
            </a:r>
          </a:p>
        </p:txBody>
      </p:sp>
      <p:sp>
        <p:nvSpPr>
          <p:cNvPr id="8" name="Right Arrow 7"/>
          <p:cNvSpPr/>
          <p:nvPr/>
        </p:nvSpPr>
        <p:spPr>
          <a:xfrm>
            <a:off x="7747000" y="2857500"/>
            <a:ext cx="482600" cy="3810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05800" y="2095500"/>
            <a:ext cx="3111500" cy="2032000"/>
          </a:xfrm>
          <a:prstGeom prst="roundRect">
            <a:avLst>
              <a:gd name="adj" fmla="val 5625"/>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2F6B34"/>
                </a:solidFill>
                <a:latin typeface="Arial"/>
              </a:rPr>
              <a:t>You get</a:t>
            </a:r>
          </a:p>
          <a:p>
            <a:pPr algn="ctr">
              <a:lnSpc>
                <a:spcPct val="115000"/>
              </a:lnSpc>
              <a:spcAft>
                <a:spcPts val="0"/>
              </a:spcAft>
            </a:pPr>
            <a:r>
              <a:rPr sz="1900" b="0">
                <a:solidFill>
                  <a:srgbClr val="14213D"/>
                </a:solidFill>
                <a:latin typeface="Arial"/>
              </a:rPr>
              <a:t>the cheapest rule that keeps the promise, 9 times out of 10</a:t>
            </a:r>
          </a:p>
        </p:txBody>
      </p:sp>
      <p:sp>
        <p:nvSpPr>
          <p:cNvPr id="10" name="Rounded Rectangle 9"/>
          <p:cNvSpPr/>
          <p:nvPr/>
        </p:nvSpPr>
        <p:spPr>
          <a:xfrm>
            <a:off x="812800" y="4572000"/>
            <a:ext cx="10566400" cy="952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000" b="1">
                <a:solidFill>
                  <a:srgbClr val="14213D"/>
                </a:solidFill>
                <a:latin typeface="Arial"/>
              </a:rPr>
              <a:t>No cheaper rule passes?  →  call the team every time.  Worst case: no savings, not lost accuracy.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11</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Keep the cheapest rule that passes</a:t>
            </a:r>
          </a:p>
        </p:txBody>
      </p:sp>
      <p:pic>
        <p:nvPicPr>
          <p:cNvPr id="5" name="Picture 4" descr="c_sweep.png"/>
          <p:cNvPicPr>
            <a:picLocks noChangeAspect="1"/>
          </p:cNvPicPr>
          <p:nvPr/>
        </p:nvPicPr>
        <p:blipFill>
          <a:blip r:embed="rId3"/>
          <a:stretch>
            <a:fillRect/>
          </a:stretch>
        </p:blipFill>
        <p:spPr>
          <a:xfrm>
            <a:off x="2179492" y="1587500"/>
            <a:ext cx="7833014" cy="4445000"/>
          </a:xfrm>
          <a:prstGeom prst="rect">
            <a:avLst/>
          </a:prstGeom>
        </p:spPr>
      </p:pic>
      <p:sp>
        <p:nvSpPr>
          <p:cNvPr id="6" name="TextBox 5"/>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280"/>
                </a:solidFill>
                <a:latin typeface="Arial"/>
              </a:rPr>
              <a:t>gpt-oss-120b on MuSiQue, thresholds on the direct answer’s confidence, one calibration half.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The test is a betting game</a:t>
            </a:r>
          </a:p>
        </p:txBody>
      </p:sp>
      <p:pic>
        <p:nvPicPr>
          <p:cNvPr id="5" name="Picture 4" descr="c_wealth.png"/>
          <p:cNvPicPr>
            <a:picLocks noChangeAspect="1"/>
          </p:cNvPicPr>
          <p:nvPr/>
        </p:nvPicPr>
        <p:blipFill>
          <a:blip r:embed="rId3"/>
          <a:stretch>
            <a:fillRect/>
          </a:stretch>
        </p:blipFill>
        <p:spPr>
          <a:xfrm>
            <a:off x="812800" y="1915559"/>
            <a:ext cx="6985000" cy="3788881"/>
          </a:xfrm>
          <a:prstGeom prst="rect">
            <a:avLst/>
          </a:prstGeom>
        </p:spPr>
      </p:pic>
      <p:sp>
        <p:nvSpPr>
          <p:cNvPr id="6" name="Oval 5"/>
          <p:cNvSpPr/>
          <p:nvPr/>
        </p:nvSpPr>
        <p:spPr>
          <a:xfrm>
            <a:off x="8191500" y="18415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1</a:t>
            </a:r>
          </a:p>
        </p:txBody>
      </p:sp>
      <p:sp>
        <p:nvSpPr>
          <p:cNvPr id="7" name="TextBox 6"/>
          <p:cNvSpPr txBox="1"/>
          <p:nvPr/>
        </p:nvSpPr>
        <p:spPr>
          <a:xfrm>
            <a:off x="8794750" y="1866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Start with $1.</a:t>
            </a:r>
          </a:p>
        </p:txBody>
      </p:sp>
      <p:sp>
        <p:nvSpPr>
          <p:cNvPr id="8" name="Oval 7"/>
          <p:cNvSpPr/>
          <p:nvPr/>
        </p:nvSpPr>
        <p:spPr>
          <a:xfrm>
            <a:off x="8191500" y="29210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2</a:t>
            </a:r>
          </a:p>
        </p:txBody>
      </p:sp>
      <p:sp>
        <p:nvSpPr>
          <p:cNvPr id="9" name="TextBox 8"/>
          <p:cNvSpPr txBox="1"/>
          <p:nvPr/>
        </p:nvSpPr>
        <p:spPr>
          <a:xfrm>
            <a:off x="8794750" y="2946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Each task: bet that skipping the team does no harm.</a:t>
            </a:r>
          </a:p>
        </p:txBody>
      </p:sp>
      <p:sp>
        <p:nvSpPr>
          <p:cNvPr id="10" name="Oval 9"/>
          <p:cNvSpPr/>
          <p:nvPr/>
        </p:nvSpPr>
        <p:spPr>
          <a:xfrm>
            <a:off x="8191500" y="40005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3</a:t>
            </a:r>
          </a:p>
        </p:txBody>
      </p:sp>
      <p:sp>
        <p:nvSpPr>
          <p:cNvPr id="11" name="TextBox 10"/>
          <p:cNvSpPr txBox="1"/>
          <p:nvPr/>
        </p:nvSpPr>
        <p:spPr>
          <a:xfrm>
            <a:off x="8794750" y="4025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No harm: win a little. Broken answer: lose.</a:t>
            </a:r>
          </a:p>
        </p:txBody>
      </p:sp>
      <p:sp>
        <p:nvSpPr>
          <p:cNvPr id="12" name="Oval 11"/>
          <p:cNvSpPr/>
          <p:nvPr/>
        </p:nvSpPr>
        <p:spPr>
          <a:xfrm>
            <a:off x="8191500" y="50800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4</a:t>
            </a:r>
          </a:p>
        </p:txBody>
      </p:sp>
      <p:sp>
        <p:nvSpPr>
          <p:cNvPr id="13" name="TextBox 12"/>
          <p:cNvSpPr txBox="1"/>
          <p:nvPr/>
        </p:nvSpPr>
        <p:spPr>
          <a:xfrm>
            <a:off x="8794750" y="5105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Reach $20: the rule passes.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Skipping the team can also save answers</a:t>
            </a:r>
          </a:p>
        </p:txBody>
      </p:sp>
      <p:sp>
        <p:nvSpPr>
          <p:cNvPr id="5" name="Rounded Rectangle 4"/>
          <p:cNvSpPr/>
          <p:nvPr/>
        </p:nvSpPr>
        <p:spPr>
          <a:xfrm>
            <a:off x="812800" y="2095500"/>
            <a:ext cx="3384550" cy="2286000"/>
          </a:xfrm>
          <a:prstGeom prst="roundRect">
            <a:avLst>
              <a:gd name="adj" fmla="val 5000"/>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2000"/>
              </a:spcAft>
            </a:pPr>
            <a:r>
              <a:rPr sz="2600" b="1">
                <a:solidFill>
                  <a:srgbClr val="14213D"/>
                </a:solidFill>
                <a:latin typeface="Arial"/>
              </a:rPr>
              <a:t>Cheap answer wrong,
team right</a:t>
            </a:r>
          </a:p>
          <a:p>
            <a:pPr algn="ctr">
              <a:lnSpc>
                <a:spcPct val="115000"/>
              </a:lnSpc>
              <a:spcAft>
                <a:spcPts val="0"/>
              </a:spcAft>
            </a:pPr>
            <a:r>
              <a:rPr sz="2400" b="1">
                <a:solidFill>
                  <a:srgbClr val="B03A2E"/>
                </a:solidFill>
                <a:latin typeface="Arial"/>
              </a:rPr>
              <a:t>we lose a point</a:t>
            </a:r>
          </a:p>
        </p:txBody>
      </p:sp>
      <p:sp>
        <p:nvSpPr>
          <p:cNvPr id="6" name="Rounded Rectangle 5"/>
          <p:cNvSpPr/>
          <p:nvPr/>
        </p:nvSpPr>
        <p:spPr>
          <a:xfrm>
            <a:off x="4400550" y="2095500"/>
            <a:ext cx="3384550" cy="2286000"/>
          </a:xfrm>
          <a:prstGeom prst="roundRect">
            <a:avLst>
              <a:gd name="adj" fmla="val 5000"/>
            </a:avLst>
          </a:prstGeom>
          <a:solidFill>
            <a:srgbClr val="ECEAE3"/>
          </a:solidFill>
          <a:ln w="317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2000"/>
              </a:spcAft>
            </a:pPr>
            <a:r>
              <a:rPr sz="2600" b="1">
                <a:solidFill>
                  <a:srgbClr val="14213D"/>
                </a:solidFill>
                <a:latin typeface="Arial"/>
              </a:rPr>
              <a:t>Both right,
or both wrong</a:t>
            </a:r>
          </a:p>
          <a:p>
            <a:pPr algn="ctr">
              <a:lnSpc>
                <a:spcPct val="115000"/>
              </a:lnSpc>
              <a:spcAft>
                <a:spcPts val="0"/>
              </a:spcAft>
            </a:pPr>
            <a:r>
              <a:rPr sz="2400" b="1">
                <a:solidFill>
                  <a:srgbClr val="6B7280"/>
                </a:solidFill>
                <a:latin typeface="Arial"/>
              </a:rPr>
              <a:t>no change (most tasks)</a:t>
            </a:r>
          </a:p>
        </p:txBody>
      </p:sp>
      <p:sp>
        <p:nvSpPr>
          <p:cNvPr id="7" name="Rounded Rectangle 6"/>
          <p:cNvSpPr/>
          <p:nvPr/>
        </p:nvSpPr>
        <p:spPr>
          <a:xfrm>
            <a:off x="7988300" y="2095500"/>
            <a:ext cx="3384550" cy="2286000"/>
          </a:xfrm>
          <a:prstGeom prst="roundRect">
            <a:avLst>
              <a:gd name="adj" fmla="val 5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2000"/>
              </a:spcAft>
            </a:pPr>
            <a:r>
              <a:rPr sz="2600" b="1">
                <a:solidFill>
                  <a:srgbClr val="14213D"/>
                </a:solidFill>
                <a:latin typeface="Arial"/>
              </a:rPr>
              <a:t>Cheap answer right,
team wrong</a:t>
            </a:r>
          </a:p>
          <a:p>
            <a:pPr algn="ctr">
              <a:lnSpc>
                <a:spcPct val="115000"/>
              </a:lnSpc>
              <a:spcAft>
                <a:spcPts val="0"/>
              </a:spcAft>
            </a:pPr>
            <a:r>
              <a:rPr sz="2400" b="1">
                <a:solidFill>
                  <a:srgbClr val="2F6B34"/>
                </a:solidFill>
                <a:latin typeface="Arial"/>
              </a:rPr>
              <a:t>we save a point</a:t>
            </a:r>
          </a:p>
        </p:txBody>
      </p:sp>
      <p:sp>
        <p:nvSpPr>
          <p:cNvPr id="8" name="Rounded Rectangle 7"/>
          <p:cNvSpPr/>
          <p:nvPr/>
        </p:nvSpPr>
        <p:spPr>
          <a:xfrm>
            <a:off x="812800" y="4826000"/>
            <a:ext cx="105664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400" b="1">
                <a:solidFill>
                  <a:srgbClr val="14213D"/>
                </a:solidFill>
                <a:latin typeface="Arial"/>
              </a:rPr>
              <a:t>Usual tests count only the left box. CLIMB counts both sides.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IT WORKS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Counting both sides certifies much more</a:t>
            </a:r>
          </a:p>
        </p:txBody>
      </p:sp>
      <p:pic>
        <p:nvPicPr>
          <p:cNvPr id="5" name="Picture 4" descr="c_tests.png"/>
          <p:cNvPicPr>
            <a:picLocks noChangeAspect="1"/>
          </p:cNvPicPr>
          <p:nvPr/>
        </p:nvPicPr>
        <p:blipFill>
          <a:blip r:embed="rId3"/>
          <a:stretch>
            <a:fillRect/>
          </a:stretch>
        </p:blipFill>
        <p:spPr>
          <a:xfrm>
            <a:off x="812800" y="2331170"/>
            <a:ext cx="7302500" cy="2830659"/>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a:t>
            </a:r>
          </a:p>
          <a:p>
            <a:pPr algn="l">
              <a:lnSpc>
                <a:spcPct val="115000"/>
              </a:lnSpc>
              <a:spcAft>
                <a:spcPts val="0"/>
              </a:spcAft>
            </a:pPr>
            <a:r>
              <a:rPr sz="1700" b="0">
                <a:solidFill>
                  <a:srgbClr val="3A4150"/>
                </a:solidFill>
                <a:latin typeface="Arial"/>
              </a:rPr>
              <a:t>of the team’s tokens with CLIMB’s test. A worst-case bound: 100%.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EXPERIMENTS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3 models × 4 benchmarks = 12 settings</a:t>
            </a:r>
          </a:p>
        </p:txBody>
      </p:sp>
      <p:sp>
        <p:nvSpPr>
          <p:cNvPr id="5" name="TextBox 4"/>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MATH</a:t>
            </a:r>
          </a:p>
          <a:p>
            <a:pPr algn="ctr">
              <a:lnSpc>
                <a:spcPct val="115000"/>
              </a:lnSpc>
              <a:spcAft>
                <a:spcPts val="0"/>
              </a:spcAft>
            </a:pPr>
            <a:r>
              <a:rPr sz="1600" b="0">
                <a:solidFill>
                  <a:srgbClr val="6B7280"/>
                </a:solidFill>
                <a:latin typeface="Arial"/>
              </a:rPr>
              <a:t>math</a:t>
            </a:r>
          </a:p>
        </p:txBody>
      </p:sp>
      <p:sp>
        <p:nvSpPr>
          <p:cNvPr id="6" name="TextBox 5"/>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FRAMES</a:t>
            </a:r>
          </a:p>
          <a:p>
            <a:pPr algn="ctr">
              <a:lnSpc>
                <a:spcPct val="115000"/>
              </a:lnSpc>
              <a:spcAft>
                <a:spcPts val="0"/>
              </a:spcAft>
            </a:pPr>
            <a:r>
              <a:rPr sz="1600" b="0">
                <a:solidFill>
                  <a:srgbClr val="6B7280"/>
                </a:solidFill>
                <a:latin typeface="Arial"/>
              </a:rPr>
              <a:t>open-book QA</a:t>
            </a:r>
          </a:p>
        </p:txBody>
      </p:sp>
      <p:sp>
        <p:nvSpPr>
          <p:cNvPr id="7" name="TextBox 6"/>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MuSiQue</a:t>
            </a:r>
          </a:p>
          <a:p>
            <a:pPr algn="ctr">
              <a:lnSpc>
                <a:spcPct val="115000"/>
              </a:lnSpc>
              <a:spcAft>
                <a:spcPts val="0"/>
              </a:spcAft>
            </a:pPr>
            <a:r>
              <a:rPr sz="1600" b="0">
                <a:solidFill>
                  <a:srgbClr val="6B7280"/>
                </a:solidFill>
                <a:latin typeface="Arial"/>
              </a:rPr>
              <a:t>open-book QA</a:t>
            </a:r>
          </a:p>
        </p:txBody>
      </p:sp>
      <p:sp>
        <p:nvSpPr>
          <p:cNvPr id="8" name="TextBox 7"/>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BBEH</a:t>
            </a:r>
          </a:p>
          <a:p>
            <a:pPr algn="ctr">
              <a:lnSpc>
                <a:spcPct val="115000"/>
              </a:lnSpc>
              <a:spcAft>
                <a:spcPts val="0"/>
              </a:spcAft>
            </a:pPr>
            <a:r>
              <a:rPr sz="1600" b="0">
                <a:solidFill>
                  <a:srgbClr val="6B7280"/>
                </a:solidFill>
                <a:latin typeface="Arial"/>
              </a:rPr>
              <a:t>hard reasoning</a:t>
            </a:r>
          </a:p>
        </p:txBody>
      </p:sp>
      <p:sp>
        <p:nvSpPr>
          <p:cNvPr id="9" name="TextBox 8"/>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gpt-oss-20b</a:t>
            </a:r>
          </a:p>
        </p:txBody>
      </p:sp>
      <p:sp>
        <p:nvSpPr>
          <p:cNvPr id="10" name="Rounded Rectangle 9"/>
          <p:cNvSpPr/>
          <p:nvPr/>
        </p:nvSpPr>
        <p:spPr>
          <a:xfrm>
            <a:off x="3048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94.8%</a:t>
            </a:r>
          </a:p>
          <a:p>
            <a:pPr algn="ctr">
              <a:lnSpc>
                <a:spcPct val="115000"/>
              </a:lnSpc>
              <a:spcAft>
                <a:spcPts val="0"/>
              </a:spcAft>
            </a:pPr>
            <a:r>
              <a:rPr sz="1300" b="0">
                <a:solidFill>
                  <a:srgbClr val="6B7280"/>
                </a:solidFill>
                <a:latin typeface="Arial"/>
              </a:rPr>
              <a:t>team accuracy</a:t>
            </a:r>
          </a:p>
        </p:txBody>
      </p:sp>
      <p:sp>
        <p:nvSpPr>
          <p:cNvPr id="11" name="Rounded Rectangle 10"/>
          <p:cNvSpPr/>
          <p:nvPr/>
        </p:nvSpPr>
        <p:spPr>
          <a:xfrm>
            <a:off x="5080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76.1%</a:t>
            </a:r>
          </a:p>
          <a:p>
            <a:pPr algn="ctr">
              <a:lnSpc>
                <a:spcPct val="115000"/>
              </a:lnSpc>
              <a:spcAft>
                <a:spcPts val="0"/>
              </a:spcAft>
            </a:pPr>
            <a:r>
              <a:rPr sz="1300" b="0">
                <a:solidFill>
                  <a:srgbClr val="6B7280"/>
                </a:solidFill>
                <a:latin typeface="Arial"/>
              </a:rPr>
              <a:t>team accuracy</a:t>
            </a:r>
          </a:p>
        </p:txBody>
      </p:sp>
      <p:sp>
        <p:nvSpPr>
          <p:cNvPr id="12" name="Rounded Rectangle 11"/>
          <p:cNvSpPr/>
          <p:nvPr/>
        </p:nvSpPr>
        <p:spPr>
          <a:xfrm>
            <a:off x="7112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64.9%</a:t>
            </a:r>
          </a:p>
          <a:p>
            <a:pPr algn="ctr">
              <a:lnSpc>
                <a:spcPct val="115000"/>
              </a:lnSpc>
              <a:spcAft>
                <a:spcPts val="0"/>
              </a:spcAft>
            </a:pPr>
            <a:r>
              <a:rPr sz="1300" b="0">
                <a:solidFill>
                  <a:srgbClr val="6B7280"/>
                </a:solidFill>
                <a:latin typeface="Arial"/>
              </a:rPr>
              <a:t>team accuracy</a:t>
            </a:r>
          </a:p>
        </p:txBody>
      </p:sp>
      <p:sp>
        <p:nvSpPr>
          <p:cNvPr id="13" name="Rounded Rectangle 12"/>
          <p:cNvSpPr/>
          <p:nvPr/>
        </p:nvSpPr>
        <p:spPr>
          <a:xfrm>
            <a:off x="9144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28.0%</a:t>
            </a:r>
          </a:p>
          <a:p>
            <a:pPr algn="ctr">
              <a:lnSpc>
                <a:spcPct val="115000"/>
              </a:lnSpc>
              <a:spcAft>
                <a:spcPts val="0"/>
              </a:spcAft>
            </a:pPr>
            <a:r>
              <a:rPr sz="1300" b="0">
                <a:solidFill>
                  <a:srgbClr val="6B7280"/>
                </a:solidFill>
                <a:latin typeface="Arial"/>
              </a:rPr>
              <a:t>team accuracy</a:t>
            </a:r>
          </a:p>
        </p:txBody>
      </p:sp>
      <p:sp>
        <p:nvSpPr>
          <p:cNvPr id="14" name="TextBox 13"/>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gpt-oss-120b</a:t>
            </a:r>
          </a:p>
        </p:txBody>
      </p:sp>
      <p:sp>
        <p:nvSpPr>
          <p:cNvPr id="15" name="Rounded Rectangle 14"/>
          <p:cNvSpPr/>
          <p:nvPr/>
        </p:nvSpPr>
        <p:spPr>
          <a:xfrm>
            <a:off x="3048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97.0%</a:t>
            </a:r>
          </a:p>
          <a:p>
            <a:pPr algn="ctr">
              <a:lnSpc>
                <a:spcPct val="115000"/>
              </a:lnSpc>
              <a:spcAft>
                <a:spcPts val="0"/>
              </a:spcAft>
            </a:pPr>
            <a:r>
              <a:rPr sz="1300" b="0">
                <a:solidFill>
                  <a:srgbClr val="6B7280"/>
                </a:solidFill>
                <a:latin typeface="Arial"/>
              </a:rPr>
              <a:t>team accuracy</a:t>
            </a:r>
          </a:p>
        </p:txBody>
      </p:sp>
      <p:sp>
        <p:nvSpPr>
          <p:cNvPr id="16" name="Rounded Rectangle 15"/>
          <p:cNvSpPr/>
          <p:nvPr/>
        </p:nvSpPr>
        <p:spPr>
          <a:xfrm>
            <a:off x="5080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79.8%</a:t>
            </a:r>
          </a:p>
          <a:p>
            <a:pPr algn="ctr">
              <a:lnSpc>
                <a:spcPct val="115000"/>
              </a:lnSpc>
              <a:spcAft>
                <a:spcPts val="0"/>
              </a:spcAft>
            </a:pPr>
            <a:r>
              <a:rPr sz="1300" b="0">
                <a:solidFill>
                  <a:srgbClr val="6B7280"/>
                </a:solidFill>
                <a:latin typeface="Arial"/>
              </a:rPr>
              <a:t>team accuracy</a:t>
            </a:r>
          </a:p>
        </p:txBody>
      </p:sp>
      <p:sp>
        <p:nvSpPr>
          <p:cNvPr id="17" name="Rounded Rectangle 16"/>
          <p:cNvSpPr/>
          <p:nvPr/>
        </p:nvSpPr>
        <p:spPr>
          <a:xfrm>
            <a:off x="7112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71.1%</a:t>
            </a:r>
          </a:p>
          <a:p>
            <a:pPr algn="ctr">
              <a:lnSpc>
                <a:spcPct val="115000"/>
              </a:lnSpc>
              <a:spcAft>
                <a:spcPts val="0"/>
              </a:spcAft>
            </a:pPr>
            <a:r>
              <a:rPr sz="1300" b="0">
                <a:solidFill>
                  <a:srgbClr val="6B7280"/>
                </a:solidFill>
                <a:latin typeface="Arial"/>
              </a:rPr>
              <a:t>team accuracy</a:t>
            </a:r>
          </a:p>
        </p:txBody>
      </p:sp>
      <p:sp>
        <p:nvSpPr>
          <p:cNvPr id="18" name="Rounded Rectangle 17"/>
          <p:cNvSpPr/>
          <p:nvPr/>
        </p:nvSpPr>
        <p:spPr>
          <a:xfrm>
            <a:off x="9144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45.1%</a:t>
            </a:r>
          </a:p>
          <a:p>
            <a:pPr algn="ctr">
              <a:lnSpc>
                <a:spcPct val="115000"/>
              </a:lnSpc>
              <a:spcAft>
                <a:spcPts val="0"/>
              </a:spcAft>
            </a:pPr>
            <a:r>
              <a:rPr sz="1300" b="0">
                <a:solidFill>
                  <a:srgbClr val="6B7280"/>
                </a:solidFill>
                <a:latin typeface="Arial"/>
              </a:rPr>
              <a:t>team accuracy</a:t>
            </a:r>
          </a:p>
        </p:txBody>
      </p:sp>
      <p:sp>
        <p:nvSpPr>
          <p:cNvPr id="19" name="TextBox 18"/>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Gemma-4-26B</a:t>
            </a:r>
          </a:p>
        </p:txBody>
      </p:sp>
      <p:sp>
        <p:nvSpPr>
          <p:cNvPr id="20" name="Rounded Rectangle 19"/>
          <p:cNvSpPr/>
          <p:nvPr/>
        </p:nvSpPr>
        <p:spPr>
          <a:xfrm>
            <a:off x="3048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99.8%</a:t>
            </a:r>
          </a:p>
          <a:p>
            <a:pPr algn="ctr">
              <a:lnSpc>
                <a:spcPct val="115000"/>
              </a:lnSpc>
              <a:spcAft>
                <a:spcPts val="0"/>
              </a:spcAft>
            </a:pPr>
            <a:r>
              <a:rPr sz="1300" b="0">
                <a:solidFill>
                  <a:srgbClr val="6B7280"/>
                </a:solidFill>
                <a:latin typeface="Arial"/>
              </a:rPr>
              <a:t>team accuracy</a:t>
            </a:r>
          </a:p>
        </p:txBody>
      </p:sp>
      <p:sp>
        <p:nvSpPr>
          <p:cNvPr id="21" name="Rounded Rectangle 20"/>
          <p:cNvSpPr/>
          <p:nvPr/>
        </p:nvSpPr>
        <p:spPr>
          <a:xfrm>
            <a:off x="5080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67.9%</a:t>
            </a:r>
          </a:p>
          <a:p>
            <a:pPr algn="ctr">
              <a:lnSpc>
                <a:spcPct val="115000"/>
              </a:lnSpc>
              <a:spcAft>
                <a:spcPts val="0"/>
              </a:spcAft>
            </a:pPr>
            <a:r>
              <a:rPr sz="1300" b="0">
                <a:solidFill>
                  <a:srgbClr val="6B7280"/>
                </a:solidFill>
                <a:latin typeface="Arial"/>
              </a:rPr>
              <a:t>team accuracy</a:t>
            </a:r>
          </a:p>
        </p:txBody>
      </p:sp>
      <p:sp>
        <p:nvSpPr>
          <p:cNvPr id="22" name="Rounded Rectangle 21"/>
          <p:cNvSpPr/>
          <p:nvPr/>
        </p:nvSpPr>
        <p:spPr>
          <a:xfrm>
            <a:off x="7112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65.3%</a:t>
            </a:r>
          </a:p>
          <a:p>
            <a:pPr algn="ctr">
              <a:lnSpc>
                <a:spcPct val="115000"/>
              </a:lnSpc>
              <a:spcAft>
                <a:spcPts val="0"/>
              </a:spcAft>
            </a:pPr>
            <a:r>
              <a:rPr sz="1300" b="0">
                <a:solidFill>
                  <a:srgbClr val="6B7280"/>
                </a:solidFill>
                <a:latin typeface="Arial"/>
              </a:rPr>
              <a:t>team accuracy</a:t>
            </a:r>
          </a:p>
        </p:txBody>
      </p:sp>
      <p:sp>
        <p:nvSpPr>
          <p:cNvPr id="23" name="Rounded Rectangle 22"/>
          <p:cNvSpPr/>
          <p:nvPr/>
        </p:nvSpPr>
        <p:spPr>
          <a:xfrm>
            <a:off x="9144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36.4%</a:t>
            </a:r>
          </a:p>
          <a:p>
            <a:pPr algn="ctr">
              <a:lnSpc>
                <a:spcPct val="115000"/>
              </a:lnSpc>
              <a:spcAft>
                <a:spcPts val="0"/>
              </a:spcAft>
            </a:pPr>
            <a:r>
              <a:rPr sz="1300" b="0">
                <a:solidFill>
                  <a:srgbClr val="6B7280"/>
                </a:solidFill>
                <a:latin typeface="Arial"/>
              </a:rPr>
              <a:t>team accuracy</a:t>
            </a:r>
          </a:p>
        </p:txBody>
      </p:sp>
      <p:sp>
        <p:nvSpPr>
          <p:cNvPr id="24" name="Rounded Rectangle 23"/>
          <p:cNvSpPr/>
          <p:nvPr/>
        </p:nvSpPr>
        <p:spPr>
          <a:xfrm>
            <a:off x="812800" y="5524500"/>
            <a:ext cx="10566400" cy="635000"/>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7F6F2"/>
                </a:solidFill>
                <a:latin typeface="Arial"/>
              </a:rPr>
              <a:t>Record every task once, then replay </a:t>
            </a:r>
            <a:r>
              <a:rPr sz="1800" b="1">
                <a:solidFill>
                  <a:srgbClr val="F0A66B"/>
                </a:solidFill>
                <a:latin typeface="Arial"/>
              </a:rPr>
              <a:t>200 random splits</a:t>
            </a:r>
            <a:r>
              <a:rPr sz="1800" b="0">
                <a:solidFill>
                  <a:srgbClr val="F7F6F2"/>
                </a:solidFill>
                <a:latin typeface="Arial"/>
              </a:rPr>
              <a:t>: half to calibrate CLIMB, half to test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The promise holds on every setting</a:t>
            </a:r>
          </a:p>
        </p:txBody>
      </p:sp>
      <p:pic>
        <p:nvPicPr>
          <p:cNvPr id="5" name="Picture 4" descr="c_viol.png"/>
          <p:cNvPicPr>
            <a:picLocks noChangeAspect="1"/>
          </p:cNvPicPr>
          <p:nvPr/>
        </p:nvPicPr>
        <p:blipFill>
          <a:blip r:embed="rId3"/>
          <a:stretch>
            <a:fillRect/>
          </a:stretch>
        </p:blipFill>
        <p:spPr>
          <a:xfrm>
            <a:off x="812800" y="1999442"/>
            <a:ext cx="7302500" cy="37481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A4150"/>
                </a:solidFill>
                <a:latin typeface="Arial"/>
              </a:rPr>
              <a:t>of splits broke the promise. Allowed: 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How much it saves</a:t>
            </a:r>
          </a:p>
        </p:txBody>
      </p:sp>
      <p:pic>
        <p:nvPicPr>
          <p:cNvPr id="5" name="Picture 4" descr="c_savings.png"/>
          <p:cNvPicPr>
            <a:picLocks noChangeAspect="1"/>
          </p:cNvPicPr>
          <p:nvPr/>
        </p:nvPicPr>
        <p:blipFill>
          <a:blip r:embed="rId3"/>
          <a:stretch>
            <a:fillRect/>
          </a:stretch>
        </p:blipFill>
        <p:spPr>
          <a:xfrm>
            <a:off x="812800" y="1997499"/>
            <a:ext cx="7302500" cy="375200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38% saved</a:t>
            </a:r>
          </a:p>
          <a:p>
            <a:pPr algn="l">
              <a:lnSpc>
                <a:spcPct val="115000"/>
              </a:lnSpc>
              <a:spcAft>
                <a:spcPts val="0"/>
              </a:spcAft>
            </a:pPr>
            <a:r>
              <a:rPr sz="1700" b="0">
                <a:solidFill>
                  <a:srgbClr val="3A4150"/>
                </a:solidFill>
                <a:latin typeface="Arial"/>
              </a:rPr>
              <a:t>allowing 5 points of loss</a:t>
            </a:r>
          </a:p>
        </p:txBody>
      </p:sp>
      <p:sp>
        <p:nvSpPr>
          <p:cNvPr id="7" name="Rounded Rectangle 6"/>
          <p:cNvSpPr/>
          <p:nvPr/>
        </p:nvSpPr>
        <p:spPr>
          <a:xfrm>
            <a:off x="8445500" y="4000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65% saved</a:t>
            </a:r>
          </a:p>
          <a:p>
            <a:pPr algn="l">
              <a:lnSpc>
                <a:spcPct val="115000"/>
              </a:lnSpc>
              <a:spcAft>
                <a:spcPts val="0"/>
              </a:spcAft>
            </a:pPr>
            <a:r>
              <a:rPr sz="1700" b="0">
                <a:solidFill>
                  <a:srgbClr val="3A4150"/>
                </a:solidFill>
                <a:latin typeface="Arial"/>
              </a:rPr>
              <a:t>allowing 10 points of loss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Without the test, the promise breaks</a:t>
            </a:r>
          </a:p>
        </p:txBody>
      </p:sp>
      <p:pic>
        <p:nvPicPr>
          <p:cNvPr id="5" name="Picture 4" descr="c_tuned.png"/>
          <p:cNvPicPr>
            <a:picLocks noChangeAspect="1"/>
          </p:cNvPicPr>
          <p:nvPr/>
        </p:nvPicPr>
        <p:blipFill>
          <a:blip r:embed="rId3"/>
          <a:stretch>
            <a:fillRect/>
          </a:stretch>
        </p:blipFill>
        <p:spPr>
          <a:xfrm>
            <a:off x="812800" y="1721371"/>
            <a:ext cx="7302500" cy="4304257"/>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A4150"/>
                </a:solidFill>
                <a:latin typeface="Arial"/>
              </a:rPr>
              <a:t>of splits broken at ε = 5 by the tuned rule. CLIMB: 0.6%.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8B97AE"/>
                </a:solidFill>
                <a:latin typeface="Arial"/>
              </a:rPr>
              <a:t>19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F0A66B"/>
                </a:solidFill>
                <a:latin typeface="Arial"/>
              </a:rPr>
              <a:t>TAKEAWAYS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F7F6F2"/>
                </a:solidFill>
                <a:latin typeface="Georgia"/>
              </a:rPr>
              <a:t>Call the team only when you must</a:t>
            </a:r>
          </a:p>
        </p:txBody>
      </p:sp>
      <p:sp>
        <p:nvSpPr>
          <p:cNvPr id="5" name="Rectangle 4"/>
          <p:cNvSpPr/>
          <p:nvPr/>
        </p:nvSpPr>
        <p:spPr>
          <a:xfrm>
            <a:off x="81280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Teams are costly</a:t>
            </a:r>
          </a:p>
          <a:p>
            <a:pPr algn="l">
              <a:lnSpc>
                <a:spcPct val="115000"/>
              </a:lnSpc>
              <a:spcAft>
                <a:spcPts val="0"/>
              </a:spcAft>
            </a:pPr>
            <a:r>
              <a:rPr sz="2000" b="0">
                <a:solidFill>
                  <a:srgbClr val="C9D1E0"/>
                </a:solidFill>
                <a:latin typeface="Arial"/>
              </a:rPr>
              <a:t>and sometimes break right answers.</a:t>
            </a:r>
          </a:p>
        </p:txBody>
      </p:sp>
      <p:sp>
        <p:nvSpPr>
          <p:cNvPr id="7" name="Rectangle 6"/>
          <p:cNvSpPr/>
          <p:nvPr/>
        </p:nvSpPr>
        <p:spPr>
          <a:xfrm>
            <a:off x="440055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CLIMB keeps a promise</a:t>
            </a:r>
          </a:p>
          <a:p>
            <a:pPr algn="l">
              <a:lnSpc>
                <a:spcPct val="115000"/>
              </a:lnSpc>
              <a:spcAft>
                <a:spcPts val="0"/>
              </a:spcAft>
            </a:pPr>
            <a:r>
              <a:rPr sz="2000" b="0">
                <a:solidFill>
                  <a:srgbClr val="C9D1E0"/>
                </a:solidFill>
                <a:latin typeface="Arial"/>
              </a:rPr>
              <a:t>you choose the accuracy loss, it finds the cheapest safe rule.</a:t>
            </a:r>
          </a:p>
        </p:txBody>
      </p:sp>
      <p:sp>
        <p:nvSpPr>
          <p:cNvPr id="9" name="Rectangle 8"/>
          <p:cNvSpPr/>
          <p:nvPr/>
        </p:nvSpPr>
        <p:spPr>
          <a:xfrm>
            <a:off x="798830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38–65% saved</a:t>
            </a:r>
          </a:p>
          <a:p>
            <a:pPr algn="l">
              <a:lnSpc>
                <a:spcPct val="115000"/>
              </a:lnSpc>
              <a:spcAft>
                <a:spcPts val="0"/>
              </a:spcAft>
            </a:pPr>
            <a:r>
              <a:rPr sz="2000" b="0">
                <a:solidFill>
                  <a:srgbClr val="C9D1E0"/>
                </a:solidFill>
                <a:latin typeface="Arial"/>
              </a:rPr>
              <a:t>at 5 and 10 points, with the promise kept.</a:t>
            </a:r>
          </a:p>
        </p:txBody>
      </p:sp>
      <p:sp>
        <p:nvSpPr>
          <p:cNvPr id="11" name="TextBox 10"/>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C9D1E0"/>
                </a:solidFill>
                <a:latin typeface="Arial"/>
              </a:rPr>
              <a:t>Assumes calibration tasks resemble deployment tasks. Recalibrating takes under a second.</a:t>
            </a:r>
          </a:p>
        </p:txBody>
      </p:sp>
      <p:sp>
        <p:nvSpPr>
          <p:cNvPr id="12" name="TextBox 11"/>
          <p:cNvSpPr txBox="1"/>
          <p:nvPr/>
        </p:nvSpPr>
        <p:spPr>
          <a:xfrm>
            <a:off x="812800" y="5397500"/>
            <a:ext cx="10566400" cy="571500"/>
          </a:xfrm>
          <a:prstGeom prst="rect">
            <a:avLst/>
          </a:prstGeom>
          <a:noFill/>
        </p:spPr>
        <p:txBody>
          <a:bodyPr wrap="square" lIns="0" rIns="0" tIns="0" bIns="0" anchor="t">
            <a:spAutoFit/>
          </a:bodyPr>
          <a:lstStyle/>
          <a:p>
            <a:pPr algn="l">
              <a:lnSpc>
                <a:spcPct val="115000"/>
              </a:lnSpc>
              <a:spcAft>
                <a:spcPts val="0"/>
              </a:spcAft>
            </a:pPr>
            <a:r>
              <a:rPr sz="3600" b="1">
                <a:solidFill>
                  <a:srgbClr val="F0A66B"/>
                </a:solidFill>
                <a:latin typeface="Georgia"/>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