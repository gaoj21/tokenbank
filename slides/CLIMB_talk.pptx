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team is expensive and not always better, the idea is a ladder. Try the cheapest configuration first, a direct answer. If it looks right, stop. Otherwise try a single agent. Only if that also looks unreliable, call the full team. All three use the same model. The ladder itself is simple. The real question, and the rest of the method, is when a task should climb.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when to climb breaks into four questions, and the rest of the method answers them in order. First, a signal: does the cheap answer look right? Second, a rule: where do we draw the line on that signal? Third, a check: how do we know the line is safe? Fourth, how far up the ladder to look before deciding. And if no rule passes the check, we simply always call the team.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one: what tells us a cheap answer is good enough? A good signal must tell right answers from wrong ones, and it must cost far less than the team, or there is nothing to save. We use two. The first is confidence: how probable the model finds its own answer. A model that knows the answer tends to put its probability on one answer. An unsure model spreads it over several. It is free: it comes with the answer. The second is agreement: run the direct answer and the single agent independently and see whether they match. There is one right answer but many wrong ones, so two independent tries rarely land on the same wrong answer. It costs one more cheap call, and that call's answer is the one we keep. It needs no log-probabilities.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they work? Left: for each setting, the direct answer's accuracy on its more confident half of tasks against its less confident half. On most settings the confident half is right much more often. On three Gemma settings it is backwards: the model is confidently wrong. Right: the single agent's accuracy when the two cheap answers agree against when they disagree. Agreement separates on most settings, including the three where confidence fails, for example 90 against 34 percent on Gemma FRAMES. It is weak on gpt-oss-20b BBEH, where both answers are mostly wrong. So the two signals cover each other. What does CLIMB do when confidence is backwards? Three things. First, option B ranks tasks by agreement first, so confidence only breaks ties. On Gemma FRAMES and MuSiQue, CLIMB picks option B in every split. Second, the check catches it: a backwards score puts the losses first, so the test fails early and that threshold is never deployed. Third, in the worst case CLIMB calls the team. On these three Gemma settings it uses 69 to 96 percent of the team's tokens at a 5 point tolerance: it saves less, but the promise still holds.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where do we draw the line? A rule stops the task when its score is above a threshold. The natural shortcut is to pick the threshold by hand. Such rules can look fine on average but lose a lot on some settings. A fixed confidence threshold with the same average cost as CLIMB loses up to 16 points. Always using the single agent loses up to 9. CLIMB at a 5 point tolerance loses at most 2.8. And nothing at deployment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three: how do we know a line is safe? CLIMB turns this into a promise. You choose how much accuracy you can give up, say 5 points. CLIMB checks candidate rules on a few hundred labelled tasks and returns the cheapest rule that keeps the promise, with 90 percent probability. If no cheaper rule qualifies, it always calls the team, so the worst case is no savings, not lost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check one rule? Imagine a gambler who bets that the rule is safe. He starts with one dollar. We reveal the calibration tasks one by one. If the rule gives the same result as the team, which is most tasks, he wins a little. If it loses an answer the team got right, he loses a lot. If it saves an answer the team broke, he wins a lot. If his money ever reaches 20 dollars, the rule passes. On the chart, the green rule loses half a point and he gets rich quickly. The red one loses 6 points and he goes broke. The bet size follows how much the earlier tasks varied, so a rule that rarely changes anything is bet on hard.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reaching 20 convince us? Suppose the rule is actually bad, so it loses more than the tolerance. Then every bet loses money on average, so the gambler's average wealth stays at most one dollar. His money can never go negative. If he reached 20 dollars more than 1 time in 20, those cases alone would push his average above one dollar. That is impossible. So a bad rule passes at most 5 percent of the time. Twenty is just one over five percent. Stopping as soon as he reaches 20 is covered too: freeze the money there and the same argument holds. We check two families of rules, each at 5 percent, so 90 percent overall.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many rules. We order them from safe to risky. Moving right, more tasks stop early: cheaper but riskier. We run the betting test on each, in this order, and stop at the first failure. Then we deploy the cheapest one that passed, the star, at 57 percent of the team's tokens. Because we stop at the first failure, testing many rules adds no extra risk: to pass a bad rule, the first bad rule in the line would have to pass, and that happens at most 5 percent of the time. This is the direct-answer family. The same runs for the two-rung family, and CLIMB keeps the cheaper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detail makes the check much sharper. Skipping the team is not only a risk: sometimes the cheap answer is right and the team would have broken it. Usual tests count only the losses. CLIMB's bet counts both sides, so saved answers offset lost ones. On the right, every test is valid, but they certify very different savings: a worst-case bound certifies nothing, ignoring saved answers keeps 79 percent of tokens, CLIMB's test 62.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how far up the ladder should we look before deciding? Option A stops after the direct answer when it is confident. Option B also runs the single agent and stops when the two agree. Which is cheaper depends on the model and the task, so CLIMB checks both on the calibration data and deploys the cheaper one that passes, splitting the error budget between them. If neither passes, it always calls the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what this could offer Amex. First, token spend. CLIMB only needs a score and a few hundred labelled tasks, so it can sit in front of any multi-agent workflow. Closed APIs often hide log-probabilities. We can still get them: feed the closed model's answer to an open model and read off each token's log-probability, the way PPO's reference model scores tokens written by another policy. The agreement of two cheap calls needs no log-probabilities at all. The guarantee holds whatever score we plug in: a weaker score saves less, it does not break the promise. We have not tested these proxy log-probabilities yet, so treat that part as a proposal. Second, design insights. More agents is not always better: reviewers pass many wrong drafts and teams break some right answers. Route each task instead of fixing one design for all. Cheap signals such as agreement are strong. And any routing rule, from model cascades to human review, can be given the same kind of guarantee.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006FCF"/>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333B47"/>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is an agent team?</a:t>
            </a:r>
          </a:p>
        </p:txBody>
      </p:sp>
      <p:sp>
        <p:nvSpPr>
          <p:cNvPr id="5" name="TextBox 4"/>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Single agent</a:t>
            </a:r>
          </a:p>
        </p:txBody>
      </p:sp>
      <p:sp>
        <p:nvSpPr>
          <p:cNvPr id="6" name="Rounded Rectangle 5"/>
          <p:cNvSpPr/>
          <p:nvPr/>
        </p:nvSpPr>
        <p:spPr>
          <a:xfrm>
            <a:off x="8128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Question</a:t>
            </a:r>
          </a:p>
        </p:txBody>
      </p:sp>
      <p:sp>
        <p:nvSpPr>
          <p:cNvPr id="7" name="Right Arrow 6"/>
          <p:cNvSpPr/>
          <p:nvPr/>
        </p:nvSpPr>
        <p:spPr>
          <a:xfrm>
            <a:off x="28257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92500" y="2095500"/>
            <a:ext cx="1905000" cy="825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Model</a:t>
            </a:r>
          </a:p>
          <a:p>
            <a:pPr algn="ctr">
              <a:lnSpc>
                <a:spcPct val="115000"/>
              </a:lnSpc>
              <a:spcAft>
                <a:spcPts val="0"/>
              </a:spcAft>
            </a:pPr>
            <a:r>
              <a:rPr sz="1600" b="0">
                <a:solidFill>
                  <a:srgbClr val="00175A"/>
                </a:solidFill>
                <a:latin typeface="Arial"/>
              </a:rPr>
              <a:t>thinks once</a:t>
            </a:r>
          </a:p>
        </p:txBody>
      </p:sp>
      <p:sp>
        <p:nvSpPr>
          <p:cNvPr id="9" name="Right Arrow 8"/>
          <p:cNvSpPr/>
          <p:nvPr/>
        </p:nvSpPr>
        <p:spPr>
          <a:xfrm>
            <a:off x="55054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722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Answer</a:t>
            </a:r>
          </a:p>
        </p:txBody>
      </p:sp>
      <p:sp>
        <p:nvSpPr>
          <p:cNvPr id="11" name="TextBox 10"/>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6FCF"/>
                </a:solidFill>
                <a:latin typeface="Arial"/>
              </a:rPr>
              <a:t>Agent team: plan, execute, review</a:t>
            </a:r>
          </a:p>
        </p:txBody>
      </p:sp>
      <p:sp>
        <p:nvSpPr>
          <p:cNvPr id="12" name="Rounded Rectangle 11"/>
          <p:cNvSpPr/>
          <p:nvPr/>
        </p:nvSpPr>
        <p:spPr>
          <a:xfrm>
            <a:off x="812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Question</a:t>
            </a:r>
          </a:p>
        </p:txBody>
      </p:sp>
      <p:sp>
        <p:nvSpPr>
          <p:cNvPr id="13" name="Right Arrow 12"/>
          <p:cNvSpPr/>
          <p:nvPr/>
        </p:nvSpPr>
        <p:spPr>
          <a:xfrm>
            <a:off x="26289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0035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Planner</a:t>
            </a:r>
          </a:p>
          <a:p>
            <a:pPr algn="ctr">
              <a:lnSpc>
                <a:spcPct val="115000"/>
              </a:lnSpc>
              <a:spcAft>
                <a:spcPts val="0"/>
              </a:spcAft>
            </a:pPr>
            <a:r>
              <a:rPr sz="1500" b="0">
                <a:solidFill>
                  <a:srgbClr val="006FCF"/>
                </a:solidFill>
                <a:latin typeface="Arial"/>
              </a:rPr>
              <a:t>writes a plan</a:t>
            </a:r>
          </a:p>
        </p:txBody>
      </p:sp>
      <p:sp>
        <p:nvSpPr>
          <p:cNvPr id="15" name="Right Arrow 14"/>
          <p:cNvSpPr/>
          <p:nvPr/>
        </p:nvSpPr>
        <p:spPr>
          <a:xfrm>
            <a:off x="48196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9430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Executor</a:t>
            </a:r>
          </a:p>
          <a:p>
            <a:pPr algn="ctr">
              <a:lnSpc>
                <a:spcPct val="115000"/>
              </a:lnSpc>
              <a:spcAft>
                <a:spcPts val="0"/>
              </a:spcAft>
            </a:pPr>
            <a:r>
              <a:rPr sz="1500" b="0">
                <a:solidFill>
                  <a:srgbClr val="006FCF"/>
                </a:solidFill>
                <a:latin typeface="Arial"/>
              </a:rPr>
              <a:t>follows the plan</a:t>
            </a:r>
          </a:p>
        </p:txBody>
      </p:sp>
      <p:sp>
        <p:nvSpPr>
          <p:cNvPr id="17" name="Right Arrow 16"/>
          <p:cNvSpPr/>
          <p:nvPr/>
        </p:nvSpPr>
        <p:spPr>
          <a:xfrm>
            <a:off x="70104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850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Reviewer</a:t>
            </a:r>
          </a:p>
          <a:p>
            <a:pPr algn="ctr">
              <a:lnSpc>
                <a:spcPct val="115000"/>
              </a:lnSpc>
              <a:spcAft>
                <a:spcPts val="0"/>
              </a:spcAft>
            </a:pPr>
            <a:r>
              <a:rPr sz="1500" b="0">
                <a:solidFill>
                  <a:srgbClr val="006FCF"/>
                </a:solidFill>
                <a:latin typeface="Arial"/>
              </a:rPr>
              <a:t>accept or reject</a:t>
            </a:r>
          </a:p>
        </p:txBody>
      </p:sp>
      <p:sp>
        <p:nvSpPr>
          <p:cNvPr id="19" name="Right Arrow 18"/>
          <p:cNvSpPr/>
          <p:nvPr/>
        </p:nvSpPr>
        <p:spPr>
          <a:xfrm>
            <a:off x="92011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75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Answer</a:t>
            </a:r>
          </a:p>
        </p:txBody>
      </p:sp>
      <p:sp>
        <p:nvSpPr>
          <p:cNvPr id="21" name="Left Arrow 20"/>
          <p:cNvSpPr/>
          <p:nvPr/>
        </p:nvSpPr>
        <p:spPr>
          <a:xfrm>
            <a:off x="5194300" y="5334000"/>
            <a:ext cx="2540000" cy="317500"/>
          </a:xfrm>
          <a:prstGeom prst="left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006FCF"/>
                </a:solidFill>
                <a:latin typeface="Arial"/>
              </a:rPr>
              <a:t>rejected? revise, up to 5 rounds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more accurate</a:t>
            </a:r>
          </a:p>
        </p:txBody>
      </p:sp>
      <p:pic>
        <p:nvPicPr>
          <p:cNvPr id="5" name="Picture 4" descr="c_accuracy.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a:t>
            </a:r>
          </a:p>
        </p:txBody>
      </p:sp>
      <p:sp>
        <p:nvSpPr>
          <p:cNvPr id="7" name="Rounded Rectangle 6"/>
          <p:cNvSpPr/>
          <p:nvPr/>
        </p:nvSpPr>
        <p:spPr>
          <a:xfrm>
            <a:off x="8445500" y="4000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12 / 12</a:t>
            </a:r>
          </a:p>
          <a:p>
            <a:pPr algn="l">
              <a:lnSpc>
                <a:spcPct val="115000"/>
              </a:lnSpc>
              <a:spcAft>
                <a:spcPts val="0"/>
              </a:spcAft>
            </a:pPr>
            <a:r>
              <a:rPr sz="1700" b="0">
                <a:solidFill>
                  <a:srgbClr val="333B47"/>
                </a:solidFill>
                <a:latin typeface="Arial"/>
              </a:rPr>
              <a:t>settings where the team is best, up to 9 points over a single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CATCH</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costly, and sometimes harmful</a:t>
            </a:r>
          </a:p>
        </p:txBody>
      </p:sp>
      <p:sp>
        <p:nvSpPr>
          <p:cNvPr id="5" name="TextBox 4"/>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Cost: up to </a:t>
            </a:r>
            <a:r>
              <a:rPr sz="2400" b="1">
                <a:solidFill>
                  <a:srgbClr val="B4541A"/>
                </a:solidFill>
                <a:latin typeface="Arial"/>
              </a:rPr>
              <a:t>6.3×</a:t>
            </a:r>
            <a:r>
              <a:rPr sz="2400" b="1">
                <a:solidFill>
                  <a:srgbClr val="00175A"/>
                </a:solidFill>
                <a:latin typeface="Arial"/>
              </a:rPr>
              <a:t> a single agent</a:t>
            </a:r>
          </a:p>
        </p:txBody>
      </p:sp>
      <p:pic>
        <p:nvPicPr>
          <p:cNvPr id="6" name="Picture 5" descr="c_cost_n.png"/>
          <p:cNvPicPr>
            <a:picLocks noChangeAspect="1"/>
          </p:cNvPicPr>
          <p:nvPr/>
        </p:nvPicPr>
        <p:blipFill>
          <a:blip r:embed="rId3"/>
          <a:stretch>
            <a:fillRect/>
          </a:stretch>
        </p:blipFill>
        <p:spPr>
          <a:xfrm>
            <a:off x="925882" y="2159000"/>
            <a:ext cx="4853835" cy="3937000"/>
          </a:xfrm>
          <a:prstGeom prst="rect">
            <a:avLst/>
          </a:prstGeom>
        </p:spPr>
      </p:pic>
      <p:sp>
        <p:nvSpPr>
          <p:cNvPr id="7" name="TextBox 6"/>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Harm: up to </a:t>
            </a:r>
            <a:r>
              <a:rPr sz="2400" b="1">
                <a:solidFill>
                  <a:srgbClr val="B03A2E"/>
                </a:solidFill>
                <a:latin typeface="Arial"/>
              </a:rPr>
              <a:t>9%</a:t>
            </a:r>
            <a:r>
              <a:rPr sz="2400" b="1">
                <a:solidFill>
                  <a:srgbClr val="00175A"/>
                </a:solidFill>
                <a:latin typeface="Arial"/>
              </a:rPr>
              <a:t> of tasks broken</a:t>
            </a:r>
          </a:p>
        </p:txBody>
      </p:sp>
      <p:pic>
        <p:nvPicPr>
          <p:cNvPr id="8" name="Picture 7" descr="c_flows_n.png"/>
          <p:cNvPicPr>
            <a:picLocks noChangeAspect="1"/>
          </p:cNvPicPr>
          <p:nvPr/>
        </p:nvPicPr>
        <p:blipFill>
          <a:blip r:embed="rId4"/>
          <a:stretch>
            <a:fillRect/>
          </a:stretch>
        </p:blipFill>
        <p:spPr>
          <a:xfrm>
            <a:off x="6299200" y="2168345"/>
            <a:ext cx="5080000" cy="391830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PROBLEM</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does the team break right answers?</a:t>
            </a:r>
          </a:p>
        </p:txBody>
      </p:sp>
      <p:sp>
        <p:nvSpPr>
          <p:cNvPr id="5" name="Rounded Rectangle 4"/>
          <p:cNvSpPr/>
          <p:nvPr/>
        </p:nvSpPr>
        <p:spPr>
          <a:xfrm>
            <a:off x="812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Planner</a:t>
            </a:r>
          </a:p>
          <a:p>
            <a:pPr algn="ctr">
              <a:lnSpc>
                <a:spcPct val="115000"/>
              </a:lnSpc>
              <a:spcAft>
                <a:spcPts val="0"/>
              </a:spcAft>
            </a:pPr>
            <a:r>
              <a:rPr sz="1700" b="1">
                <a:solidFill>
                  <a:srgbClr val="00175A"/>
                </a:solidFill>
                <a:latin typeface="Arial"/>
              </a:rPr>
              <a:t>writes a plan</a:t>
            </a:r>
          </a:p>
        </p:txBody>
      </p:sp>
      <p:sp>
        <p:nvSpPr>
          <p:cNvPr id="6" name="Right Arrow 5"/>
          <p:cNvSpPr/>
          <p:nvPr/>
        </p:nvSpPr>
        <p:spPr>
          <a:xfrm>
            <a:off x="3048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8" name="Right Arrow 7"/>
          <p:cNvSpPr/>
          <p:nvPr/>
        </p:nvSpPr>
        <p:spPr>
          <a:xfrm>
            <a:off x="57785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73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Reviewer</a:t>
            </a:r>
          </a:p>
          <a:p>
            <a:pPr algn="ctr">
              <a:lnSpc>
                <a:spcPct val="115000"/>
              </a:lnSpc>
              <a:spcAft>
                <a:spcPts val="0"/>
              </a:spcAft>
            </a:pPr>
            <a:r>
              <a:rPr sz="1700" b="1">
                <a:solidFill>
                  <a:srgbClr val="00175A"/>
                </a:solidFill>
                <a:latin typeface="Arial"/>
              </a:rPr>
              <a:t>“Looks good” ACCEPTED</a:t>
            </a:r>
          </a:p>
        </p:txBody>
      </p:sp>
      <p:sp>
        <p:nvSpPr>
          <p:cNvPr id="10" name="Right Arrow 9"/>
          <p:cNvSpPr/>
          <p:nvPr/>
        </p:nvSpPr>
        <p:spPr>
          <a:xfrm>
            <a:off x="8509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Final answer</a:t>
            </a:r>
          </a:p>
          <a:p>
            <a:pPr algn="ctr">
              <a:lnSpc>
                <a:spcPct val="115000"/>
              </a:lnSpc>
              <a:spcAft>
                <a:spcPts val="0"/>
              </a:spcAft>
            </a:pPr>
            <a:r>
              <a:rPr sz="1700" b="1">
                <a:solidFill>
                  <a:srgbClr val="B03A2E"/>
                </a:solidFill>
                <a:latin typeface="Arial"/>
              </a:rPr>
              <a:t>WRONG</a:t>
            </a:r>
          </a:p>
        </p:txBody>
      </p:sp>
      <p:sp>
        <p:nvSpPr>
          <p:cNvPr id="12" name="Rounded Rectangle 11"/>
          <p:cNvSpPr/>
          <p:nvPr/>
        </p:nvSpPr>
        <p:spPr>
          <a:xfrm>
            <a:off x="8128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33B47"/>
                </a:solidFill>
                <a:latin typeface="Arial"/>
              </a:rPr>
              <a:t>of broken answers start as a wrong first draft the reviewer did not catch</a:t>
            </a:r>
          </a:p>
        </p:txBody>
      </p:sp>
      <p:sp>
        <p:nvSpPr>
          <p:cNvPr id="13" name="Rounded Rectangle 12"/>
          <p:cNvSpPr/>
          <p:nvPr/>
        </p:nvSpPr>
        <p:spPr>
          <a:xfrm>
            <a:off x="62992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33B47"/>
                </a:solidFill>
                <a:latin typeface="Arial"/>
              </a:rPr>
              <a:t>of wrong answers are accepted by the reviewer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IDEA</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Climb a ladder: call the team only when needed</a:t>
            </a:r>
          </a:p>
        </p:txBody>
      </p:sp>
      <p:sp>
        <p:nvSpPr>
          <p:cNvPr id="5" name="Rounded Rectangle 4"/>
          <p:cNvSpPr/>
          <p:nvPr/>
        </p:nvSpPr>
        <p:spPr>
          <a:xfrm>
            <a:off x="812800" y="1619250"/>
            <a:ext cx="6731000" cy="508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l">
              <a:lnSpc>
                <a:spcPct val="115000"/>
              </a:lnSpc>
              <a:spcAft>
                <a:spcPts val="0"/>
              </a:spcAft>
            </a:pPr>
            <a:r>
              <a:rPr sz="2200" b="1">
                <a:solidFill>
                  <a:srgbClr val="66B2F0"/>
                </a:solidFill>
                <a:latin typeface="Arial"/>
              </a:rPr>
              <a:t>The key question: when should a task climb?</a:t>
            </a:r>
          </a:p>
        </p:txBody>
      </p:sp>
      <p:sp>
        <p:nvSpPr>
          <p:cNvPr id="6" name="Rectangle 5"/>
          <p:cNvSpPr/>
          <p:nvPr/>
        </p:nvSpPr>
        <p:spPr>
          <a:xfrm>
            <a:off x="1016000" y="4127500"/>
            <a:ext cx="2540000" cy="1587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Direct answer</a:t>
            </a:r>
          </a:p>
          <a:p>
            <a:pPr algn="ctr">
              <a:lnSpc>
                <a:spcPct val="115000"/>
              </a:lnSpc>
              <a:spcAft>
                <a:spcPts val="0"/>
              </a:spcAft>
            </a:pPr>
            <a:r>
              <a:rPr sz="1800" b="1">
                <a:solidFill>
                  <a:srgbClr val="00175A"/>
                </a:solidFill>
                <a:latin typeface="Arial"/>
              </a:rPr>
              <a:t>cheapest</a:t>
            </a:r>
          </a:p>
        </p:txBody>
      </p:sp>
      <p:sp>
        <p:nvSpPr>
          <p:cNvPr id="7" name="TextBox 6"/>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8" name="Right Arrow 7"/>
          <p:cNvSpPr/>
          <p:nvPr/>
        </p:nvSpPr>
        <p:spPr>
          <a:xfrm>
            <a:off x="3651250" y="4572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0" y="3238500"/>
            <a:ext cx="2540000" cy="2476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Single agent</a:t>
            </a:r>
          </a:p>
          <a:p>
            <a:pPr algn="ctr">
              <a:lnSpc>
                <a:spcPct val="115000"/>
              </a:lnSpc>
              <a:spcAft>
                <a:spcPts val="0"/>
              </a:spcAft>
            </a:pPr>
            <a:r>
              <a:rPr sz="1800" b="1">
                <a:solidFill>
                  <a:srgbClr val="00175A"/>
                </a:solidFill>
                <a:latin typeface="Arial"/>
              </a:rPr>
              <a:t>medium</a:t>
            </a:r>
          </a:p>
        </p:txBody>
      </p:sp>
      <p:sp>
        <p:nvSpPr>
          <p:cNvPr id="10" name="TextBox 9"/>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11" name="Right Arrow 10"/>
          <p:cNvSpPr/>
          <p:nvPr/>
        </p:nvSpPr>
        <p:spPr>
          <a:xfrm>
            <a:off x="7207250" y="3683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28000" y="2349500"/>
            <a:ext cx="2540000" cy="3365500"/>
          </a:xfrm>
          <a:prstGeom prst="rect">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Agent team</a:t>
            </a:r>
          </a:p>
          <a:p>
            <a:pPr algn="ctr">
              <a:lnSpc>
                <a:spcPct val="115000"/>
              </a:lnSpc>
              <a:spcAft>
                <a:spcPts val="0"/>
              </a:spcAft>
            </a:pPr>
            <a:r>
              <a:rPr sz="1800" b="1">
                <a:solidFill>
                  <a:srgbClr val="006FCF"/>
                </a:solidFill>
                <a:latin typeface="Arial"/>
              </a:rPr>
              <a:t>most expensive</a:t>
            </a:r>
          </a:p>
        </p:txBody>
      </p:sp>
      <p:sp>
        <p:nvSpPr>
          <p:cNvPr id="13" name="TextBox 12"/>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5" name="TextBox 14"/>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006FCF"/>
                </a:solidFill>
                <a:latin typeface="Arial"/>
              </a:rPr>
              <a:t>always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400" b="1">
                <a:solidFill>
                  <a:srgbClr val="00175A"/>
                </a:solidFill>
                <a:latin typeface="Georgia"/>
              </a:rPr>
              <a:t>Deciding when to climb: four questions</a:t>
            </a:r>
          </a:p>
        </p:txBody>
      </p:sp>
      <p:sp>
        <p:nvSpPr>
          <p:cNvPr id="5" name="Rounded Rectangle 4"/>
          <p:cNvSpPr/>
          <p:nvPr/>
        </p:nvSpPr>
        <p:spPr>
          <a:xfrm>
            <a:off x="8128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1</a:t>
            </a:r>
          </a:p>
          <a:p>
            <a:pPr algn="l">
              <a:lnSpc>
                <a:spcPct val="115000"/>
              </a:lnSpc>
              <a:spcAft>
                <a:spcPts val="1200"/>
              </a:spcAft>
            </a:pPr>
            <a:r>
              <a:rPr sz="2400" b="1">
                <a:solidFill>
                  <a:srgbClr val="00175A"/>
                </a:solidFill>
                <a:latin typeface="Arial"/>
              </a:rPr>
              <a:t>Signal</a:t>
            </a:r>
          </a:p>
          <a:p>
            <a:pPr algn="l">
              <a:lnSpc>
                <a:spcPct val="115000"/>
              </a:lnSpc>
              <a:spcAft>
                <a:spcPts val="1600"/>
              </a:spcAft>
            </a:pPr>
            <a:r>
              <a:rPr sz="1800" b="0">
                <a:solidFill>
                  <a:srgbClr val="333B47"/>
                </a:solidFill>
                <a:latin typeface="Arial"/>
              </a:rPr>
              <a:t>Does the cheap answer look right?</a:t>
            </a:r>
          </a:p>
          <a:p>
            <a:pPr algn="l">
              <a:lnSpc>
                <a:spcPct val="115000"/>
              </a:lnSpc>
              <a:spcAft>
                <a:spcPts val="0"/>
              </a:spcAft>
            </a:pPr>
            <a:r>
              <a:rPr sz="1800" b="1">
                <a:solidFill>
                  <a:srgbClr val="006FCF"/>
                </a:solidFill>
                <a:latin typeface="Arial"/>
              </a:rPr>
              <a:t>→ confidence and agreement</a:t>
            </a:r>
          </a:p>
        </p:txBody>
      </p:sp>
      <p:sp>
        <p:nvSpPr>
          <p:cNvPr id="6" name="Rounded Rectangle 5"/>
          <p:cNvSpPr/>
          <p:nvPr/>
        </p:nvSpPr>
        <p:spPr>
          <a:xfrm>
            <a:off x="35179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2</a:t>
            </a:r>
          </a:p>
          <a:p>
            <a:pPr algn="l">
              <a:lnSpc>
                <a:spcPct val="115000"/>
              </a:lnSpc>
              <a:spcAft>
                <a:spcPts val="1200"/>
              </a:spcAft>
            </a:pPr>
            <a:r>
              <a:rPr sz="2400" b="1">
                <a:solidFill>
                  <a:srgbClr val="00175A"/>
                </a:solidFill>
                <a:latin typeface="Arial"/>
              </a:rPr>
              <a:t>Rule</a:t>
            </a:r>
          </a:p>
          <a:p>
            <a:pPr algn="l">
              <a:lnSpc>
                <a:spcPct val="115000"/>
              </a:lnSpc>
              <a:spcAft>
                <a:spcPts val="1600"/>
              </a:spcAft>
            </a:pPr>
            <a:r>
              <a:rPr sz="1800" b="0">
                <a:solidFill>
                  <a:srgbClr val="333B47"/>
                </a:solidFill>
                <a:latin typeface="Arial"/>
              </a:rPr>
              <a:t>Where do we draw the line?</a:t>
            </a:r>
          </a:p>
          <a:p>
            <a:pPr algn="l">
              <a:lnSpc>
                <a:spcPct val="115000"/>
              </a:lnSpc>
              <a:spcAft>
                <a:spcPts val="0"/>
              </a:spcAft>
            </a:pPr>
            <a:r>
              <a:rPr sz="1800" b="1">
                <a:solidFill>
                  <a:srgbClr val="006FCF"/>
                </a:solidFill>
                <a:latin typeface="Arial"/>
              </a:rPr>
              <a:t>→ a threshold on the score</a:t>
            </a:r>
          </a:p>
        </p:txBody>
      </p:sp>
      <p:sp>
        <p:nvSpPr>
          <p:cNvPr id="7" name="Rounded Rectangle 6"/>
          <p:cNvSpPr/>
          <p:nvPr/>
        </p:nvSpPr>
        <p:spPr>
          <a:xfrm>
            <a:off x="62230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3</a:t>
            </a:r>
          </a:p>
          <a:p>
            <a:pPr algn="l">
              <a:lnSpc>
                <a:spcPct val="115000"/>
              </a:lnSpc>
              <a:spcAft>
                <a:spcPts val="1200"/>
              </a:spcAft>
            </a:pPr>
            <a:r>
              <a:rPr sz="2400" b="1">
                <a:solidFill>
                  <a:srgbClr val="00175A"/>
                </a:solidFill>
                <a:latin typeface="Arial"/>
              </a:rPr>
              <a:t>Check</a:t>
            </a:r>
          </a:p>
          <a:p>
            <a:pPr algn="l">
              <a:lnSpc>
                <a:spcPct val="115000"/>
              </a:lnSpc>
              <a:spcAft>
                <a:spcPts val="1600"/>
              </a:spcAft>
            </a:pPr>
            <a:r>
              <a:rPr sz="1800" b="0">
                <a:solidFill>
                  <a:srgbClr val="333B47"/>
                </a:solidFill>
                <a:latin typeface="Arial"/>
              </a:rPr>
              <a:t>Is that line safe?</a:t>
            </a:r>
          </a:p>
          <a:p>
            <a:pPr algn="l">
              <a:lnSpc>
                <a:spcPct val="115000"/>
              </a:lnSpc>
              <a:spcAft>
                <a:spcPts val="0"/>
              </a:spcAft>
            </a:pPr>
            <a:r>
              <a:rPr sz="1800" b="1">
                <a:solidFill>
                  <a:srgbClr val="006FCF"/>
                </a:solidFill>
                <a:latin typeface="Arial"/>
              </a:rPr>
              <a:t>→ a test with a guarantee</a:t>
            </a:r>
          </a:p>
        </p:txBody>
      </p:sp>
      <p:sp>
        <p:nvSpPr>
          <p:cNvPr id="8" name="Rounded Rectangle 7"/>
          <p:cNvSpPr/>
          <p:nvPr/>
        </p:nvSpPr>
        <p:spPr>
          <a:xfrm>
            <a:off x="89281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4</a:t>
            </a:r>
          </a:p>
          <a:p>
            <a:pPr algn="l">
              <a:lnSpc>
                <a:spcPct val="115000"/>
              </a:lnSpc>
              <a:spcAft>
                <a:spcPts val="1200"/>
              </a:spcAft>
            </a:pPr>
            <a:r>
              <a:rPr sz="2400" b="1">
                <a:solidFill>
                  <a:srgbClr val="00175A"/>
                </a:solidFill>
                <a:latin typeface="Arial"/>
              </a:rPr>
              <a:t>Depth</a:t>
            </a:r>
          </a:p>
          <a:p>
            <a:pPr algn="l">
              <a:lnSpc>
                <a:spcPct val="115000"/>
              </a:lnSpc>
              <a:spcAft>
                <a:spcPts val="1600"/>
              </a:spcAft>
            </a:pPr>
            <a:r>
              <a:rPr sz="1800" b="0">
                <a:solidFill>
                  <a:srgbClr val="333B47"/>
                </a:solidFill>
                <a:latin typeface="Arial"/>
              </a:rPr>
              <a:t>Look one rung up or two?</a:t>
            </a:r>
          </a:p>
          <a:p>
            <a:pPr algn="l">
              <a:lnSpc>
                <a:spcPct val="115000"/>
              </a:lnSpc>
              <a:spcAft>
                <a:spcPts val="0"/>
              </a:spcAft>
            </a:pPr>
            <a:r>
              <a:rPr sz="1800" b="1">
                <a:solidFill>
                  <a:srgbClr val="006FCF"/>
                </a:solidFill>
                <a:latin typeface="Arial"/>
              </a:rPr>
              <a:t>→ let the data choose</a:t>
            </a:r>
          </a:p>
        </p:txBody>
      </p:sp>
      <p:sp>
        <p:nvSpPr>
          <p:cNvPr id="9" name="TextBox 8"/>
          <p:cNvSpPr txBox="1"/>
          <p:nvPr/>
        </p:nvSpPr>
        <p:spPr>
          <a:xfrm>
            <a:off x="812800" y="5524500"/>
            <a:ext cx="10566400" cy="381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No rule passes the check?  →  always call the team.  Worst case: no savings, never lost accuracy.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1 SIGNAL</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confidence, and why agreement?</a:t>
            </a:r>
          </a:p>
        </p:txBody>
      </p:sp>
      <p:sp>
        <p:nvSpPr>
          <p:cNvPr id="5" name="TextBox 4"/>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A good signal tells right from wrong, and costs far less than the team.</a:t>
            </a:r>
          </a:p>
        </p:txBody>
      </p:sp>
      <p:sp>
        <p:nvSpPr>
          <p:cNvPr id="6" name="Rounded Rectangle 5"/>
          <p:cNvSpPr/>
          <p:nvPr/>
        </p:nvSpPr>
        <p:spPr>
          <a:xfrm>
            <a:off x="8128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Confidence</a:t>
            </a:r>
          </a:p>
          <a:p>
            <a:pPr algn="l">
              <a:lnSpc>
                <a:spcPct val="115000"/>
              </a:lnSpc>
              <a:spcAft>
                <a:spcPts val="0"/>
              </a:spcAft>
            </a:pPr>
            <a:r>
              <a:rPr sz="1800" b="0">
                <a:solidFill>
                  <a:srgbClr val="6B7480"/>
                </a:solidFill>
                <a:latin typeface="Arial"/>
              </a:rPr>
              <a:t>Is the model sure of its answer?</a:t>
            </a:r>
          </a:p>
        </p:txBody>
      </p:sp>
      <p:sp>
        <p:nvSpPr>
          <p:cNvPr id="8" name="TextBox 7"/>
          <p:cNvSpPr txBox="1"/>
          <p:nvPr/>
        </p:nvSpPr>
        <p:spPr>
          <a:xfrm>
            <a:off x="10414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9" name="Rounded Rectangle 8"/>
          <p:cNvSpPr/>
          <p:nvPr/>
        </p:nvSpPr>
        <p:spPr>
          <a:xfrm>
            <a:off x="62992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278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Agreement</a:t>
            </a:r>
          </a:p>
          <a:p>
            <a:pPr algn="l">
              <a:lnSpc>
                <a:spcPct val="115000"/>
              </a:lnSpc>
              <a:spcAft>
                <a:spcPts val="0"/>
              </a:spcAft>
            </a:pPr>
            <a:r>
              <a:rPr sz="1800" b="0">
                <a:solidFill>
                  <a:srgbClr val="6B7480"/>
                </a:solidFill>
                <a:latin typeface="Arial"/>
              </a:rPr>
              <a:t>Do two cheap answers match?</a:t>
            </a:r>
          </a:p>
        </p:txBody>
      </p:sp>
      <p:sp>
        <p:nvSpPr>
          <p:cNvPr id="11" name="TextBox 10"/>
          <p:cNvSpPr txBox="1"/>
          <p:nvPr/>
        </p:nvSpPr>
        <p:spPr>
          <a:xfrm>
            <a:off x="65278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12" name="TextBox 11"/>
          <p:cNvSpPr txBox="1"/>
          <p:nvPr/>
        </p:nvSpPr>
        <p:spPr>
          <a:xfrm>
            <a:off x="1041400" y="320675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Sure</a:t>
            </a:r>
          </a:p>
        </p:txBody>
      </p:sp>
      <p:sp>
        <p:nvSpPr>
          <p:cNvPr id="13" name="TextBox 12"/>
          <p:cNvSpPr txBox="1"/>
          <p:nvPr/>
        </p:nvSpPr>
        <p:spPr>
          <a:xfrm>
            <a:off x="2095500" y="320675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14" name="Rectangle 13"/>
          <p:cNvSpPr/>
          <p:nvPr/>
        </p:nvSpPr>
        <p:spPr>
          <a:xfrm>
            <a:off x="2603500" y="3244850"/>
            <a:ext cx="1828800" cy="152400"/>
          </a:xfrm>
          <a:prstGeom prst="rect">
            <a:avLst/>
          </a:prstGeom>
          <a:solidFill>
            <a:srgbClr val="2F6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320675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0.96</a:t>
            </a:r>
          </a:p>
        </p:txBody>
      </p:sp>
      <p:sp>
        <p:nvSpPr>
          <p:cNvPr id="16" name="TextBox 15"/>
          <p:cNvSpPr txBox="1"/>
          <p:nvPr/>
        </p:nvSpPr>
        <p:spPr>
          <a:xfrm>
            <a:off x="1041400" y="387350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Unsure</a:t>
            </a:r>
          </a:p>
        </p:txBody>
      </p:sp>
      <p:sp>
        <p:nvSpPr>
          <p:cNvPr id="17" name="TextBox 16"/>
          <p:cNvSpPr txBox="1"/>
          <p:nvPr/>
        </p:nvSpPr>
        <p:spPr>
          <a:xfrm>
            <a:off x="2095500" y="38735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1944</a:t>
            </a:r>
          </a:p>
        </p:txBody>
      </p:sp>
      <p:sp>
        <p:nvSpPr>
          <p:cNvPr id="18" name="Rectangle 17"/>
          <p:cNvSpPr/>
          <p:nvPr/>
        </p:nvSpPr>
        <p:spPr>
          <a:xfrm>
            <a:off x="2603500" y="3911600"/>
            <a:ext cx="72390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90900" y="38735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0.38</a:t>
            </a:r>
          </a:p>
        </p:txBody>
      </p:sp>
      <p:sp>
        <p:nvSpPr>
          <p:cNvPr id="20" name="TextBox 19"/>
          <p:cNvSpPr txBox="1"/>
          <p:nvPr/>
        </p:nvSpPr>
        <p:spPr>
          <a:xfrm>
            <a:off x="2095500" y="41148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21" name="Rectangle 20"/>
          <p:cNvSpPr/>
          <p:nvPr/>
        </p:nvSpPr>
        <p:spPr>
          <a:xfrm>
            <a:off x="2603500" y="4152900"/>
            <a:ext cx="6286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95650" y="41148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0.33</a:t>
            </a:r>
          </a:p>
        </p:txBody>
      </p:sp>
      <p:sp>
        <p:nvSpPr>
          <p:cNvPr id="23" name="TextBox 22"/>
          <p:cNvSpPr txBox="1"/>
          <p:nvPr/>
        </p:nvSpPr>
        <p:spPr>
          <a:xfrm>
            <a:off x="2095500" y="43561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1946</a:t>
            </a:r>
          </a:p>
        </p:txBody>
      </p:sp>
      <p:sp>
        <p:nvSpPr>
          <p:cNvPr id="24" name="Rectangle 23"/>
          <p:cNvSpPr/>
          <p:nvPr/>
        </p:nvSpPr>
        <p:spPr>
          <a:xfrm>
            <a:off x="2603500" y="4394200"/>
            <a:ext cx="5524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19450" y="43561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0.29</a:t>
            </a:r>
          </a:p>
        </p:txBody>
      </p:sp>
      <p:sp>
        <p:nvSpPr>
          <p:cNvPr id="26" name="TextBox 25"/>
          <p:cNvSpPr txBox="1"/>
          <p:nvPr/>
        </p:nvSpPr>
        <p:spPr>
          <a:xfrm>
            <a:off x="10414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 model that knows tends to put its probability on </a:t>
            </a:r>
            <a:r>
              <a:rPr sz="1800" b="1">
                <a:solidFill>
                  <a:srgbClr val="333B47"/>
                </a:solidFill>
                <a:latin typeface="Arial"/>
              </a:rPr>
              <a:t>one</a:t>
            </a:r>
            <a:r>
              <a:rPr sz="1800" b="0">
                <a:solidFill>
                  <a:srgbClr val="333B47"/>
                </a:solidFill>
                <a:latin typeface="Arial"/>
              </a:rPr>
              <a:t> answer. An unsure one spreads it.</a:t>
            </a:r>
          </a:p>
        </p:txBody>
      </p:sp>
      <p:sp>
        <p:nvSpPr>
          <p:cNvPr id="27" name="TextBox 26"/>
          <p:cNvSpPr txBox="1"/>
          <p:nvPr/>
        </p:nvSpPr>
        <p:spPr>
          <a:xfrm>
            <a:off x="10414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free, it comes with the answer.</a:t>
            </a:r>
          </a:p>
        </p:txBody>
      </p:sp>
      <p:sp>
        <p:nvSpPr>
          <p:cNvPr id="28" name="TextBox 27"/>
          <p:cNvSpPr txBox="1"/>
          <p:nvPr/>
        </p:nvSpPr>
        <p:spPr>
          <a:xfrm>
            <a:off x="67310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direct answer</a:t>
            </a:r>
          </a:p>
        </p:txBody>
      </p:sp>
      <p:sp>
        <p:nvSpPr>
          <p:cNvPr id="29" name="TextBox 28"/>
          <p:cNvSpPr txBox="1"/>
          <p:nvPr/>
        </p:nvSpPr>
        <p:spPr>
          <a:xfrm>
            <a:off x="80645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single agent</a:t>
            </a:r>
          </a:p>
        </p:txBody>
      </p:sp>
      <p:sp>
        <p:nvSpPr>
          <p:cNvPr id="30" name="Rounded Rectangle 29"/>
          <p:cNvSpPr/>
          <p:nvPr/>
        </p:nvSpPr>
        <p:spPr>
          <a:xfrm>
            <a:off x="67310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1" name="Rounded Rectangle 30"/>
          <p:cNvSpPr/>
          <p:nvPr/>
        </p:nvSpPr>
        <p:spPr>
          <a:xfrm>
            <a:off x="80645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2" name="TextBox 31"/>
          <p:cNvSpPr txBox="1"/>
          <p:nvPr/>
        </p:nvSpPr>
        <p:spPr>
          <a:xfrm>
            <a:off x="9461500" y="352425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2F6B34"/>
                </a:solidFill>
                <a:latin typeface="Arial"/>
              </a:rPr>
              <a:t>agree: likely right</a:t>
            </a:r>
          </a:p>
        </p:txBody>
      </p:sp>
      <p:sp>
        <p:nvSpPr>
          <p:cNvPr id="33" name="Rounded Rectangle 32"/>
          <p:cNvSpPr/>
          <p:nvPr/>
        </p:nvSpPr>
        <p:spPr>
          <a:xfrm>
            <a:off x="67310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1944</a:t>
            </a:r>
          </a:p>
        </p:txBody>
      </p:sp>
      <p:sp>
        <p:nvSpPr>
          <p:cNvPr id="34" name="Rounded Rectangle 33"/>
          <p:cNvSpPr/>
          <p:nvPr/>
        </p:nvSpPr>
        <p:spPr>
          <a:xfrm>
            <a:off x="80645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1946</a:t>
            </a:r>
          </a:p>
        </p:txBody>
      </p:sp>
      <p:sp>
        <p:nvSpPr>
          <p:cNvPr id="35" name="TextBox 34"/>
          <p:cNvSpPr txBox="1"/>
          <p:nvPr/>
        </p:nvSpPr>
        <p:spPr>
          <a:xfrm>
            <a:off x="9461500" y="419100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B03A2E"/>
                </a:solidFill>
                <a:latin typeface="Arial"/>
              </a:rPr>
              <a:t>disagree: doubtful</a:t>
            </a:r>
          </a:p>
        </p:txBody>
      </p:sp>
      <p:sp>
        <p:nvSpPr>
          <p:cNvPr id="36" name="TextBox 35"/>
          <p:cNvSpPr txBox="1"/>
          <p:nvPr/>
        </p:nvSpPr>
        <p:spPr>
          <a:xfrm>
            <a:off x="65278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One right answer, many wrong ones: two tries </a:t>
            </a:r>
            <a:r>
              <a:rPr sz="1800" b="1">
                <a:solidFill>
                  <a:srgbClr val="333B47"/>
                </a:solidFill>
                <a:latin typeface="Arial"/>
              </a:rPr>
              <a:t>rarely</a:t>
            </a:r>
            <a:r>
              <a:rPr sz="1800" b="0">
                <a:solidFill>
                  <a:srgbClr val="333B47"/>
                </a:solidFill>
                <a:latin typeface="Arial"/>
              </a:rPr>
              <a:t> match on a wrong one.</a:t>
            </a:r>
          </a:p>
        </p:txBody>
      </p:sp>
      <p:sp>
        <p:nvSpPr>
          <p:cNvPr id="37" name="TextBox 36"/>
          <p:cNvSpPr txBox="1"/>
          <p:nvPr/>
        </p:nvSpPr>
        <p:spPr>
          <a:xfrm>
            <a:off x="65278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one more cheap call, no log-probs.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1 SIGNAL</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Do they work? Mostly, and they cover each other</a:t>
            </a:r>
          </a:p>
        </p:txBody>
      </p:sp>
      <p:sp>
        <p:nvSpPr>
          <p:cNvPr id="5" name="TextBox 4"/>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Confidence: direct answer accuracy</a:t>
            </a:r>
          </a:p>
        </p:txBody>
      </p:sp>
      <p:pic>
        <p:nvPicPr>
          <p:cNvPr id="6" name="Picture 5" descr="c_sig_conf.png"/>
          <p:cNvPicPr>
            <a:picLocks noChangeAspect="1"/>
          </p:cNvPicPr>
          <p:nvPr/>
        </p:nvPicPr>
        <p:blipFill>
          <a:blip r:embed="rId3"/>
          <a:stretch>
            <a:fillRect/>
          </a:stretch>
        </p:blipFill>
        <p:spPr>
          <a:xfrm>
            <a:off x="1650011" y="2019300"/>
            <a:ext cx="3405577" cy="2349500"/>
          </a:xfrm>
          <a:prstGeom prst="rect">
            <a:avLst/>
          </a:prstGeom>
        </p:spPr>
      </p:pic>
      <p:sp>
        <p:nvSpPr>
          <p:cNvPr id="7" name="TextBox 6"/>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Agreement: single agent accuracy</a:t>
            </a:r>
          </a:p>
        </p:txBody>
      </p:sp>
      <p:pic>
        <p:nvPicPr>
          <p:cNvPr id="8" name="Picture 7" descr="c_sig_agree.png"/>
          <p:cNvPicPr>
            <a:picLocks noChangeAspect="1"/>
          </p:cNvPicPr>
          <p:nvPr/>
        </p:nvPicPr>
        <p:blipFill>
          <a:blip r:embed="rId4"/>
          <a:stretch>
            <a:fillRect/>
          </a:stretch>
        </p:blipFill>
        <p:spPr>
          <a:xfrm>
            <a:off x="7136411" y="2019300"/>
            <a:ext cx="3405577" cy="2349500"/>
          </a:xfrm>
          <a:prstGeom prst="rect">
            <a:avLst/>
          </a:prstGeom>
        </p:spPr>
      </p:pic>
      <p:sp>
        <p:nvSpPr>
          <p:cNvPr id="9" name="TextBox 8"/>
          <p:cNvSpPr txBox="1"/>
          <p:nvPr/>
        </p:nvSpPr>
        <p:spPr>
          <a:xfrm>
            <a:off x="8128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B03A2E"/>
                </a:solidFill>
                <a:latin typeface="Arial"/>
              </a:rPr>
              <a:t>Backwards on 3 (Gemma).</a:t>
            </a:r>
          </a:p>
        </p:txBody>
      </p:sp>
      <p:sp>
        <p:nvSpPr>
          <p:cNvPr id="10" name="TextBox 9"/>
          <p:cNvSpPr txBox="1"/>
          <p:nvPr/>
        </p:nvSpPr>
        <p:spPr>
          <a:xfrm>
            <a:off x="62992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2F6B34"/>
                </a:solidFill>
                <a:latin typeface="Arial"/>
              </a:rPr>
              <a:t>including those 3.</a:t>
            </a:r>
          </a:p>
        </p:txBody>
      </p:sp>
      <p:sp>
        <p:nvSpPr>
          <p:cNvPr id="11" name="TextBox 10"/>
          <p:cNvSpPr txBox="1"/>
          <p:nvPr/>
        </p:nvSpPr>
        <p:spPr>
          <a:xfrm>
            <a:off x="812800" y="4749800"/>
            <a:ext cx="10566400" cy="254000"/>
          </a:xfrm>
          <a:prstGeom prst="rect">
            <a:avLst/>
          </a:prstGeom>
          <a:noFill/>
        </p:spPr>
        <p:txBody>
          <a:bodyPr wrap="square" lIns="0" rIns="0" tIns="0" bIns="0" anchor="t">
            <a:spAutoFit/>
          </a:bodyPr>
          <a:lstStyle/>
          <a:p>
            <a:pPr algn="l">
              <a:lnSpc>
                <a:spcPct val="115000"/>
              </a:lnSpc>
              <a:spcAft>
                <a:spcPts val="0"/>
              </a:spcAft>
            </a:pPr>
            <a:r>
              <a:rPr sz="1900" b="1">
                <a:solidFill>
                  <a:srgbClr val="00175A"/>
                </a:solidFill>
                <a:latin typeface="Arial"/>
              </a:rPr>
              <a:t>When confidence is backwards, CLIMB still holds:</a:t>
            </a:r>
          </a:p>
        </p:txBody>
      </p:sp>
      <p:sp>
        <p:nvSpPr>
          <p:cNvPr id="12" name="Rounded Rectangle 11"/>
          <p:cNvSpPr/>
          <p:nvPr/>
        </p:nvSpPr>
        <p:spPr>
          <a:xfrm>
            <a:off x="8128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1  Agreement first</a:t>
            </a:r>
          </a:p>
          <a:p>
            <a:pPr algn="l">
              <a:lnSpc>
                <a:spcPct val="115000"/>
              </a:lnSpc>
              <a:spcAft>
                <a:spcPts val="0"/>
              </a:spcAft>
            </a:pPr>
            <a:r>
              <a:rPr sz="1500" b="0">
                <a:solidFill>
                  <a:srgbClr val="F6F8FB"/>
                </a:solidFill>
                <a:latin typeface="Arial"/>
              </a:rPr>
              <a:t>Option B ranks by agreement. Confidence only breaks ties.</a:t>
            </a:r>
          </a:p>
        </p:txBody>
      </p:sp>
      <p:sp>
        <p:nvSpPr>
          <p:cNvPr id="13" name="Rounded Rectangle 12"/>
          <p:cNvSpPr/>
          <p:nvPr/>
        </p:nvSpPr>
        <p:spPr>
          <a:xfrm>
            <a:off x="44069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2  The check catches it</a:t>
            </a:r>
          </a:p>
          <a:p>
            <a:pPr algn="l">
              <a:lnSpc>
                <a:spcPct val="115000"/>
              </a:lnSpc>
              <a:spcAft>
                <a:spcPts val="0"/>
              </a:spcAft>
            </a:pPr>
            <a:r>
              <a:rPr sz="1500" b="0">
                <a:solidFill>
                  <a:srgbClr val="F6F8FB"/>
                </a:solidFill>
                <a:latin typeface="Arial"/>
              </a:rPr>
              <a:t>A backwards score fails the test early. It is not deployed.</a:t>
            </a:r>
          </a:p>
        </p:txBody>
      </p:sp>
      <p:sp>
        <p:nvSpPr>
          <p:cNvPr id="14" name="Rounded Rectangle 13"/>
          <p:cNvSpPr/>
          <p:nvPr/>
        </p:nvSpPr>
        <p:spPr>
          <a:xfrm>
            <a:off x="80010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3  Worst case: the team</a:t>
            </a:r>
          </a:p>
          <a:p>
            <a:pPr algn="l">
              <a:lnSpc>
                <a:spcPct val="115000"/>
              </a:lnSpc>
              <a:spcAft>
                <a:spcPts val="0"/>
              </a:spcAft>
            </a:pPr>
            <a:r>
              <a:rPr sz="1500" b="0">
                <a:solidFill>
                  <a:srgbClr val="F6F8FB"/>
                </a:solidFill>
                <a:latin typeface="Arial"/>
              </a:rPr>
              <a:t>Less saving, no lost accuracy. Gemma: 69–96% of tokens.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2 RULE</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Where to draw the line? Guessing can go badly</a:t>
            </a:r>
          </a:p>
        </p:txBody>
      </p:sp>
      <p:pic>
        <p:nvPicPr>
          <p:cNvPr id="5" name="Picture 4" descr="c_maxloss.png"/>
          <p:cNvPicPr>
            <a:picLocks noChangeAspect="1"/>
          </p:cNvPicPr>
          <p:nvPr/>
        </p:nvPicPr>
        <p:blipFill>
          <a:blip r:embed="rId3"/>
          <a:stretch>
            <a:fillRect/>
          </a:stretch>
        </p:blipFill>
        <p:spPr>
          <a:xfrm>
            <a:off x="812800" y="2379642"/>
            <a:ext cx="7302500" cy="29877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33B47"/>
                </a:solidFill>
                <a:latin typeface="Arial"/>
              </a:rPr>
              <a:t>lost by a hand-picked threshold on one setting</a:t>
            </a:r>
          </a:p>
        </p:txBody>
      </p:sp>
      <p:sp>
        <p:nvSpPr>
          <p:cNvPr id="7" name="TextBox 6"/>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Nothing at deployment says which setting will go wrong.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11</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Replace guessing with a promise</a:t>
            </a:r>
          </a:p>
        </p:txBody>
      </p:sp>
      <p:sp>
        <p:nvSpPr>
          <p:cNvPr id="5" name="Rounded Rectangle 4"/>
          <p:cNvSpPr/>
          <p:nvPr/>
        </p:nvSpPr>
        <p:spPr>
          <a:xfrm>
            <a:off x="812800" y="2095500"/>
            <a:ext cx="3111500" cy="2032000"/>
          </a:xfrm>
          <a:prstGeom prst="roundRect">
            <a:avLst>
              <a:gd name="adj" fmla="val 5625"/>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006FCF"/>
                </a:solidFill>
                <a:latin typeface="Arial"/>
              </a:rPr>
              <a:t>You choose</a:t>
            </a:r>
          </a:p>
          <a:p>
            <a:pPr algn="ctr">
              <a:lnSpc>
                <a:spcPct val="115000"/>
              </a:lnSpc>
              <a:spcAft>
                <a:spcPts val="0"/>
              </a:spcAft>
            </a:pPr>
            <a:r>
              <a:rPr sz="1900" b="0">
                <a:solidFill>
                  <a:srgbClr val="00175A"/>
                </a:solidFill>
                <a:latin typeface="Arial"/>
              </a:rPr>
              <a:t>“I can lose at most 5 points of accuracy”</a:t>
            </a:r>
          </a:p>
        </p:txBody>
      </p:sp>
      <p:sp>
        <p:nvSpPr>
          <p:cNvPr id="6" name="Right Arrow 5"/>
          <p:cNvSpPr/>
          <p:nvPr/>
        </p:nvSpPr>
        <p:spPr>
          <a:xfrm>
            <a:off x="4000500" y="2857500"/>
            <a:ext cx="482600" cy="381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9300" y="2095500"/>
            <a:ext cx="3111500" cy="2032000"/>
          </a:xfrm>
          <a:prstGeom prst="roundRect">
            <a:avLst>
              <a:gd name="adj" fmla="val 5625"/>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66B2F0"/>
                </a:solidFill>
                <a:latin typeface="Arial"/>
              </a:rPr>
              <a:t>CLIMB checks</a:t>
            </a:r>
          </a:p>
          <a:p>
            <a:pPr algn="ctr">
              <a:lnSpc>
                <a:spcPct val="115000"/>
              </a:lnSpc>
              <a:spcAft>
                <a:spcPts val="0"/>
              </a:spcAft>
            </a:pPr>
            <a:r>
              <a:rPr sz="1900" b="0">
                <a:solidFill>
                  <a:srgbClr val="F6F8FB"/>
                </a:solidFill>
                <a:latin typeface="Arial"/>
              </a:rPr>
              <a:t>candidate rules on a few hundred labelled tasks</a:t>
            </a:r>
          </a:p>
        </p:txBody>
      </p:sp>
      <p:sp>
        <p:nvSpPr>
          <p:cNvPr id="8" name="Right Arrow 7"/>
          <p:cNvSpPr/>
          <p:nvPr/>
        </p:nvSpPr>
        <p:spPr>
          <a:xfrm>
            <a:off x="7747000" y="2857500"/>
            <a:ext cx="482600" cy="381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305800" y="2095500"/>
            <a:ext cx="3111500" cy="2032000"/>
          </a:xfrm>
          <a:prstGeom prst="roundRect">
            <a:avLst>
              <a:gd name="adj" fmla="val 5625"/>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2F6B34"/>
                </a:solidFill>
                <a:latin typeface="Arial"/>
              </a:rPr>
              <a:t>You get</a:t>
            </a:r>
          </a:p>
          <a:p>
            <a:pPr algn="ctr">
              <a:lnSpc>
                <a:spcPct val="115000"/>
              </a:lnSpc>
              <a:spcAft>
                <a:spcPts val="0"/>
              </a:spcAft>
            </a:pPr>
            <a:r>
              <a:rPr sz="1900" b="0">
                <a:solidFill>
                  <a:srgbClr val="00175A"/>
                </a:solidFill>
                <a:latin typeface="Arial"/>
              </a:rPr>
              <a:t>the cheapest rule that keeps the promise, 9 times out of 10</a:t>
            </a:r>
          </a:p>
        </p:txBody>
      </p:sp>
      <p:sp>
        <p:nvSpPr>
          <p:cNvPr id="10" name="Rounded Rectangle 9"/>
          <p:cNvSpPr/>
          <p:nvPr/>
        </p:nvSpPr>
        <p:spPr>
          <a:xfrm>
            <a:off x="812800" y="4572000"/>
            <a:ext cx="105664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000" b="1">
                <a:solidFill>
                  <a:srgbClr val="00175A"/>
                </a:solidFill>
                <a:latin typeface="Arial"/>
              </a:rPr>
              <a:t>No cheaper rule passes?  →  call the team every time.  Worst case: no savings, not lost accuracy.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Each test is a betting game</a:t>
            </a:r>
          </a:p>
        </p:txBody>
      </p:sp>
      <p:pic>
        <p:nvPicPr>
          <p:cNvPr id="5" name="Picture 4" descr="c_wealth.png"/>
          <p:cNvPicPr>
            <a:picLocks noChangeAspect="1"/>
          </p:cNvPicPr>
          <p:nvPr/>
        </p:nvPicPr>
        <p:blipFill>
          <a:blip r:embed="rId3"/>
          <a:stretch>
            <a:fillRect/>
          </a:stretch>
        </p:blipFill>
        <p:spPr>
          <a:xfrm>
            <a:off x="812800" y="1915559"/>
            <a:ext cx="6985000" cy="3788881"/>
          </a:xfrm>
          <a:prstGeom prst="rect">
            <a:avLst/>
          </a:prstGeom>
        </p:spPr>
      </p:pic>
      <p:sp>
        <p:nvSpPr>
          <p:cNvPr id="6" name="Oval 5"/>
          <p:cNvSpPr/>
          <p:nvPr/>
        </p:nvSpPr>
        <p:spPr>
          <a:xfrm>
            <a:off x="8191500" y="1841500"/>
            <a:ext cx="444500" cy="4445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6F8FB"/>
                </a:solidFill>
                <a:latin typeface="Arial"/>
              </a:rPr>
              <a:t>1</a:t>
            </a:r>
          </a:p>
        </p:txBody>
      </p:sp>
      <p:sp>
        <p:nvSpPr>
          <p:cNvPr id="7" name="TextBox 6"/>
          <p:cNvSpPr txBox="1"/>
          <p:nvPr/>
        </p:nvSpPr>
        <p:spPr>
          <a:xfrm>
            <a:off x="8794750" y="1866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33B47"/>
                </a:solidFill>
                <a:latin typeface="Arial"/>
              </a:rPr>
              <a:t>Start with $1.</a:t>
            </a:r>
          </a:p>
        </p:txBody>
      </p:sp>
      <p:sp>
        <p:nvSpPr>
          <p:cNvPr id="8" name="Oval 7"/>
          <p:cNvSpPr/>
          <p:nvPr/>
        </p:nvSpPr>
        <p:spPr>
          <a:xfrm>
            <a:off x="8191500" y="2921000"/>
            <a:ext cx="444500" cy="4445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6F8FB"/>
                </a:solidFill>
                <a:latin typeface="Arial"/>
              </a:rPr>
              <a:t>2</a:t>
            </a:r>
          </a:p>
        </p:txBody>
      </p:sp>
      <p:sp>
        <p:nvSpPr>
          <p:cNvPr id="9" name="TextBox 8"/>
          <p:cNvSpPr txBox="1"/>
          <p:nvPr/>
        </p:nvSpPr>
        <p:spPr>
          <a:xfrm>
            <a:off x="8794750" y="2946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33B47"/>
                </a:solidFill>
                <a:latin typeface="Arial"/>
              </a:rPr>
              <a:t>Same as the team: win a little.</a:t>
            </a:r>
          </a:p>
        </p:txBody>
      </p:sp>
      <p:sp>
        <p:nvSpPr>
          <p:cNvPr id="10" name="Oval 9"/>
          <p:cNvSpPr/>
          <p:nvPr/>
        </p:nvSpPr>
        <p:spPr>
          <a:xfrm>
            <a:off x="8191500" y="4000500"/>
            <a:ext cx="444500" cy="4445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6F8FB"/>
                </a:solidFill>
                <a:latin typeface="Arial"/>
              </a:rPr>
              <a:t>3</a:t>
            </a:r>
          </a:p>
        </p:txBody>
      </p:sp>
      <p:sp>
        <p:nvSpPr>
          <p:cNvPr id="11" name="TextBox 10"/>
          <p:cNvSpPr txBox="1"/>
          <p:nvPr/>
        </p:nvSpPr>
        <p:spPr>
          <a:xfrm>
            <a:off x="8794750" y="4025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33B47"/>
                </a:solidFill>
                <a:latin typeface="Arial"/>
              </a:rPr>
              <a:t>Lost answer: lose a lot. Saved: win a lot.</a:t>
            </a:r>
          </a:p>
        </p:txBody>
      </p:sp>
      <p:sp>
        <p:nvSpPr>
          <p:cNvPr id="12" name="Oval 11"/>
          <p:cNvSpPr/>
          <p:nvPr/>
        </p:nvSpPr>
        <p:spPr>
          <a:xfrm>
            <a:off x="8191500" y="5080000"/>
            <a:ext cx="444500" cy="4445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6F8FB"/>
                </a:solidFill>
                <a:latin typeface="Arial"/>
              </a:rPr>
              <a:t>4</a:t>
            </a:r>
          </a:p>
        </p:txBody>
      </p:sp>
      <p:sp>
        <p:nvSpPr>
          <p:cNvPr id="13" name="TextBox 12"/>
          <p:cNvSpPr txBox="1"/>
          <p:nvPr/>
        </p:nvSpPr>
        <p:spPr>
          <a:xfrm>
            <a:off x="8794750" y="5105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33B47"/>
                </a:solidFill>
                <a:latin typeface="Arial"/>
              </a:rPr>
              <a:t>Reach $20: the rule passes.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$20? A bad rule rarely gets there</a:t>
            </a:r>
          </a:p>
        </p:txBody>
      </p:sp>
      <p:sp>
        <p:nvSpPr>
          <p:cNvPr id="5" name="Rounded Rectangle 4"/>
          <p:cNvSpPr/>
          <p:nvPr/>
        </p:nvSpPr>
        <p:spPr>
          <a:xfrm>
            <a:off x="812800" y="1778000"/>
            <a:ext cx="31115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B03A2E"/>
                </a:solidFill>
                <a:latin typeface="Arial"/>
              </a:rPr>
              <a:t>Bad rule</a:t>
            </a:r>
          </a:p>
          <a:p>
            <a:pPr algn="ctr">
              <a:lnSpc>
                <a:spcPct val="115000"/>
              </a:lnSpc>
              <a:spcAft>
                <a:spcPts val="0"/>
              </a:spcAft>
            </a:pPr>
            <a:r>
              <a:rPr sz="1800" b="0">
                <a:solidFill>
                  <a:srgbClr val="333B47"/>
                </a:solidFill>
                <a:latin typeface="Arial"/>
              </a:rPr>
              <a:t>each bet loses on average</a:t>
            </a:r>
          </a:p>
        </p:txBody>
      </p:sp>
      <p:sp>
        <p:nvSpPr>
          <p:cNvPr id="6" name="Right Arrow 5"/>
          <p:cNvSpPr/>
          <p:nvPr/>
        </p:nvSpPr>
        <p:spPr>
          <a:xfrm>
            <a:off x="398780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46405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Average ≤ $1</a:t>
            </a:r>
          </a:p>
          <a:p>
            <a:pPr algn="ctr">
              <a:lnSpc>
                <a:spcPct val="115000"/>
              </a:lnSpc>
              <a:spcAft>
                <a:spcPts val="0"/>
              </a:spcAft>
            </a:pPr>
            <a:r>
              <a:rPr sz="1800" b="0">
                <a:solidFill>
                  <a:srgbClr val="333B47"/>
                </a:solidFill>
                <a:latin typeface="Arial"/>
              </a:rPr>
              <a:t>starts at $1, never grows on average</a:t>
            </a:r>
          </a:p>
        </p:txBody>
      </p:sp>
      <p:sp>
        <p:nvSpPr>
          <p:cNvPr id="8" name="Right Arrow 7"/>
          <p:cNvSpPr/>
          <p:nvPr/>
        </p:nvSpPr>
        <p:spPr>
          <a:xfrm>
            <a:off x="763905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11530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Never below $0</a:t>
            </a:r>
          </a:p>
          <a:p>
            <a:pPr algn="ctr">
              <a:lnSpc>
                <a:spcPct val="115000"/>
              </a:lnSpc>
              <a:spcAft>
                <a:spcPts val="0"/>
              </a:spcAft>
            </a:pPr>
            <a:r>
              <a:rPr sz="1800" b="0">
                <a:solidFill>
                  <a:srgbClr val="333B47"/>
                </a:solidFill>
                <a:latin typeface="Arial"/>
              </a:rPr>
              <a:t>a lost answer at most halves it</a:t>
            </a:r>
          </a:p>
        </p:txBody>
      </p:sp>
      <p:sp>
        <p:nvSpPr>
          <p:cNvPr id="10" name="Rounded Rectangle 9"/>
          <p:cNvSpPr/>
          <p:nvPr/>
        </p:nvSpPr>
        <p:spPr>
          <a:xfrm>
            <a:off x="812800" y="3492500"/>
            <a:ext cx="10566400" cy="1270000"/>
          </a:xfrm>
          <a:prstGeom prst="roundRect">
            <a:avLst>
              <a:gd name="adj" fmla="val 9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3600" b="1">
                <a:solidFill>
                  <a:srgbClr val="F6F8FB"/>
                </a:solidFill>
                <a:latin typeface="Georgia"/>
              </a:rPr>
              <a:t>1  ≥  average wealth  ≥  20 × P(reach $20)</a:t>
            </a:r>
          </a:p>
          <a:p>
            <a:pPr algn="ctr">
              <a:lnSpc>
                <a:spcPct val="115000"/>
              </a:lnSpc>
              <a:spcAft>
                <a:spcPts val="0"/>
              </a:spcAft>
            </a:pPr>
            <a:r>
              <a:rPr sz="2800" b="1">
                <a:solidFill>
                  <a:srgbClr val="F6F8FB"/>
                </a:solidFill>
                <a:latin typeface="Arial"/>
              </a:rPr>
              <a:t>so  </a:t>
            </a:r>
            <a:r>
              <a:rPr sz="2800" b="1">
                <a:solidFill>
                  <a:srgbClr val="66B2F0"/>
                </a:solidFill>
                <a:latin typeface="Arial"/>
              </a:rPr>
              <a:t>P(a bad rule passes)  ≤  1/20  =  5%</a:t>
            </a:r>
          </a:p>
        </p:txBody>
      </p:sp>
      <p:sp>
        <p:nvSpPr>
          <p:cNvPr id="11" name="Rounded Rectangle 10"/>
          <p:cNvSpPr/>
          <p:nvPr/>
        </p:nvSpPr>
        <p:spPr>
          <a:xfrm>
            <a:off x="8128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The line sets the error</a:t>
            </a:r>
          </a:p>
          <a:p>
            <a:pPr algn="l">
              <a:lnSpc>
                <a:spcPct val="115000"/>
              </a:lnSpc>
              <a:spcAft>
                <a:spcPts val="0"/>
              </a:spcAft>
            </a:pPr>
            <a:r>
              <a:rPr sz="1800" b="0">
                <a:solidFill>
                  <a:srgbClr val="6B7480"/>
                </a:solidFill>
                <a:latin typeface="Arial"/>
              </a:rPr>
              <a:t>$20 → 5%,  $100 → 1%. Two families × 5% = 10%.</a:t>
            </a:r>
          </a:p>
        </p:txBody>
      </p:sp>
      <p:sp>
        <p:nvSpPr>
          <p:cNvPr id="12" name="Rounded Rectangle 11"/>
          <p:cNvSpPr/>
          <p:nvPr/>
        </p:nvSpPr>
        <p:spPr>
          <a:xfrm>
            <a:off x="62992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Hit $20, then dropped? Still a pass</a:t>
            </a:r>
          </a:p>
          <a:p>
            <a:pPr algn="l">
              <a:lnSpc>
                <a:spcPct val="115000"/>
              </a:lnSpc>
              <a:spcAft>
                <a:spcPts val="0"/>
              </a:spcAft>
            </a:pPr>
            <a:r>
              <a:rPr sz="1800" b="0">
                <a:solidFill>
                  <a:srgbClr val="6B7480"/>
                </a:solidFill>
                <a:latin typeface="Arial"/>
              </a:rPr>
              <a:t>Freeze the money at $20: the average stays ≤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Many rules: test from safe to risky</a:t>
            </a:r>
          </a:p>
        </p:txBody>
      </p:sp>
      <p:pic>
        <p:nvPicPr>
          <p:cNvPr id="5" name="Picture 4" descr="c_sweep.png"/>
          <p:cNvPicPr>
            <a:picLocks noChangeAspect="1"/>
          </p:cNvPicPr>
          <p:nvPr/>
        </p:nvPicPr>
        <p:blipFill>
          <a:blip r:embed="rId3"/>
          <a:stretch>
            <a:fillRect/>
          </a:stretch>
        </p:blipFill>
        <p:spPr>
          <a:xfrm>
            <a:off x="2179492" y="1587500"/>
            <a:ext cx="7833014" cy="4445000"/>
          </a:xfrm>
          <a:prstGeom prst="rect">
            <a:avLst/>
          </a:prstGeom>
        </p:spPr>
      </p:pic>
      <p:sp>
        <p:nvSpPr>
          <p:cNvPr id="6" name="TextBox 5"/>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gpt-oss-120b on MuSiQue, option A (direct answer’s confidence), one calibration half.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Count the answers skipping saves, too</a:t>
            </a:r>
          </a:p>
        </p:txBody>
      </p:sp>
      <p:sp>
        <p:nvSpPr>
          <p:cNvPr id="5" name="Rounded Rectangle 4"/>
          <p:cNvSpPr/>
          <p:nvPr/>
        </p:nvSpPr>
        <p:spPr>
          <a:xfrm>
            <a:off x="812800" y="1841500"/>
            <a:ext cx="3810000" cy="1016000"/>
          </a:xfrm>
          <a:prstGeom prst="roundRect">
            <a:avLst>
              <a:gd name="adj" fmla="val 10000"/>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00175A"/>
                </a:solidFill>
                <a:latin typeface="Arial"/>
              </a:rPr>
              <a:t>Cheap wrong, team right</a:t>
            </a:r>
          </a:p>
          <a:p>
            <a:pPr algn="ctr">
              <a:lnSpc>
                <a:spcPct val="115000"/>
              </a:lnSpc>
              <a:spcAft>
                <a:spcPts val="0"/>
              </a:spcAft>
            </a:pPr>
            <a:r>
              <a:rPr sz="2000" b="1">
                <a:solidFill>
                  <a:srgbClr val="B03A2E"/>
                </a:solidFill>
                <a:latin typeface="Arial"/>
              </a:rPr>
              <a:t>lose a point</a:t>
            </a:r>
          </a:p>
        </p:txBody>
      </p:sp>
      <p:sp>
        <p:nvSpPr>
          <p:cNvPr id="6" name="Rounded Rectangle 5"/>
          <p:cNvSpPr/>
          <p:nvPr/>
        </p:nvSpPr>
        <p:spPr>
          <a:xfrm>
            <a:off x="812800" y="3048000"/>
            <a:ext cx="3810000" cy="1016000"/>
          </a:xfrm>
          <a:prstGeom prst="roundRect">
            <a:avLst>
              <a:gd name="adj" fmla="val 10000"/>
            </a:avLst>
          </a:prstGeom>
          <a:solidFill>
            <a:srgbClr val="E9EEF5"/>
          </a:solidFill>
          <a:ln w="31750">
            <a:solidFill>
              <a:srgbClr val="6B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00175A"/>
                </a:solidFill>
                <a:latin typeface="Arial"/>
              </a:rPr>
              <a:t>Same result</a:t>
            </a:r>
          </a:p>
          <a:p>
            <a:pPr algn="ctr">
              <a:lnSpc>
                <a:spcPct val="115000"/>
              </a:lnSpc>
              <a:spcAft>
                <a:spcPts val="0"/>
              </a:spcAft>
            </a:pPr>
            <a:r>
              <a:rPr sz="2000" b="1">
                <a:solidFill>
                  <a:srgbClr val="6B7480"/>
                </a:solidFill>
                <a:latin typeface="Arial"/>
              </a:rPr>
              <a:t>no change (most tasks)</a:t>
            </a:r>
          </a:p>
        </p:txBody>
      </p:sp>
      <p:sp>
        <p:nvSpPr>
          <p:cNvPr id="7" name="Rounded Rectangle 6"/>
          <p:cNvSpPr/>
          <p:nvPr/>
        </p:nvSpPr>
        <p:spPr>
          <a:xfrm>
            <a:off x="812800" y="4254500"/>
            <a:ext cx="3810000" cy="1016000"/>
          </a:xfrm>
          <a:prstGeom prst="roundRect">
            <a:avLst>
              <a:gd name="adj" fmla="val 10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00175A"/>
                </a:solidFill>
                <a:latin typeface="Arial"/>
              </a:rPr>
              <a:t>Cheap right, team wrong</a:t>
            </a:r>
          </a:p>
          <a:p>
            <a:pPr algn="ctr">
              <a:lnSpc>
                <a:spcPct val="115000"/>
              </a:lnSpc>
              <a:spcAft>
                <a:spcPts val="0"/>
              </a:spcAft>
            </a:pPr>
            <a:r>
              <a:rPr sz="2000" b="1">
                <a:solidFill>
                  <a:srgbClr val="2F6B34"/>
                </a:solidFill>
                <a:latin typeface="Arial"/>
              </a:rPr>
              <a:t>save a point</a:t>
            </a:r>
          </a:p>
        </p:txBody>
      </p:sp>
      <p:pic>
        <p:nvPicPr>
          <p:cNvPr id="8" name="Picture 7" descr="c_tests.png"/>
          <p:cNvPicPr>
            <a:picLocks noChangeAspect="1"/>
          </p:cNvPicPr>
          <p:nvPr/>
        </p:nvPicPr>
        <p:blipFill>
          <a:blip r:embed="rId3"/>
          <a:stretch>
            <a:fillRect/>
          </a:stretch>
        </p:blipFill>
        <p:spPr>
          <a:xfrm>
            <a:off x="5016500" y="2322816"/>
            <a:ext cx="6362700" cy="2466366"/>
          </a:xfrm>
          <a:prstGeom prst="rect">
            <a:avLst/>
          </a:prstGeom>
        </p:spPr>
      </p:pic>
      <p:sp>
        <p:nvSpPr>
          <p:cNvPr id="9" name="TextBox 8"/>
          <p:cNvSpPr txBox="1"/>
          <p:nvPr/>
        </p:nvSpPr>
        <p:spPr>
          <a:xfrm>
            <a:off x="5016500" y="5334000"/>
            <a:ext cx="6362700" cy="508000"/>
          </a:xfrm>
          <a:prstGeom prst="rect">
            <a:avLst/>
          </a:prstGeom>
          <a:noFill/>
        </p:spPr>
        <p:txBody>
          <a:bodyPr wrap="square" lIns="0" rIns="0" tIns="0" bIns="0" anchor="t">
            <a:spAutoFit/>
          </a:bodyPr>
          <a:lstStyle/>
          <a:p>
            <a:pPr algn="l">
              <a:lnSpc>
                <a:spcPct val="115000"/>
              </a:lnSpc>
              <a:spcAft>
                <a:spcPts val="0"/>
              </a:spcAft>
            </a:pPr>
            <a:r>
              <a:rPr sz="1700" b="0">
                <a:solidFill>
                  <a:srgbClr val="6B7480"/>
                </a:solidFill>
                <a:latin typeface="Arial"/>
              </a:rPr>
              <a:t>Tokens each valid test can certify at ε = 5. Lower is better.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4 DEPTH</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One rung or two? The data decides</a:t>
            </a:r>
          </a:p>
        </p:txBody>
      </p:sp>
      <p:sp>
        <p:nvSpPr>
          <p:cNvPr id="5" name="TextBox 4"/>
          <p:cNvSpPr txBox="1"/>
          <p:nvPr/>
        </p:nvSpPr>
        <p:spPr>
          <a:xfrm>
            <a:off x="812800" y="1778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A: one rung</a:t>
            </a:r>
          </a:p>
        </p:txBody>
      </p:sp>
      <p:sp>
        <p:nvSpPr>
          <p:cNvPr id="6" name="Rounded Rectangle 5"/>
          <p:cNvSpPr/>
          <p:nvPr/>
        </p:nvSpPr>
        <p:spPr>
          <a:xfrm>
            <a:off x="812800" y="2159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a:t>
            </a:r>
          </a:p>
        </p:txBody>
      </p:sp>
      <p:sp>
        <p:nvSpPr>
          <p:cNvPr id="7" name="Right Arrow 6"/>
          <p:cNvSpPr/>
          <p:nvPr/>
        </p:nvSpPr>
        <p:spPr>
          <a:xfrm>
            <a:off x="3556000" y="2476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095750" y="2159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confident? stop</a:t>
            </a:r>
          </a:p>
        </p:txBody>
      </p:sp>
      <p:sp>
        <p:nvSpPr>
          <p:cNvPr id="9" name="TextBox 8"/>
          <p:cNvSpPr txBox="1"/>
          <p:nvPr/>
        </p:nvSpPr>
        <p:spPr>
          <a:xfrm>
            <a:off x="6889750" y="2444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0" name="TextBox 9"/>
          <p:cNvSpPr txBox="1"/>
          <p:nvPr/>
        </p:nvSpPr>
        <p:spPr>
          <a:xfrm>
            <a:off x="812800" y="3429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B: two rungs</a:t>
            </a:r>
          </a:p>
        </p:txBody>
      </p:sp>
      <p:sp>
        <p:nvSpPr>
          <p:cNvPr id="11" name="Rounded Rectangle 10"/>
          <p:cNvSpPr/>
          <p:nvPr/>
        </p:nvSpPr>
        <p:spPr>
          <a:xfrm>
            <a:off x="812800" y="3810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 + single agent</a:t>
            </a:r>
          </a:p>
        </p:txBody>
      </p:sp>
      <p:sp>
        <p:nvSpPr>
          <p:cNvPr id="12" name="Right Arrow 11"/>
          <p:cNvSpPr/>
          <p:nvPr/>
        </p:nvSpPr>
        <p:spPr>
          <a:xfrm>
            <a:off x="3556000" y="4127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095750" y="3810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agree and confident? stop</a:t>
            </a:r>
          </a:p>
        </p:txBody>
      </p:sp>
      <p:sp>
        <p:nvSpPr>
          <p:cNvPr id="14" name="TextBox 13"/>
          <p:cNvSpPr txBox="1"/>
          <p:nvPr/>
        </p:nvSpPr>
        <p:spPr>
          <a:xfrm>
            <a:off x="6889750" y="4095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5" name="Rounded Rectangle 14"/>
          <p:cNvSpPr/>
          <p:nvPr/>
        </p:nvSpPr>
        <p:spPr>
          <a:xfrm>
            <a:off x="8763000" y="1905000"/>
            <a:ext cx="2616200" cy="3175000"/>
          </a:xfrm>
          <a:prstGeom prst="roundRect">
            <a:avLst>
              <a:gd name="adj" fmla="val 4368"/>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77800" bIns="177800"/>
          <a:lstStyle/>
          <a:p>
            <a:pPr algn="l">
              <a:lnSpc>
                <a:spcPct val="115000"/>
              </a:lnSpc>
              <a:spcAft>
                <a:spcPts val="1200"/>
              </a:spcAft>
            </a:pPr>
            <a:r>
              <a:rPr sz="2400" b="1">
                <a:solidFill>
                  <a:srgbClr val="66B2F0"/>
                </a:solidFill>
                <a:latin typeface="Arial"/>
              </a:rPr>
              <a:t>Check both</a:t>
            </a:r>
          </a:p>
          <a:p>
            <a:pPr algn="l">
              <a:lnSpc>
                <a:spcPct val="115000"/>
              </a:lnSpc>
              <a:spcAft>
                <a:spcPts val="1200"/>
              </a:spcAft>
            </a:pPr>
            <a:r>
              <a:rPr sz="1800" b="0">
                <a:solidFill>
                  <a:srgbClr val="F6F8FB"/>
                </a:solidFill>
                <a:latin typeface="Arial"/>
              </a:rPr>
              <a:t>on calibration data, then deploy the cheaper one that passes.</a:t>
            </a:r>
          </a:p>
          <a:p>
            <a:pPr algn="l">
              <a:lnSpc>
                <a:spcPct val="115000"/>
              </a:lnSpc>
              <a:spcAft>
                <a:spcPts val="0"/>
              </a:spcAft>
            </a:pPr>
            <a:r>
              <a:rPr sz="1800" b="0">
                <a:solidFill>
                  <a:srgbClr val="C3D3EC"/>
                </a:solidFill>
                <a:latin typeface="Arial"/>
              </a:rPr>
              <a:t>Neither passes? Always call the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EXPERIMENTS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3 models × 4 benchmarks = 12 settings</a:t>
            </a:r>
          </a:p>
        </p:txBody>
      </p:sp>
      <p:sp>
        <p:nvSpPr>
          <p:cNvPr id="5" name="TextBox 4"/>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MATH</a:t>
            </a:r>
          </a:p>
          <a:p>
            <a:pPr algn="ctr">
              <a:lnSpc>
                <a:spcPct val="115000"/>
              </a:lnSpc>
              <a:spcAft>
                <a:spcPts val="0"/>
              </a:spcAft>
            </a:pPr>
            <a:r>
              <a:rPr sz="1600" b="0">
                <a:solidFill>
                  <a:srgbClr val="6B7480"/>
                </a:solidFill>
                <a:latin typeface="Arial"/>
              </a:rPr>
              <a:t>math</a:t>
            </a:r>
          </a:p>
        </p:txBody>
      </p:sp>
      <p:sp>
        <p:nvSpPr>
          <p:cNvPr id="6" name="TextBox 5"/>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FRAMES</a:t>
            </a:r>
          </a:p>
          <a:p>
            <a:pPr algn="ctr">
              <a:lnSpc>
                <a:spcPct val="115000"/>
              </a:lnSpc>
              <a:spcAft>
                <a:spcPts val="0"/>
              </a:spcAft>
            </a:pPr>
            <a:r>
              <a:rPr sz="1600" b="0">
                <a:solidFill>
                  <a:srgbClr val="6B7480"/>
                </a:solidFill>
                <a:latin typeface="Arial"/>
              </a:rPr>
              <a:t>open-book QA</a:t>
            </a:r>
          </a:p>
        </p:txBody>
      </p:sp>
      <p:sp>
        <p:nvSpPr>
          <p:cNvPr id="7" name="TextBox 6"/>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MuSiQue</a:t>
            </a:r>
          </a:p>
          <a:p>
            <a:pPr algn="ctr">
              <a:lnSpc>
                <a:spcPct val="115000"/>
              </a:lnSpc>
              <a:spcAft>
                <a:spcPts val="0"/>
              </a:spcAft>
            </a:pPr>
            <a:r>
              <a:rPr sz="1600" b="0">
                <a:solidFill>
                  <a:srgbClr val="6B7480"/>
                </a:solidFill>
                <a:latin typeface="Arial"/>
              </a:rPr>
              <a:t>open-book QA</a:t>
            </a:r>
          </a:p>
        </p:txBody>
      </p:sp>
      <p:sp>
        <p:nvSpPr>
          <p:cNvPr id="8" name="TextBox 7"/>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BBEH</a:t>
            </a:r>
          </a:p>
          <a:p>
            <a:pPr algn="ctr">
              <a:lnSpc>
                <a:spcPct val="115000"/>
              </a:lnSpc>
              <a:spcAft>
                <a:spcPts val="0"/>
              </a:spcAft>
            </a:pPr>
            <a:r>
              <a:rPr sz="1600" b="0">
                <a:solidFill>
                  <a:srgbClr val="6B7480"/>
                </a:solidFill>
                <a:latin typeface="Arial"/>
              </a:rPr>
              <a:t>hard reasoning</a:t>
            </a:r>
          </a:p>
        </p:txBody>
      </p:sp>
      <p:sp>
        <p:nvSpPr>
          <p:cNvPr id="9" name="TextBox 8"/>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gpt-oss-20b</a:t>
            </a:r>
          </a:p>
        </p:txBody>
      </p:sp>
      <p:sp>
        <p:nvSpPr>
          <p:cNvPr id="10" name="Rounded Rectangle 9"/>
          <p:cNvSpPr/>
          <p:nvPr/>
        </p:nvSpPr>
        <p:spPr>
          <a:xfrm>
            <a:off x="3048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94.8%</a:t>
            </a:r>
          </a:p>
          <a:p>
            <a:pPr algn="ctr">
              <a:lnSpc>
                <a:spcPct val="115000"/>
              </a:lnSpc>
              <a:spcAft>
                <a:spcPts val="0"/>
              </a:spcAft>
            </a:pPr>
            <a:r>
              <a:rPr sz="1300" b="0">
                <a:solidFill>
                  <a:srgbClr val="6B7480"/>
                </a:solidFill>
                <a:latin typeface="Arial"/>
              </a:rPr>
              <a:t>team accuracy</a:t>
            </a:r>
          </a:p>
        </p:txBody>
      </p:sp>
      <p:sp>
        <p:nvSpPr>
          <p:cNvPr id="11" name="Rounded Rectangle 10"/>
          <p:cNvSpPr/>
          <p:nvPr/>
        </p:nvSpPr>
        <p:spPr>
          <a:xfrm>
            <a:off x="5080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76.1%</a:t>
            </a:r>
          </a:p>
          <a:p>
            <a:pPr algn="ctr">
              <a:lnSpc>
                <a:spcPct val="115000"/>
              </a:lnSpc>
              <a:spcAft>
                <a:spcPts val="0"/>
              </a:spcAft>
            </a:pPr>
            <a:r>
              <a:rPr sz="1300" b="0">
                <a:solidFill>
                  <a:srgbClr val="6B7480"/>
                </a:solidFill>
                <a:latin typeface="Arial"/>
              </a:rPr>
              <a:t>team accuracy</a:t>
            </a:r>
          </a:p>
        </p:txBody>
      </p:sp>
      <p:sp>
        <p:nvSpPr>
          <p:cNvPr id="12" name="Rounded Rectangle 11"/>
          <p:cNvSpPr/>
          <p:nvPr/>
        </p:nvSpPr>
        <p:spPr>
          <a:xfrm>
            <a:off x="7112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64.9%</a:t>
            </a:r>
          </a:p>
          <a:p>
            <a:pPr algn="ctr">
              <a:lnSpc>
                <a:spcPct val="115000"/>
              </a:lnSpc>
              <a:spcAft>
                <a:spcPts val="0"/>
              </a:spcAft>
            </a:pPr>
            <a:r>
              <a:rPr sz="1300" b="0">
                <a:solidFill>
                  <a:srgbClr val="6B7480"/>
                </a:solidFill>
                <a:latin typeface="Arial"/>
              </a:rPr>
              <a:t>team accuracy</a:t>
            </a:r>
          </a:p>
        </p:txBody>
      </p:sp>
      <p:sp>
        <p:nvSpPr>
          <p:cNvPr id="13" name="Rounded Rectangle 12"/>
          <p:cNvSpPr/>
          <p:nvPr/>
        </p:nvSpPr>
        <p:spPr>
          <a:xfrm>
            <a:off x="9144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28.0%</a:t>
            </a:r>
          </a:p>
          <a:p>
            <a:pPr algn="ctr">
              <a:lnSpc>
                <a:spcPct val="115000"/>
              </a:lnSpc>
              <a:spcAft>
                <a:spcPts val="0"/>
              </a:spcAft>
            </a:pPr>
            <a:r>
              <a:rPr sz="1300" b="0">
                <a:solidFill>
                  <a:srgbClr val="6B7480"/>
                </a:solidFill>
                <a:latin typeface="Arial"/>
              </a:rPr>
              <a:t>team accuracy</a:t>
            </a:r>
          </a:p>
        </p:txBody>
      </p:sp>
      <p:sp>
        <p:nvSpPr>
          <p:cNvPr id="14" name="TextBox 13"/>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gpt-oss-120b</a:t>
            </a:r>
          </a:p>
        </p:txBody>
      </p:sp>
      <p:sp>
        <p:nvSpPr>
          <p:cNvPr id="15" name="Rounded Rectangle 14"/>
          <p:cNvSpPr/>
          <p:nvPr/>
        </p:nvSpPr>
        <p:spPr>
          <a:xfrm>
            <a:off x="3048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97.0%</a:t>
            </a:r>
          </a:p>
          <a:p>
            <a:pPr algn="ctr">
              <a:lnSpc>
                <a:spcPct val="115000"/>
              </a:lnSpc>
              <a:spcAft>
                <a:spcPts val="0"/>
              </a:spcAft>
            </a:pPr>
            <a:r>
              <a:rPr sz="1300" b="0">
                <a:solidFill>
                  <a:srgbClr val="6B7480"/>
                </a:solidFill>
                <a:latin typeface="Arial"/>
              </a:rPr>
              <a:t>team accuracy</a:t>
            </a:r>
          </a:p>
        </p:txBody>
      </p:sp>
      <p:sp>
        <p:nvSpPr>
          <p:cNvPr id="16" name="Rounded Rectangle 15"/>
          <p:cNvSpPr/>
          <p:nvPr/>
        </p:nvSpPr>
        <p:spPr>
          <a:xfrm>
            <a:off x="5080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79.8%</a:t>
            </a:r>
          </a:p>
          <a:p>
            <a:pPr algn="ctr">
              <a:lnSpc>
                <a:spcPct val="115000"/>
              </a:lnSpc>
              <a:spcAft>
                <a:spcPts val="0"/>
              </a:spcAft>
            </a:pPr>
            <a:r>
              <a:rPr sz="1300" b="0">
                <a:solidFill>
                  <a:srgbClr val="6B7480"/>
                </a:solidFill>
                <a:latin typeface="Arial"/>
              </a:rPr>
              <a:t>team accuracy</a:t>
            </a:r>
          </a:p>
        </p:txBody>
      </p:sp>
      <p:sp>
        <p:nvSpPr>
          <p:cNvPr id="17" name="Rounded Rectangle 16"/>
          <p:cNvSpPr/>
          <p:nvPr/>
        </p:nvSpPr>
        <p:spPr>
          <a:xfrm>
            <a:off x="7112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71.1%</a:t>
            </a:r>
          </a:p>
          <a:p>
            <a:pPr algn="ctr">
              <a:lnSpc>
                <a:spcPct val="115000"/>
              </a:lnSpc>
              <a:spcAft>
                <a:spcPts val="0"/>
              </a:spcAft>
            </a:pPr>
            <a:r>
              <a:rPr sz="1300" b="0">
                <a:solidFill>
                  <a:srgbClr val="6B7480"/>
                </a:solidFill>
                <a:latin typeface="Arial"/>
              </a:rPr>
              <a:t>team accuracy</a:t>
            </a:r>
          </a:p>
        </p:txBody>
      </p:sp>
      <p:sp>
        <p:nvSpPr>
          <p:cNvPr id="18" name="Rounded Rectangle 17"/>
          <p:cNvSpPr/>
          <p:nvPr/>
        </p:nvSpPr>
        <p:spPr>
          <a:xfrm>
            <a:off x="9144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45.1%</a:t>
            </a:r>
          </a:p>
          <a:p>
            <a:pPr algn="ctr">
              <a:lnSpc>
                <a:spcPct val="115000"/>
              </a:lnSpc>
              <a:spcAft>
                <a:spcPts val="0"/>
              </a:spcAft>
            </a:pPr>
            <a:r>
              <a:rPr sz="1300" b="0">
                <a:solidFill>
                  <a:srgbClr val="6B7480"/>
                </a:solidFill>
                <a:latin typeface="Arial"/>
              </a:rPr>
              <a:t>team accuracy</a:t>
            </a:r>
          </a:p>
        </p:txBody>
      </p:sp>
      <p:sp>
        <p:nvSpPr>
          <p:cNvPr id="19" name="TextBox 18"/>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Gemma-4-26B</a:t>
            </a:r>
          </a:p>
        </p:txBody>
      </p:sp>
      <p:sp>
        <p:nvSpPr>
          <p:cNvPr id="20" name="Rounded Rectangle 19"/>
          <p:cNvSpPr/>
          <p:nvPr/>
        </p:nvSpPr>
        <p:spPr>
          <a:xfrm>
            <a:off x="3048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99.8%</a:t>
            </a:r>
          </a:p>
          <a:p>
            <a:pPr algn="ctr">
              <a:lnSpc>
                <a:spcPct val="115000"/>
              </a:lnSpc>
              <a:spcAft>
                <a:spcPts val="0"/>
              </a:spcAft>
            </a:pPr>
            <a:r>
              <a:rPr sz="1300" b="0">
                <a:solidFill>
                  <a:srgbClr val="6B7480"/>
                </a:solidFill>
                <a:latin typeface="Arial"/>
              </a:rPr>
              <a:t>team accuracy</a:t>
            </a:r>
          </a:p>
        </p:txBody>
      </p:sp>
      <p:sp>
        <p:nvSpPr>
          <p:cNvPr id="21" name="Rounded Rectangle 20"/>
          <p:cNvSpPr/>
          <p:nvPr/>
        </p:nvSpPr>
        <p:spPr>
          <a:xfrm>
            <a:off x="5080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67.9%</a:t>
            </a:r>
          </a:p>
          <a:p>
            <a:pPr algn="ctr">
              <a:lnSpc>
                <a:spcPct val="115000"/>
              </a:lnSpc>
              <a:spcAft>
                <a:spcPts val="0"/>
              </a:spcAft>
            </a:pPr>
            <a:r>
              <a:rPr sz="1300" b="0">
                <a:solidFill>
                  <a:srgbClr val="6B7480"/>
                </a:solidFill>
                <a:latin typeface="Arial"/>
              </a:rPr>
              <a:t>team accuracy</a:t>
            </a:r>
          </a:p>
        </p:txBody>
      </p:sp>
      <p:sp>
        <p:nvSpPr>
          <p:cNvPr id="22" name="Rounded Rectangle 21"/>
          <p:cNvSpPr/>
          <p:nvPr/>
        </p:nvSpPr>
        <p:spPr>
          <a:xfrm>
            <a:off x="7112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65.3%</a:t>
            </a:r>
          </a:p>
          <a:p>
            <a:pPr algn="ctr">
              <a:lnSpc>
                <a:spcPct val="115000"/>
              </a:lnSpc>
              <a:spcAft>
                <a:spcPts val="0"/>
              </a:spcAft>
            </a:pPr>
            <a:r>
              <a:rPr sz="1300" b="0">
                <a:solidFill>
                  <a:srgbClr val="6B7480"/>
                </a:solidFill>
                <a:latin typeface="Arial"/>
              </a:rPr>
              <a:t>team accuracy</a:t>
            </a:r>
          </a:p>
        </p:txBody>
      </p:sp>
      <p:sp>
        <p:nvSpPr>
          <p:cNvPr id="23" name="Rounded Rectangle 22"/>
          <p:cNvSpPr/>
          <p:nvPr/>
        </p:nvSpPr>
        <p:spPr>
          <a:xfrm>
            <a:off x="9144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36.4%</a:t>
            </a:r>
          </a:p>
          <a:p>
            <a:pPr algn="ctr">
              <a:lnSpc>
                <a:spcPct val="115000"/>
              </a:lnSpc>
              <a:spcAft>
                <a:spcPts val="0"/>
              </a:spcAft>
            </a:pPr>
            <a:r>
              <a:rPr sz="1300" b="0">
                <a:solidFill>
                  <a:srgbClr val="6B7480"/>
                </a:solidFill>
                <a:latin typeface="Arial"/>
              </a:rPr>
              <a:t>team accuracy</a:t>
            </a:r>
          </a:p>
        </p:txBody>
      </p:sp>
      <p:sp>
        <p:nvSpPr>
          <p:cNvPr id="24" name="Rounded Rectangle 23"/>
          <p:cNvSpPr/>
          <p:nvPr/>
        </p:nvSpPr>
        <p:spPr>
          <a:xfrm>
            <a:off x="812800" y="5524500"/>
            <a:ext cx="10566400" cy="635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6F8FB"/>
                </a:solidFill>
                <a:latin typeface="Arial"/>
              </a:rPr>
              <a:t>Record every task once, then replay </a:t>
            </a:r>
            <a:r>
              <a:rPr sz="1800" b="1">
                <a:solidFill>
                  <a:srgbClr val="66B2F0"/>
                </a:solidFill>
                <a:latin typeface="Arial"/>
              </a:rPr>
              <a:t>200 random splits</a:t>
            </a:r>
            <a:r>
              <a:rPr sz="1800" b="0">
                <a:solidFill>
                  <a:srgbClr val="F6F8FB"/>
                </a:solidFill>
                <a:latin typeface="Arial"/>
              </a:rPr>
              <a:t>: half to calibrate CLIMB, half to test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promise holds on every setting</a:t>
            </a:r>
          </a:p>
        </p:txBody>
      </p:sp>
      <p:pic>
        <p:nvPicPr>
          <p:cNvPr id="5" name="Picture 4" descr="c_viol.png"/>
          <p:cNvPicPr>
            <a:picLocks noChangeAspect="1"/>
          </p:cNvPicPr>
          <p:nvPr/>
        </p:nvPicPr>
        <p:blipFill>
          <a:blip r:embed="rId3"/>
          <a:stretch>
            <a:fillRect/>
          </a:stretch>
        </p:blipFill>
        <p:spPr>
          <a:xfrm>
            <a:off x="812800" y="1999442"/>
            <a:ext cx="7302500" cy="37481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How much it saves</a:t>
            </a:r>
          </a:p>
        </p:txBody>
      </p:sp>
      <p:pic>
        <p:nvPicPr>
          <p:cNvPr id="5" name="Picture 4" descr="c_savings.png"/>
          <p:cNvPicPr>
            <a:picLocks noChangeAspect="1"/>
          </p:cNvPicPr>
          <p:nvPr/>
        </p:nvPicPr>
        <p:blipFill>
          <a:blip r:embed="rId3"/>
          <a:stretch>
            <a:fillRect/>
          </a:stretch>
        </p:blipFill>
        <p:spPr>
          <a:xfrm>
            <a:off x="812800" y="1997499"/>
            <a:ext cx="7302500" cy="375200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saved</a:t>
            </a:r>
          </a:p>
          <a:p>
            <a:pPr algn="l">
              <a:lnSpc>
                <a:spcPct val="115000"/>
              </a:lnSpc>
              <a:spcAft>
                <a:spcPts val="0"/>
              </a:spcAft>
            </a:pPr>
            <a:r>
              <a:rPr sz="1700" b="0">
                <a:solidFill>
                  <a:srgbClr val="333B47"/>
                </a:solidFill>
                <a:latin typeface="Arial"/>
              </a:rPr>
              <a:t>allowing 5 points of loss</a:t>
            </a:r>
          </a:p>
        </p:txBody>
      </p:sp>
      <p:sp>
        <p:nvSpPr>
          <p:cNvPr id="7" name="Rounded Rectangle 6"/>
          <p:cNvSpPr/>
          <p:nvPr/>
        </p:nvSpPr>
        <p:spPr>
          <a:xfrm>
            <a:off x="8445500" y="4000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65% saved</a:t>
            </a:r>
          </a:p>
          <a:p>
            <a:pPr algn="l">
              <a:lnSpc>
                <a:spcPct val="115000"/>
              </a:lnSpc>
              <a:spcAft>
                <a:spcPts val="0"/>
              </a:spcAft>
            </a:pPr>
            <a:r>
              <a:rPr sz="1700" b="0">
                <a:solidFill>
                  <a:srgbClr val="333B47"/>
                </a:solidFill>
                <a:latin typeface="Arial"/>
              </a:rPr>
              <a:t>allowing 10 points of loss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Without the test, the promise breaks</a:t>
            </a:r>
          </a:p>
        </p:txBody>
      </p:sp>
      <p:pic>
        <p:nvPicPr>
          <p:cNvPr id="5" name="Picture 4" descr="c_tuned.png"/>
          <p:cNvPicPr>
            <a:picLocks noChangeAspect="1"/>
          </p:cNvPicPr>
          <p:nvPr/>
        </p:nvPicPr>
        <p:blipFill>
          <a:blip r:embed="rId3"/>
          <a:stretch>
            <a:fillRect/>
          </a:stretch>
        </p:blipFill>
        <p:spPr>
          <a:xfrm>
            <a:off x="812800" y="1721371"/>
            <a:ext cx="7302500" cy="4304257"/>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33B47"/>
                </a:solidFill>
                <a:latin typeface="Arial"/>
              </a:rPr>
              <a:t>of splits broken at ε = 5 by the tuned rule. CLIMB: 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21</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TAKEAWAYS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00175A"/>
                </a:solidFill>
                <a:latin typeface="Georgia"/>
              </a:rPr>
              <a:t>Call the team only when you must</a:t>
            </a:r>
          </a:p>
        </p:txBody>
      </p:sp>
      <p:sp>
        <p:nvSpPr>
          <p:cNvPr id="5" name="Rectangle 4"/>
          <p:cNvSpPr/>
          <p:nvPr/>
        </p:nvSpPr>
        <p:spPr>
          <a:xfrm>
            <a:off x="8128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Teams are costly</a:t>
            </a:r>
          </a:p>
          <a:p>
            <a:pPr algn="l">
              <a:lnSpc>
                <a:spcPct val="115000"/>
              </a:lnSpc>
              <a:spcAft>
                <a:spcPts val="0"/>
              </a:spcAft>
            </a:pPr>
            <a:r>
              <a:rPr sz="2000" b="0">
                <a:solidFill>
                  <a:srgbClr val="333B47"/>
                </a:solidFill>
                <a:latin typeface="Arial"/>
              </a:rPr>
              <a:t>and sometimes break right answers.</a:t>
            </a:r>
          </a:p>
        </p:txBody>
      </p:sp>
      <p:sp>
        <p:nvSpPr>
          <p:cNvPr id="7" name="Rectangle 6"/>
          <p:cNvSpPr/>
          <p:nvPr/>
        </p:nvSpPr>
        <p:spPr>
          <a:xfrm>
            <a:off x="440055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CLIMB keeps a promise</a:t>
            </a:r>
          </a:p>
          <a:p>
            <a:pPr algn="l">
              <a:lnSpc>
                <a:spcPct val="115000"/>
              </a:lnSpc>
              <a:spcAft>
                <a:spcPts val="0"/>
              </a:spcAft>
            </a:pPr>
            <a:r>
              <a:rPr sz="2000" b="0">
                <a:solidFill>
                  <a:srgbClr val="333B47"/>
                </a:solidFill>
                <a:latin typeface="Arial"/>
              </a:rPr>
              <a:t>you set the loss, it finds the cheapest safe rule.</a:t>
            </a:r>
          </a:p>
        </p:txBody>
      </p:sp>
      <p:sp>
        <p:nvSpPr>
          <p:cNvPr id="9" name="Rectangle 8"/>
          <p:cNvSpPr/>
          <p:nvPr/>
        </p:nvSpPr>
        <p:spPr>
          <a:xfrm>
            <a:off x="79883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38–65% saved</a:t>
            </a:r>
          </a:p>
          <a:p>
            <a:pPr algn="l">
              <a:lnSpc>
                <a:spcPct val="115000"/>
              </a:lnSpc>
              <a:spcAft>
                <a:spcPts val="0"/>
              </a:spcAft>
            </a:pPr>
            <a:r>
              <a:rPr sz="2000" b="0">
                <a:solidFill>
                  <a:srgbClr val="333B47"/>
                </a:solidFill>
                <a:latin typeface="Arial"/>
              </a:rPr>
              <a:t>at 5 and 10 points, with the promise kept.</a:t>
            </a:r>
          </a:p>
        </p:txBody>
      </p:sp>
      <p:sp>
        <p:nvSpPr>
          <p:cNvPr id="11" name="TextBox 10"/>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Assumes calibration tasks resemble deployment tasks. Recalibrating takes under a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FOR AMEX</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this offers Amex</a:t>
            </a:r>
          </a:p>
        </p:txBody>
      </p:sp>
      <p:sp>
        <p:nvSpPr>
          <p:cNvPr id="5" name="Oval 4"/>
          <p:cNvSpPr/>
          <p:nvPr/>
        </p:nvSpPr>
        <p:spPr>
          <a:xfrm>
            <a:off x="8128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1</a:t>
            </a:r>
          </a:p>
        </p:txBody>
      </p:sp>
      <p:sp>
        <p:nvSpPr>
          <p:cNvPr id="6" name="TextBox 5"/>
          <p:cNvSpPr txBox="1"/>
          <p:nvPr/>
        </p:nvSpPr>
        <p:spPr>
          <a:xfrm>
            <a:off x="13208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Fewer tokens, even on closed models</a:t>
            </a:r>
          </a:p>
        </p:txBody>
      </p:sp>
      <p:sp>
        <p:nvSpPr>
          <p:cNvPr id="7" name="Oval 6"/>
          <p:cNvSpPr/>
          <p:nvPr/>
        </p:nvSpPr>
        <p:spPr>
          <a:xfrm>
            <a:off x="62230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2</a:t>
            </a:r>
          </a:p>
        </p:txBody>
      </p:sp>
      <p:sp>
        <p:nvSpPr>
          <p:cNvPr id="8" name="TextBox 7"/>
          <p:cNvSpPr txBox="1"/>
          <p:nvPr/>
        </p:nvSpPr>
        <p:spPr>
          <a:xfrm>
            <a:off x="67310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Lessons for complex agent systems</a:t>
            </a:r>
          </a:p>
        </p:txBody>
      </p:sp>
      <p:sp>
        <p:nvSpPr>
          <p:cNvPr id="9" name="Rounded Rectangle 8"/>
          <p:cNvSpPr/>
          <p:nvPr/>
        </p:nvSpPr>
        <p:spPr>
          <a:xfrm>
            <a:off x="8128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Closed model</a:t>
            </a:r>
          </a:p>
          <a:p>
            <a:pPr algn="ctr">
              <a:lnSpc>
                <a:spcPct val="115000"/>
              </a:lnSpc>
              <a:spcAft>
                <a:spcPts val="0"/>
              </a:spcAft>
            </a:pPr>
            <a:r>
              <a:rPr sz="1300" b="0">
                <a:solidFill>
                  <a:srgbClr val="6B7480"/>
                </a:solidFill>
                <a:latin typeface="Arial"/>
              </a:rPr>
              <a:t>writes the output</a:t>
            </a:r>
          </a:p>
        </p:txBody>
      </p:sp>
      <p:sp>
        <p:nvSpPr>
          <p:cNvPr id="10" name="Right Arrow 9"/>
          <p:cNvSpPr/>
          <p:nvPr/>
        </p:nvSpPr>
        <p:spPr>
          <a:xfrm>
            <a:off x="23241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400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Open model</a:t>
            </a:r>
          </a:p>
          <a:p>
            <a:pPr algn="ctr">
              <a:lnSpc>
                <a:spcPct val="115000"/>
              </a:lnSpc>
              <a:spcAft>
                <a:spcPts val="0"/>
              </a:spcAft>
            </a:pPr>
            <a:r>
              <a:rPr sz="1300" b="0">
                <a:solidFill>
                  <a:srgbClr val="6B7480"/>
                </a:solidFill>
                <a:latin typeface="Arial"/>
              </a:rPr>
              <a:t>reads it → log-probs</a:t>
            </a:r>
          </a:p>
        </p:txBody>
      </p:sp>
      <p:sp>
        <p:nvSpPr>
          <p:cNvPr id="12" name="Right Arrow 11"/>
          <p:cNvSpPr/>
          <p:nvPr/>
        </p:nvSpPr>
        <p:spPr>
          <a:xfrm>
            <a:off x="40513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267200" y="2286000"/>
            <a:ext cx="1473200" cy="889000"/>
          </a:xfrm>
          <a:prstGeom prst="roundRect">
            <a:avLst>
              <a:gd name="adj" fmla="val 10000"/>
            </a:avLst>
          </a:prstGeom>
          <a:solidFill>
            <a:srgbClr val="DDEDFB"/>
          </a:solidFill>
          <a:ln w="190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CLIMB</a:t>
            </a:r>
          </a:p>
          <a:p>
            <a:pPr algn="ctr">
              <a:lnSpc>
                <a:spcPct val="115000"/>
              </a:lnSpc>
              <a:spcAft>
                <a:spcPts val="0"/>
              </a:spcAft>
            </a:pPr>
            <a:r>
              <a:rPr sz="1300" b="0">
                <a:solidFill>
                  <a:srgbClr val="6B7480"/>
                </a:solidFill>
                <a:latin typeface="Arial"/>
              </a:rPr>
              <a:t>uses them as S₀</a:t>
            </a:r>
          </a:p>
        </p:txBody>
      </p:sp>
      <p:sp>
        <p:nvSpPr>
          <p:cNvPr id="14" name="TextBox 13"/>
          <p:cNvSpPr txBox="1"/>
          <p:nvPr/>
        </p:nvSpPr>
        <p:spPr>
          <a:xfrm>
            <a:off x="812800" y="3270250"/>
            <a:ext cx="5016500" cy="254000"/>
          </a:xfrm>
          <a:prstGeom prst="rect">
            <a:avLst/>
          </a:prstGeom>
          <a:noFill/>
        </p:spPr>
        <p:txBody>
          <a:bodyPr wrap="square" lIns="0" rIns="0" tIns="0" bIns="0" anchor="t">
            <a:spAutoFit/>
          </a:bodyPr>
          <a:lstStyle/>
          <a:p>
            <a:pPr algn="l">
              <a:lnSpc>
                <a:spcPct val="115000"/>
              </a:lnSpc>
              <a:spcAft>
                <a:spcPts val="0"/>
              </a:spcAft>
            </a:pPr>
            <a:r>
              <a:rPr sz="1400" b="1">
                <a:solidFill>
                  <a:srgbClr val="006FCF"/>
                </a:solidFill>
                <a:latin typeface="Arial"/>
              </a:rPr>
              <a:t>Same idea as the reference model in PPO.</a:t>
            </a:r>
          </a:p>
        </p:txBody>
      </p:sp>
      <p:sp>
        <p:nvSpPr>
          <p:cNvPr id="15" name="TextBox 14"/>
          <p:cNvSpPr txBox="1"/>
          <p:nvPr/>
        </p:nvSpPr>
        <p:spPr>
          <a:xfrm>
            <a:off x="812800" y="3778250"/>
            <a:ext cx="5016500" cy="2095500"/>
          </a:xfrm>
          <a:prstGeom prst="rect">
            <a:avLst/>
          </a:prstGeom>
          <a:noFill/>
        </p:spPr>
        <p:txBody>
          <a:bodyPr wrap="square" lIns="0" rIns="0" tIns="0" bIns="0" anchor="t">
            <a:spAutoFit/>
          </a:bodyPr>
          <a:lstStyle/>
          <a:p>
            <a:pPr algn="l">
              <a:lnSpc>
                <a:spcPct val="115000"/>
              </a:lnSpc>
              <a:spcAft>
                <a:spcPts val="1000"/>
              </a:spcAft>
            </a:pPr>
            <a:r>
              <a:rPr sz="1600" b="0">
                <a:solidFill>
                  <a:srgbClr val="333B47"/>
                </a:solidFill>
                <a:latin typeface="Arial"/>
              </a:rPr>
              <a:t>• Feed the closed model’s output to an open model to get its </a:t>
            </a:r>
            <a:r>
              <a:rPr sz="1600" b="1">
                <a:solidFill>
                  <a:srgbClr val="333B47"/>
                </a:solidFill>
                <a:latin typeface="Arial"/>
              </a:rPr>
              <a:t>log-probs</a:t>
            </a:r>
          </a:p>
          <a:p>
            <a:pPr algn="l">
              <a:lnSpc>
                <a:spcPct val="115000"/>
              </a:lnSpc>
              <a:spcAft>
                <a:spcPts val="1000"/>
              </a:spcAft>
            </a:pPr>
            <a:r>
              <a:rPr sz="1600" b="0">
                <a:solidFill>
                  <a:srgbClr val="333B47"/>
                </a:solidFill>
                <a:latin typeface="Arial"/>
              </a:rPr>
              <a:t>• </a:t>
            </a:r>
            <a:r>
              <a:rPr sz="1600" b="1">
                <a:solidFill>
                  <a:srgbClr val="333B47"/>
                </a:solidFill>
                <a:latin typeface="Arial"/>
              </a:rPr>
              <a:t>38–65% fewer tokens</a:t>
            </a:r>
            <a:r>
              <a:rPr sz="1600" b="0">
                <a:solidFill>
                  <a:srgbClr val="333B47"/>
                </a:solidFill>
                <a:latin typeface="Arial"/>
              </a:rPr>
              <a:t> at 5–10 points in our tests</a:t>
            </a:r>
          </a:p>
          <a:p>
            <a:pPr algn="l">
              <a:lnSpc>
                <a:spcPct val="115000"/>
              </a:lnSpc>
              <a:spcAft>
                <a:spcPts val="1000"/>
              </a:spcAft>
            </a:pPr>
            <a:r>
              <a:rPr sz="1600" b="0">
                <a:solidFill>
                  <a:srgbClr val="333B47"/>
                </a:solidFill>
                <a:latin typeface="Arial"/>
              </a:rPr>
              <a:t>• Agreement of two cheap calls needs </a:t>
            </a:r>
            <a:r>
              <a:rPr sz="1600" b="1">
                <a:solidFill>
                  <a:srgbClr val="333B47"/>
                </a:solidFill>
                <a:latin typeface="Arial"/>
              </a:rPr>
              <a:t>no log-probs</a:t>
            </a:r>
          </a:p>
          <a:p>
            <a:pPr algn="l">
              <a:lnSpc>
                <a:spcPct val="115000"/>
              </a:lnSpc>
              <a:spcAft>
                <a:spcPts val="1000"/>
              </a:spcAft>
            </a:pPr>
            <a:r>
              <a:rPr sz="1600" b="0">
                <a:solidFill>
                  <a:srgbClr val="333B47"/>
                </a:solidFill>
                <a:latin typeface="Arial"/>
              </a:rPr>
              <a:t>• A weaker score saves less, the </a:t>
            </a:r>
            <a:r>
              <a:rPr sz="1600" b="1">
                <a:solidFill>
                  <a:srgbClr val="333B47"/>
                </a:solidFill>
                <a:latin typeface="Arial"/>
              </a:rPr>
              <a:t>promise still holds</a:t>
            </a:r>
          </a:p>
          <a:p>
            <a:pPr algn="l">
              <a:lnSpc>
                <a:spcPct val="115000"/>
              </a:lnSpc>
              <a:spcAft>
                <a:spcPts val="0"/>
              </a:spcAft>
            </a:pPr>
            <a:r>
              <a:rPr sz="1300" b="0">
                <a:solidFill>
                  <a:srgbClr val="6B7480"/>
                </a:solidFill>
                <a:latin typeface="Arial"/>
              </a:rPr>
              <a:t>Getting a closed model’s log-probs from an open model is a proposal, not yet tested.</a:t>
            </a:r>
          </a:p>
        </p:txBody>
      </p:sp>
      <p:sp>
        <p:nvSpPr>
          <p:cNvPr id="16" name="Rounded Rectangle 15"/>
          <p:cNvSpPr/>
          <p:nvPr/>
        </p:nvSpPr>
        <p:spPr>
          <a:xfrm>
            <a:off x="6223000" y="2286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More agents is not always better</a:t>
            </a:r>
          </a:p>
          <a:p>
            <a:pPr algn="l">
              <a:lnSpc>
                <a:spcPct val="115000"/>
              </a:lnSpc>
              <a:spcAft>
                <a:spcPts val="0"/>
              </a:spcAft>
            </a:pPr>
            <a:r>
              <a:rPr sz="1400" b="0">
                <a:solidFill>
                  <a:srgbClr val="6B7480"/>
                </a:solidFill>
                <a:latin typeface="Arial"/>
              </a:rPr>
              <a:t>Reviewers pass 23–58% of wrong drafts.</a:t>
            </a:r>
          </a:p>
        </p:txBody>
      </p:sp>
      <p:sp>
        <p:nvSpPr>
          <p:cNvPr id="17" name="Rounded Rectangle 16"/>
          <p:cNvSpPr/>
          <p:nvPr/>
        </p:nvSpPr>
        <p:spPr>
          <a:xfrm>
            <a:off x="6223000" y="3175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Route each task, not the whole system</a:t>
            </a:r>
          </a:p>
          <a:p>
            <a:pPr algn="l">
              <a:lnSpc>
                <a:spcPct val="115000"/>
              </a:lnSpc>
              <a:spcAft>
                <a:spcPts val="0"/>
              </a:spcAft>
            </a:pPr>
            <a:r>
              <a:rPr sz="1400" b="0">
                <a:solidFill>
                  <a:srgbClr val="6B7480"/>
                </a:solidFill>
                <a:latin typeface="Arial"/>
              </a:rPr>
              <a:t>Escalate only the doubtful tasks.</a:t>
            </a:r>
          </a:p>
        </p:txBody>
      </p:sp>
      <p:sp>
        <p:nvSpPr>
          <p:cNvPr id="18" name="Rounded Rectangle 17"/>
          <p:cNvSpPr/>
          <p:nvPr/>
        </p:nvSpPr>
        <p:spPr>
          <a:xfrm>
            <a:off x="6223000" y="4064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Cheap signals are strong</a:t>
            </a:r>
          </a:p>
          <a:p>
            <a:pPr algn="l">
              <a:lnSpc>
                <a:spcPct val="115000"/>
              </a:lnSpc>
              <a:spcAft>
                <a:spcPts val="0"/>
              </a:spcAft>
            </a:pPr>
            <a:r>
              <a:rPr sz="1400" b="0">
                <a:solidFill>
                  <a:srgbClr val="6B7480"/>
                </a:solidFill>
                <a:latin typeface="Arial"/>
              </a:rPr>
              <a:t>Two cheap answers agree → usually right.</a:t>
            </a:r>
          </a:p>
        </p:txBody>
      </p:sp>
      <p:sp>
        <p:nvSpPr>
          <p:cNvPr id="19" name="Rounded Rectangle 18"/>
          <p:cNvSpPr/>
          <p:nvPr/>
        </p:nvSpPr>
        <p:spPr>
          <a:xfrm>
            <a:off x="6223000" y="4953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Put a guarantee on any routing rule</a:t>
            </a:r>
          </a:p>
          <a:p>
            <a:pPr algn="l">
              <a:lnSpc>
                <a:spcPct val="115000"/>
              </a:lnSpc>
              <a:spcAft>
                <a:spcPts val="0"/>
              </a:spcAft>
            </a:pPr>
            <a:r>
              <a:rPr sz="1400" b="0">
                <a:solidFill>
                  <a:srgbClr val="6B7480"/>
                </a:solidFill>
                <a:latin typeface="Arial"/>
              </a:rPr>
              <a:t>Cascades, tool calls, human review.</a:t>
            </a:r>
          </a:p>
        </p:txBody>
      </p:sp>
      <p:sp>
        <p:nvSpPr>
          <p:cNvPr id="20" name="TextBox 19"/>
          <p:cNvSpPr txBox="1"/>
          <p:nvPr/>
        </p:nvSpPr>
        <p:spPr>
          <a:xfrm>
            <a:off x="6223000" y="5969000"/>
            <a:ext cx="5156200" cy="317500"/>
          </a:xfrm>
          <a:prstGeom prst="rect">
            <a:avLst/>
          </a:prstGeom>
          <a:noFill/>
        </p:spPr>
        <p:txBody>
          <a:bodyPr wrap="square" lIns="0" rIns="0" tIns="0" bIns="0" anchor="t">
            <a:spAutoFit/>
          </a:bodyPr>
          <a:lstStyle/>
          <a:p>
            <a:pPr algn="r">
              <a:lnSpc>
                <a:spcPct val="115000"/>
              </a:lnSpc>
              <a:spcAft>
                <a:spcPts val="0"/>
              </a:spcAft>
            </a:pPr>
            <a:r>
              <a:rPr sz="2200" b="1">
                <a:solidFill>
                  <a:srgbClr val="006FCF"/>
                </a:solidFill>
                <a:latin typeface="Georgia"/>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