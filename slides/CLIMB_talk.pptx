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4"/>
    <p:sldId id="257" r:id="rId9"/>
    <p:sldId id="259" r:id="rId11"/>
    <p:sldId id="261" r:id="rId13"/>
    <p:sldId id="263" r:id="rId15"/>
    <p:sldId id="264" r:id="rId16"/>
    <p:sldId id="266" r:id="rId18"/>
    <p:sldId id="267" r:id="rId19"/>
    <p:sldId id="268" r:id="rId20"/>
    <p:sldId id="269" r:id="rId21"/>
    <p:sldId id="271" r:id="rId23"/>
    <p:sldId id="277" r:id="rId29"/>
    <p:sldId id="278" r:id="rId30"/>
    <p:sldId id="279" r:id="rId31"/>
    <p:sldId id="280" r:id="rId32"/>
    <p:sldId id="281" r:id="rId33"/>
    <p:sldId id="258" r:id="rId10"/>
    <p:sldId id="260" r:id="rId12"/>
    <p:sldId id="262" r:id="rId14"/>
    <p:sldId id="265" r:id="rId17"/>
    <p:sldId id="270" r:id="rId22"/>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 And it works: on all twelve of our settings the team is the most accurate, 2 to 21 points above a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The real question, and the rest of the method, is when a task should climb.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three: how do we know a line is safe? CLIMB turns this into a promise. You choose how much accuracy you can give up, say 5 points. CLIMB checks candidate rules on a few hundred labelled tasks and returns the cheapest rule that keeps the promise, with 90 percent probability. If no cheaper rule qualifies, it always calls the team,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heart of CLIMB: the betting test. Imagine a gambler who bets that a rule is safe. He starts with one dollar. We reveal the labelled tasks one by one, and compare the rule with the team on each. If both give the same result, which is most tasks, his money grows a little, times 1.03. If the rule loses an answer the team got right, he loses a lot, about half. If the rule saves an answer the team broke, he wins a lot, times 1.5. If his money ever reaches 20 dollars, the rule passes. If it never does, the rule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tell good rules from bad ones? Average the multiplier over tasks: it is one plus the bet size times the tolerance minus the rule's true loss. A good rule loses less than the tolerance, so on average each task multiplies the money by more than one, and it grows. A bad rule loses more, so each task multiplies it by less than one, and it shrinks. On the chart, real rules from gpt-oss-120b on MuSiQue: the green one loses half a point and gets rich fast, the blue one loses 2 points and passes more slowly, the red one loses 6 points, more than the 5 allowed, and goes broke. The bet size is set from the earlier tasks only, never from the task being revealed.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rule is actually bad,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 bad rule passes at most 5 percent of the time. Twenty is just one over five percent. Stopping as soon as he reaches 20 is covered too: freeze the money there and the same argument holds. We check two families of rules, each at 5 percent, so 90 percent overall. A pass means we accept the rule and are wrong at most 5 percent of the time, like a driving test: passing gets you a licence, it does not prove you can drive.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we read a pass? A bad rule reaches 20 dollars at most 5 percent of the time. So we agree: reach 20, and we accept the rule. That decision is wrong at most 5 percent of the time. Two readings are wrong. A pass does not prove the rule is good: a bad rule stays bad, we were just unlucky. And it does not mean 5 percent of passed rules are bad. It is like a driving test: if bad drivers pass at most 5 percent of the time, passing gets you a licence, it does not prove you can drive. We run two such tests, one per family, each at 5 percent, so the promise holds with 90 percent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many rules. We order them from safe to risky. Moving right, more tasks stop early: cheaper but riskier. We run the betting test on each, in this order, and stop at the first failure. Then we deploy the cheapest one that passed, the star, at 57 percent of the team's tokens. Because we stop at the first failure, testing many rules adds no extra risk: to pass a bad rule, the first bad rule in the line would have to pass, and that happens at most 5 percent of the time. This is the direct-answer family.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detail of the bet. Skipping the team is not only a risk: sometimes the cheap answer is right and the team would have broken it. Usual tests count only the losses. Our bet also pays out on saved answers, so they offset lost ones. On the chart, every test is valid, but they certify very different savings: a worst-case bound certifies nothing, ignoring saved answers keeps 79 percent of tokens, CLIMB's bet 62.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3 models and 4 benchmarks: math, two open-book question answering sets and hard reasoning. We record every task once, then replay 200 random splits, half to calibrate, half to test. Left: the share of splits where CLIMB lost more than its tolerance. The guarantee allows 10 percent, we see at most 2. Right: the share of the team's tokens CLIMB uses. It saves 38 percent at a 5 point tolerance and 65 percent at 10. Savings are smallest on Gemma, where confidence points the wrong way, and the promise still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slide. Agent teams are more accurate, but they cost several times the tokens and sometimes break right answers. CLIMB tries cheap answers first and calls the team only when a cheap answer looks unreliable. You set how much accuracy you can lose. A betting test on a few hundred labelled tasks certifies the cheapest rule that keeps this promise, with 90 percent probability. Across three models and four benchmarks it saves 38 to 65 percent of tokens, and the promise broke in at most 2 percent of splits. For Amex, it can sit in front of any multi-agent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4" name="TextBox 3"/>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5" name="Rounded Rectangle 4"/>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6" name="Right Arrow 5"/>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8" name="Right Arrow 7"/>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0" name="TextBox 9"/>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1" name="Rounded Rectangle 10"/>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2" name="Right Arrow 11"/>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4" name="Right Arrow 13"/>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6" name="Right Arrow 15"/>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8" name="Right Arrow 17"/>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0" name="Left Arrow 19"/>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
        <p:nvSpPr>
          <p:cNvPr id="22" name="Rounded Rectangle 21"/>
          <p:cNvSpPr/>
          <p:nvPr/>
        </p:nvSpPr>
        <p:spPr>
          <a:xfrm>
            <a:off x="8445500" y="16510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 Best on 12 / 12 settings.</a:t>
            </a:r>
          </a:p>
        </p:txBody>
      </p:sp>
      <p:sp>
        <p:nvSpPr>
          <p:cNvPr id="23" name="TextBox 2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4" name="Picture 3" descr="c_accuracy.png"/>
          <p:cNvPicPr>
            <a:picLocks noChangeAspect="1"/>
          </p:cNvPicPr>
          <p:nvPr/>
        </p:nvPicPr>
        <p:blipFill>
          <a:blip r:embed="rId3"/>
          <a:stretch>
            <a:fillRect/>
          </a:stretch>
        </p:blipFill>
        <p:spPr>
          <a:xfrm>
            <a:off x="812800" y="1922942"/>
            <a:ext cx="7302500" cy="3901114"/>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6" name="Rounded Rectangle 5"/>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4" name="TextBox 3"/>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5" name="Picture 4" descr="c_cost_n.png"/>
          <p:cNvPicPr>
            <a:picLocks noChangeAspect="1"/>
          </p:cNvPicPr>
          <p:nvPr/>
        </p:nvPicPr>
        <p:blipFill>
          <a:blip r:embed="rId3"/>
          <a:stretch>
            <a:fillRect/>
          </a:stretch>
        </p:blipFill>
        <p:spPr>
          <a:xfrm>
            <a:off x="925882" y="2159000"/>
            <a:ext cx="4853835" cy="3937000"/>
          </a:xfrm>
          <a:prstGeom prst="rect">
            <a:avLst/>
          </a:prstGeom>
        </p:spPr>
      </p:pic>
      <p:sp>
        <p:nvSpPr>
          <p:cNvPr id="6" name="TextBox 5"/>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7" name="Picture 6" descr="c_flows_n.png"/>
          <p:cNvPicPr>
            <a:picLocks noChangeAspect="1"/>
          </p:cNvPicPr>
          <p:nvPr/>
        </p:nvPicPr>
        <p:blipFill>
          <a:blip r:embed="rId4"/>
          <a:stretch>
            <a:fillRect/>
          </a:stretch>
        </p:blipFill>
        <p:spPr>
          <a:xfrm>
            <a:off x="6299200" y="2168345"/>
            <a:ext cx="5080000" cy="3918309"/>
          </a:xfrm>
          <a:prstGeom prst="rect">
            <a:avLst/>
          </a:prstGeom>
        </p:spPr>
      </p:pic>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4" name="Rounded Rectangle 3"/>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5" name="Right Arrow 4"/>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7" name="Right Arrow 6"/>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9" name="Right Arrow 8"/>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1" name="Rounded Rectangle 10"/>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2" name="Rounded Rectangle 11"/>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
        <p:nvSpPr>
          <p:cNvPr id="13" name="TextBox 1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4" name="Rounded Rectangle 3"/>
          <p:cNvSpPr/>
          <p:nvPr/>
        </p:nvSpPr>
        <p:spPr>
          <a:xfrm>
            <a:off x="812800" y="1619250"/>
            <a:ext cx="67310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The key question: when should a task climb?</a:t>
            </a:r>
          </a:p>
        </p:txBody>
      </p:sp>
      <p:sp>
        <p:nvSpPr>
          <p:cNvPr id="5" name="Rectangle 4"/>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7" name="Right Arrow 6"/>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0" name="Right Arrow 9"/>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4" name="Rounded Rectangle 3"/>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5" name="Rounded Rectangle 4"/>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6" name="Rounded Rectangle 5"/>
          <p:cNvSpPr/>
          <p:nvPr/>
        </p:nvSpPr>
        <p:spPr>
          <a:xfrm>
            <a:off x="6223000" y="1841500"/>
            <a:ext cx="2451100" cy="3429000"/>
          </a:xfrm>
          <a:prstGeom prst="roundRect">
            <a:avLst>
              <a:gd name="adj" fmla="val 4663"/>
            </a:avLst>
          </a:prstGeom>
          <a:solidFill>
            <a:srgbClr val="DDEDFB"/>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betting test: the core</a:t>
            </a:r>
          </a:p>
        </p:txBody>
      </p:sp>
      <p:sp>
        <p:nvSpPr>
          <p:cNvPr id="7" name="Rounded Rectangle 6"/>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8" name="TextBox 7"/>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SIGNAL</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5" name="Rounded Rectangle 4"/>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7" name="TextBox 6"/>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8" name="Rounded Rectangle 7"/>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0" name="TextBox 9"/>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1" name="TextBox 10"/>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2" name="TextBox 11"/>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3" name="Rectangle 12"/>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5" name="TextBox 14"/>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6" name="TextBox 15"/>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7" name="Rectangle 16"/>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19" name="TextBox 18"/>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0" name="Rectangle 19"/>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2" name="TextBox 21"/>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3" name="Rectangle 22"/>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5" name="TextBox 24"/>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6" name="TextBox 25"/>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7" name="TextBox 26"/>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8" name="TextBox 27"/>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29" name="Rounded Rectangle 28"/>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0" name="Rounded Rectangle 29"/>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TextBox 30"/>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2" name="Rounded Rectangle 31"/>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3" name="Rounded Rectangle 32"/>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4" name="TextBox 33"/>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5" name="TextBox 34"/>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6" name="TextBox 35"/>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
        <p:nvSpPr>
          <p:cNvPr id="37" name="TextBox 3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SIGNAL</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5" name="Picture 4"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6" name="TextBox 5"/>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7" name="Picture 6"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8" name="TextBox 7"/>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9" name="TextBox 8"/>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0" name="TextBox 9"/>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1" name="Rounded Rectangle 10"/>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2" name="Rounded Rectangle 11"/>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3" name="Rounded Rectangle 12"/>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RULE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4" name="Picture 3" descr="c_maxloss.png"/>
          <p:cNvPicPr>
            <a:picLocks noChangeAspect="1"/>
          </p:cNvPicPr>
          <p:nvPr/>
        </p:nvPicPr>
        <p:blipFill>
          <a:blip r:embed="rId3"/>
          <a:stretch>
            <a:fillRect/>
          </a:stretch>
        </p:blipFill>
        <p:spPr>
          <a:xfrm>
            <a:off x="812800" y="2379642"/>
            <a:ext cx="7302500" cy="29877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6" name="TextBox 5"/>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a:t>
            </a:r>
          </a:p>
        </p:txBody>
      </p:sp>
      <p:sp>
        <p:nvSpPr>
          <p:cNvPr id="4" name="Rounded Rectangle 3"/>
          <p:cNvSpPr/>
          <p:nvPr/>
        </p:nvSpPr>
        <p:spPr>
          <a:xfrm>
            <a:off x="812800" y="2095500"/>
            <a:ext cx="3111500" cy="2032000"/>
          </a:xfrm>
          <a:prstGeom prst="roundRect">
            <a:avLst>
              <a:gd name="adj" fmla="val 5625"/>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006FCF"/>
                </a:solidFill>
                <a:latin typeface="Arial"/>
              </a:rPr>
              <a:t>You choose</a:t>
            </a:r>
          </a:p>
          <a:p>
            <a:pPr algn="ctr">
              <a:lnSpc>
                <a:spcPct val="115000"/>
              </a:lnSpc>
              <a:spcAft>
                <a:spcPts val="0"/>
              </a:spcAft>
            </a:pPr>
            <a:r>
              <a:rPr sz="1900" b="0">
                <a:solidFill>
                  <a:srgbClr val="00175A"/>
                </a:solidFill>
                <a:latin typeface="Arial"/>
              </a:rPr>
              <a:t>“I can lose at most 5 points of accuracy”</a:t>
            </a:r>
          </a:p>
        </p:txBody>
      </p:sp>
      <p:sp>
        <p:nvSpPr>
          <p:cNvPr id="5" name="Right Arrow 4"/>
          <p:cNvSpPr/>
          <p:nvPr/>
        </p:nvSpPr>
        <p:spPr>
          <a:xfrm>
            <a:off x="40005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59300" y="2095500"/>
            <a:ext cx="3111500" cy="2032000"/>
          </a:xfrm>
          <a:prstGeom prst="roundRect">
            <a:avLst>
              <a:gd name="adj" fmla="val 5625"/>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66B2F0"/>
                </a:solidFill>
                <a:latin typeface="Arial"/>
              </a:rPr>
              <a:t>A betting test checks</a:t>
            </a:r>
          </a:p>
          <a:p>
            <a:pPr algn="ctr">
              <a:lnSpc>
                <a:spcPct val="115000"/>
              </a:lnSpc>
              <a:spcAft>
                <a:spcPts val="0"/>
              </a:spcAft>
            </a:pPr>
            <a:r>
              <a:rPr sz="1900" b="0">
                <a:solidFill>
                  <a:srgbClr val="F6F8FB"/>
                </a:solidFill>
                <a:latin typeface="Arial"/>
              </a:rPr>
              <a:t>candidate rules on a few hundred labelled tasks</a:t>
            </a:r>
          </a:p>
        </p:txBody>
      </p:sp>
      <p:sp>
        <p:nvSpPr>
          <p:cNvPr id="7" name="Right Arrow 6"/>
          <p:cNvSpPr/>
          <p:nvPr/>
        </p:nvSpPr>
        <p:spPr>
          <a:xfrm>
            <a:off x="77470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00175A"/>
                </a:solidFill>
                <a:latin typeface="Arial"/>
              </a:rPr>
              <a:t>the cheapest rule that keeps the promise, 9 times out of 10</a:t>
            </a:r>
          </a:p>
        </p:txBody>
      </p:sp>
      <p:sp>
        <p:nvSpPr>
          <p:cNvPr id="9" name="Rounded Rectangle 8"/>
          <p:cNvSpPr/>
          <p:nvPr/>
        </p:nvSpPr>
        <p:spPr>
          <a:xfrm>
            <a:off x="812800" y="4572000"/>
            <a:ext cx="105664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00175A"/>
                </a:solidFill>
                <a:latin typeface="Arial"/>
              </a:rPr>
              <a:t>No cheaper rule passes?  →  call the team every time.  Worst case: no savings, not lost accuracy.</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betting test: start with $1, bet the rule is safe</a:t>
            </a:r>
          </a:p>
        </p:txBody>
      </p:sp>
      <p:sp>
        <p:nvSpPr>
          <p:cNvPr id="4" name="TextBox 3"/>
          <p:cNvSpPr txBox="1"/>
          <p:nvPr/>
        </p:nvSpPr>
        <p:spPr>
          <a:xfrm>
            <a:off x="812800" y="15875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Reveal the labelled tasks one by one. Each task multiplies the money:</a:t>
            </a:r>
          </a:p>
        </p:txBody>
      </p:sp>
      <p:sp>
        <p:nvSpPr>
          <p:cNvPr id="5" name="Rounded Rectangle 4"/>
          <p:cNvSpPr/>
          <p:nvPr/>
        </p:nvSpPr>
        <p:spPr>
          <a:xfrm>
            <a:off x="812800" y="2032000"/>
            <a:ext cx="3111500" cy="2159000"/>
          </a:xfrm>
          <a:prstGeom prst="roundRect">
            <a:avLst>
              <a:gd name="adj" fmla="val 5294"/>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Rule wrong, team right</a:t>
            </a:r>
          </a:p>
          <a:p>
            <a:pPr algn="ctr">
              <a:lnSpc>
                <a:spcPct val="115000"/>
              </a:lnSpc>
              <a:spcAft>
                <a:spcPts val="800"/>
              </a:spcAft>
            </a:pPr>
            <a:r>
              <a:rPr sz="4400" b="1">
                <a:solidFill>
                  <a:srgbClr val="B03A2E"/>
                </a:solidFill>
                <a:latin typeface="Georgia"/>
              </a:rPr>
              <a:t>× 0.53</a:t>
            </a:r>
          </a:p>
          <a:p>
            <a:pPr algn="ctr">
              <a:lnSpc>
                <a:spcPct val="115000"/>
              </a:lnSpc>
              <a:spcAft>
                <a:spcPts val="0"/>
              </a:spcAft>
            </a:pPr>
            <a:r>
              <a:rPr sz="2000" b="1">
                <a:solidFill>
                  <a:srgbClr val="B03A2E"/>
                </a:solidFill>
                <a:latin typeface="Arial"/>
              </a:rPr>
              <a:t>lose a lot</a:t>
            </a:r>
          </a:p>
        </p:txBody>
      </p:sp>
      <p:sp>
        <p:nvSpPr>
          <p:cNvPr id="6" name="Rounded Rectangle 5"/>
          <p:cNvSpPr/>
          <p:nvPr/>
        </p:nvSpPr>
        <p:spPr>
          <a:xfrm>
            <a:off x="4464050" y="2032000"/>
            <a:ext cx="3111500" cy="2159000"/>
          </a:xfrm>
          <a:prstGeom prst="roundRect">
            <a:avLst>
              <a:gd name="adj" fmla="val 5294"/>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Same result</a:t>
            </a:r>
          </a:p>
          <a:p>
            <a:pPr algn="ctr">
              <a:lnSpc>
                <a:spcPct val="115000"/>
              </a:lnSpc>
              <a:spcAft>
                <a:spcPts val="800"/>
              </a:spcAft>
            </a:pPr>
            <a:r>
              <a:rPr sz="4400" b="1">
                <a:solidFill>
                  <a:srgbClr val="00175A"/>
                </a:solidFill>
                <a:latin typeface="Georgia"/>
              </a:rPr>
              <a:t>× 1.03</a:t>
            </a:r>
          </a:p>
          <a:p>
            <a:pPr algn="ctr">
              <a:lnSpc>
                <a:spcPct val="115000"/>
              </a:lnSpc>
              <a:spcAft>
                <a:spcPts val="0"/>
              </a:spcAft>
            </a:pPr>
            <a:r>
              <a:rPr sz="2000" b="1">
                <a:solidFill>
                  <a:srgbClr val="00175A"/>
                </a:solidFill>
                <a:latin typeface="Arial"/>
              </a:rPr>
              <a:t>win a little (most tasks)</a:t>
            </a:r>
          </a:p>
        </p:txBody>
      </p:sp>
      <p:sp>
        <p:nvSpPr>
          <p:cNvPr id="7" name="Rounded Rectangle 6"/>
          <p:cNvSpPr/>
          <p:nvPr/>
        </p:nvSpPr>
        <p:spPr>
          <a:xfrm>
            <a:off x="8115300" y="2032000"/>
            <a:ext cx="3111500" cy="2159000"/>
          </a:xfrm>
          <a:prstGeom prst="roundRect">
            <a:avLst>
              <a:gd name="adj" fmla="val 5294"/>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Rule right, team wrong</a:t>
            </a:r>
          </a:p>
          <a:p>
            <a:pPr algn="ctr">
              <a:lnSpc>
                <a:spcPct val="115000"/>
              </a:lnSpc>
              <a:spcAft>
                <a:spcPts val="800"/>
              </a:spcAft>
            </a:pPr>
            <a:r>
              <a:rPr sz="4400" b="1">
                <a:solidFill>
                  <a:srgbClr val="2F6B34"/>
                </a:solidFill>
                <a:latin typeface="Georgia"/>
              </a:rPr>
              <a:t>× 1.53</a:t>
            </a:r>
          </a:p>
          <a:p>
            <a:pPr algn="ctr">
              <a:lnSpc>
                <a:spcPct val="115000"/>
              </a:lnSpc>
              <a:spcAft>
                <a:spcPts val="0"/>
              </a:spcAft>
            </a:pPr>
            <a:r>
              <a:rPr sz="2000" b="1">
                <a:solidFill>
                  <a:srgbClr val="2F6B34"/>
                </a:solidFill>
                <a:latin typeface="Arial"/>
              </a:rPr>
              <a:t>win a lot</a:t>
            </a:r>
          </a:p>
        </p:txBody>
      </p:sp>
      <p:sp>
        <p:nvSpPr>
          <p:cNvPr id="8" name="Rounded Rectangle 7"/>
          <p:cNvSpPr/>
          <p:nvPr/>
        </p:nvSpPr>
        <p:spPr>
          <a:xfrm>
            <a:off x="812800" y="44450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0"/>
              </a:spcAft>
            </a:pPr>
            <a:r>
              <a:rPr sz="2400" b="1">
                <a:solidFill>
                  <a:srgbClr val="F6F8FB"/>
                </a:solidFill>
                <a:latin typeface="Georgia"/>
              </a:rPr>
              <a:t>Money ever reaches $20  →  pass.     Never reaches it  →  fail.</a:t>
            </a:r>
          </a:p>
        </p:txBody>
      </p:sp>
      <p:sp>
        <p:nvSpPr>
          <p:cNvPr id="9" name="TextBox 8"/>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Multiplier = 1 + λ (ε − loss), loss = 1, 0 or −1. Shown for ε = 5 points and bet size λ = 0.5.</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Good rules get rich, bad rules go broke</a:t>
            </a:r>
          </a:p>
        </p:txBody>
      </p:sp>
      <p:pic>
        <p:nvPicPr>
          <p:cNvPr id="4" name="Picture 3" descr="c_wealth.png"/>
          <p:cNvPicPr>
            <a:picLocks noChangeAspect="1"/>
          </p:cNvPicPr>
          <p:nvPr/>
        </p:nvPicPr>
        <p:blipFill>
          <a:blip r:embed="rId3"/>
          <a:stretch>
            <a:fillRect/>
          </a:stretch>
        </p:blipFill>
        <p:spPr>
          <a:xfrm>
            <a:off x="812800" y="1915559"/>
            <a:ext cx="6985000" cy="3788881"/>
          </a:xfrm>
          <a:prstGeom prst="rect">
            <a:avLst/>
          </a:prstGeom>
        </p:spPr>
      </p:pic>
      <p:sp>
        <p:nvSpPr>
          <p:cNvPr id="5" name="Rounded Rectangle 4"/>
          <p:cNvSpPr/>
          <p:nvPr/>
        </p:nvSpPr>
        <p:spPr>
          <a:xfrm>
            <a:off x="8191500" y="1651000"/>
            <a:ext cx="3187700" cy="1397000"/>
          </a:xfrm>
          <a:prstGeom prst="roundRect">
            <a:avLst>
              <a:gd name="adj" fmla="val 8181"/>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400"/>
              </a:spcAft>
            </a:pPr>
            <a:r>
              <a:rPr sz="1800" b="1">
                <a:solidFill>
                  <a:srgbClr val="66B2F0"/>
                </a:solidFill>
                <a:latin typeface="Arial"/>
              </a:rPr>
              <a:t>Average multiplier</a:t>
            </a:r>
          </a:p>
          <a:p>
            <a:pPr algn="ctr">
              <a:lnSpc>
                <a:spcPct val="115000"/>
              </a:lnSpc>
              <a:spcAft>
                <a:spcPts val="400"/>
              </a:spcAft>
            </a:pPr>
            <a:r>
              <a:rPr sz="3000" b="1">
                <a:solidFill>
                  <a:srgbClr val="F6F8FB"/>
                </a:solidFill>
                <a:latin typeface="Georgia"/>
              </a:rPr>
              <a:t>1 + λ (ε − μ)</a:t>
            </a:r>
          </a:p>
          <a:p>
            <a:pPr algn="ctr">
              <a:lnSpc>
                <a:spcPct val="115000"/>
              </a:lnSpc>
              <a:spcAft>
                <a:spcPts val="0"/>
              </a:spcAft>
            </a:pPr>
            <a:r>
              <a:rPr sz="1500" b="0">
                <a:solidFill>
                  <a:srgbClr val="C3D3EC"/>
                </a:solidFill>
                <a:latin typeface="Arial"/>
              </a:rPr>
              <a:t>μ: the rule’s true average loss</a:t>
            </a:r>
          </a:p>
        </p:txBody>
      </p:sp>
      <p:sp>
        <p:nvSpPr>
          <p:cNvPr id="6" name="Rounded Rectangle 5"/>
          <p:cNvSpPr/>
          <p:nvPr/>
        </p:nvSpPr>
        <p:spPr>
          <a:xfrm>
            <a:off x="8191500" y="3175000"/>
            <a:ext cx="3187700" cy="1270000"/>
          </a:xfrm>
          <a:prstGeom prst="roundRect">
            <a:avLst>
              <a:gd name="adj" fmla="val 9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2F6B34"/>
                </a:solidFill>
                <a:latin typeface="Arial"/>
              </a:rPr>
              <a:t>Good rule: μ &lt; ε</a:t>
            </a:r>
          </a:p>
          <a:p>
            <a:pPr algn="l">
              <a:lnSpc>
                <a:spcPct val="115000"/>
              </a:lnSpc>
              <a:spcAft>
                <a:spcPts val="0"/>
              </a:spcAft>
            </a:pPr>
            <a:r>
              <a:rPr sz="1700" b="0">
                <a:solidFill>
                  <a:srgbClr val="333B47"/>
                </a:solidFill>
                <a:latin typeface="Arial"/>
              </a:rPr>
              <a:t>average &gt; 1: money grows, passes</a:t>
            </a:r>
          </a:p>
        </p:txBody>
      </p:sp>
      <p:sp>
        <p:nvSpPr>
          <p:cNvPr id="7" name="Rounded Rectangle 6"/>
          <p:cNvSpPr/>
          <p:nvPr/>
        </p:nvSpPr>
        <p:spPr>
          <a:xfrm>
            <a:off x="8191500" y="4572000"/>
            <a:ext cx="3187700" cy="1270000"/>
          </a:xfrm>
          <a:prstGeom prst="roundRect">
            <a:avLst>
              <a:gd name="adj" fmla="val 9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B03A2E"/>
                </a:solidFill>
                <a:latin typeface="Arial"/>
              </a:rPr>
              <a:t>Bad rule: μ &gt; ε</a:t>
            </a:r>
          </a:p>
          <a:p>
            <a:pPr algn="l">
              <a:lnSpc>
                <a:spcPct val="115000"/>
              </a:lnSpc>
              <a:spcAft>
                <a:spcPts val="0"/>
              </a:spcAft>
            </a:pPr>
            <a:r>
              <a:rPr sz="1700" b="0">
                <a:solidFill>
                  <a:srgbClr val="333B47"/>
                </a:solidFill>
                <a:latin typeface="Arial"/>
              </a:rPr>
              <a:t>average &lt; 1: money shrinks, fails</a:t>
            </a:r>
          </a:p>
        </p:txBody>
      </p:sp>
      <p:sp>
        <p:nvSpPr>
          <p:cNvPr id="8" name="TextBox 7"/>
          <p:cNvSpPr txBox="1"/>
          <p:nvPr/>
        </p:nvSpPr>
        <p:spPr>
          <a:xfrm>
            <a:off x="8191500" y="5937250"/>
            <a:ext cx="3187700" cy="317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Bet size λ: set from earlier tasks only.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 bad rule rarely gets there</a:t>
            </a:r>
          </a:p>
        </p:txBody>
      </p:sp>
      <p:sp>
        <p:nvSpPr>
          <p:cNvPr id="4" name="Rounded Rectangle 3"/>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Bad rule</a:t>
            </a:r>
          </a:p>
          <a:p>
            <a:pPr algn="ctr">
              <a:lnSpc>
                <a:spcPct val="115000"/>
              </a:lnSpc>
              <a:spcAft>
                <a:spcPts val="0"/>
              </a:spcAft>
            </a:pPr>
            <a:r>
              <a:rPr sz="1800" b="0">
                <a:solidFill>
                  <a:srgbClr val="333B47"/>
                </a:solidFill>
                <a:latin typeface="Arial"/>
              </a:rPr>
              <a:t>each bet loses on average</a:t>
            </a:r>
          </a:p>
        </p:txBody>
      </p:sp>
      <p:sp>
        <p:nvSpPr>
          <p:cNvPr id="5" name="Right Arrow 4"/>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7" name="Right Arrow 6"/>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9" name="Rounded Rectangle 8"/>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 bad rule passes)  ≤  1/20  =  5%</a:t>
            </a:r>
          </a:p>
        </p:txBody>
      </p:sp>
      <p:sp>
        <p:nvSpPr>
          <p:cNvPr id="10" name="Rounded Rectangle 9"/>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100 worlds, $100 in total</a:t>
            </a:r>
          </a:p>
          <a:p>
            <a:pPr algn="l">
              <a:lnSpc>
                <a:spcPct val="115000"/>
              </a:lnSpc>
              <a:spcAft>
                <a:spcPts val="0"/>
              </a:spcAft>
            </a:pPr>
            <a:r>
              <a:rPr sz="1800" b="0">
                <a:solidFill>
                  <a:srgbClr val="6B7480"/>
                </a:solidFill>
                <a:latin typeface="Arial"/>
              </a:rPr>
              <a:t>Each pass holds $20, so at most 5 of 100 pass. $100 line → 1%.</a:t>
            </a:r>
          </a:p>
        </p:txBody>
      </p:sp>
      <p:sp>
        <p:nvSpPr>
          <p:cNvPr id="11" name="Rounded Rectangle 10"/>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A pass: accept, wrong ≤ 5% of the time</a:t>
            </a:r>
          </a:p>
          <a:p>
            <a:pPr algn="l">
              <a:lnSpc>
                <a:spcPct val="115000"/>
              </a:lnSpc>
              <a:spcAft>
                <a:spcPts val="0"/>
              </a:spcAft>
            </a:pPr>
            <a:r>
              <a:rPr sz="1800" b="0">
                <a:solidFill>
                  <a:srgbClr val="6B7480"/>
                </a:solidFill>
                <a:latin typeface="Arial"/>
              </a:rPr>
              <a:t>Like a driving test, not proof you can drive.</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a pass means, and what it does not</a:t>
            </a:r>
          </a:p>
        </p:txBody>
      </p:sp>
      <p:sp>
        <p:nvSpPr>
          <p:cNvPr id="4" name="Rounded Rectangle 3"/>
          <p:cNvSpPr/>
          <p:nvPr/>
        </p:nvSpPr>
        <p:spPr>
          <a:xfrm>
            <a:off x="812800" y="1714500"/>
            <a:ext cx="10566400" cy="1079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800"/>
              </a:spcAft>
            </a:pPr>
            <a:r>
              <a:rPr sz="2800" b="1">
                <a:solidFill>
                  <a:srgbClr val="F6F8FB"/>
                </a:solidFill>
                <a:latin typeface="Georgia"/>
              </a:rPr>
              <a:t>A bad rule reaches $20 at most 5% of the time.</a:t>
            </a:r>
          </a:p>
          <a:p>
            <a:pPr algn="ctr">
              <a:lnSpc>
                <a:spcPct val="115000"/>
              </a:lnSpc>
              <a:spcAft>
                <a:spcPts val="0"/>
              </a:spcAft>
            </a:pPr>
            <a:r>
              <a:rPr sz="2200" b="1">
                <a:solidFill>
                  <a:srgbClr val="66B2F0"/>
                </a:solidFill>
                <a:latin typeface="Arial"/>
              </a:rPr>
              <a:t>So: reach $20 → accept the rule.  This is wrong at most 5% of the time.</a:t>
            </a:r>
          </a:p>
        </p:txBody>
      </p:sp>
      <p:sp>
        <p:nvSpPr>
          <p:cNvPr id="5" name="Rounded Rectangle 4"/>
          <p:cNvSpPr/>
          <p:nvPr/>
        </p:nvSpPr>
        <p:spPr>
          <a:xfrm>
            <a:off x="812800" y="3111500"/>
            <a:ext cx="3111500" cy="1460500"/>
          </a:xfrm>
          <a:prstGeom prst="roundRect">
            <a:avLst>
              <a:gd name="adj" fmla="val 782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2F6B34"/>
                </a:solidFill>
                <a:latin typeface="Arial"/>
              </a:rPr>
              <a:t>Right</a:t>
            </a:r>
          </a:p>
          <a:p>
            <a:pPr algn="ctr">
              <a:lnSpc>
                <a:spcPct val="115000"/>
              </a:lnSpc>
              <a:spcAft>
                <a:spcPts val="0"/>
              </a:spcAft>
            </a:pPr>
            <a:r>
              <a:rPr sz="1700" b="0">
                <a:solidFill>
                  <a:srgbClr val="00175A"/>
                </a:solidFill>
                <a:latin typeface="Arial"/>
              </a:rPr>
              <a:t>“We accept it, and are wrong at most 5% of the time.”</a:t>
            </a:r>
          </a:p>
        </p:txBody>
      </p:sp>
      <p:sp>
        <p:nvSpPr>
          <p:cNvPr id="6" name="Rounded Rectangle 5"/>
          <p:cNvSpPr/>
          <p:nvPr/>
        </p:nvSpPr>
        <p:spPr>
          <a:xfrm>
            <a:off x="446405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“Reaching $20 proves the rule is good.”</a:t>
            </a:r>
          </a:p>
        </p:txBody>
      </p:sp>
      <p:sp>
        <p:nvSpPr>
          <p:cNvPr id="7" name="Rounded Rectangle 6"/>
          <p:cNvSpPr/>
          <p:nvPr/>
        </p:nvSpPr>
        <p:spPr>
          <a:xfrm>
            <a:off x="811530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“5% of the rules that pass are bad.”</a:t>
            </a:r>
          </a:p>
        </p:txBody>
      </p:sp>
      <p:sp>
        <p:nvSpPr>
          <p:cNvPr id="8" name="Rounded Rectangle 7"/>
          <p:cNvSpPr/>
          <p:nvPr/>
        </p:nvSpPr>
        <p:spPr>
          <a:xfrm>
            <a:off x="812800" y="4826000"/>
            <a:ext cx="10566400" cy="1270000"/>
          </a:xfrm>
          <a:prstGeom prst="roundRect">
            <a:avLst>
              <a:gd name="adj" fmla="val 9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800"/>
              </a:spcAft>
            </a:pPr>
            <a:r>
              <a:rPr sz="1900" b="1">
                <a:solidFill>
                  <a:srgbClr val="00175A"/>
                </a:solidFill>
                <a:latin typeface="Arial"/>
              </a:rPr>
              <a:t>Like a driving test.</a:t>
            </a:r>
            <a:r>
              <a:rPr sz="1900" b="0">
                <a:solidFill>
                  <a:srgbClr val="00175A"/>
                </a:solidFill>
                <a:latin typeface="Arial"/>
              </a:rPr>
              <a:t> Bad drivers pass at most 5% of the time. Passing gets you a licence, it does not prove you can drive.</a:t>
            </a:r>
          </a:p>
          <a:p>
            <a:pPr algn="l">
              <a:lnSpc>
                <a:spcPct val="115000"/>
              </a:lnSpc>
              <a:spcAft>
                <a:spcPts val="0"/>
              </a:spcAft>
            </a:pPr>
            <a:r>
              <a:rPr sz="1800" b="0">
                <a:solidFill>
                  <a:srgbClr val="6B7480"/>
                </a:solidFill>
                <a:latin typeface="Arial"/>
              </a:rPr>
              <a:t>Two families, 5% each  →  the promise holds with probability ≥ 90%.</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Many rules: test from safe to risky</a:t>
            </a:r>
          </a:p>
        </p:txBody>
      </p:sp>
      <p:pic>
        <p:nvPicPr>
          <p:cNvPr id="4" name="Picture 3" descr="c_sweep.png"/>
          <p:cNvPicPr>
            <a:picLocks noChangeAspect="1"/>
          </p:cNvPicPr>
          <p:nvPr/>
        </p:nvPicPr>
        <p:blipFill>
          <a:blip r:embed="rId3"/>
          <a:stretch>
            <a:fillRect/>
          </a:stretch>
        </p:blipFill>
        <p:spPr>
          <a:xfrm>
            <a:off x="2179492" y="1587500"/>
            <a:ext cx="7833014" cy="4445000"/>
          </a:xfrm>
          <a:prstGeom prst="rect">
            <a:avLst/>
          </a:prstGeom>
        </p:spPr>
      </p:pic>
      <p:sp>
        <p:nvSpPr>
          <p:cNvPr id="5" name="TextBox 4"/>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option A (direct answer’s confidence), one calibration half. Option B is tested the same way, the cheaper one is kept.</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CHECK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bet on saved answers too? It saves more</a:t>
            </a:r>
          </a:p>
        </p:txBody>
      </p:sp>
      <p:pic>
        <p:nvPicPr>
          <p:cNvPr id="4" name="Picture 3" descr="c_tests.png"/>
          <p:cNvPicPr>
            <a:picLocks noChangeAspect="1"/>
          </p:cNvPicPr>
          <p:nvPr/>
        </p:nvPicPr>
        <p:blipFill>
          <a:blip r:embed="rId3"/>
          <a:stretch>
            <a:fillRect/>
          </a:stretch>
        </p:blipFill>
        <p:spPr>
          <a:xfrm>
            <a:off x="812800" y="2267670"/>
            <a:ext cx="7302500" cy="2830659"/>
          </a:xfrm>
          <a:prstGeom prst="rect">
            <a:avLst/>
          </a:prstGeom>
        </p:spPr>
      </p:pic>
      <p:sp>
        <p:nvSpPr>
          <p:cNvPr id="5" name="Rounded Rectangle 4"/>
          <p:cNvSpPr/>
          <p:nvPr/>
        </p:nvSpPr>
        <p:spPr>
          <a:xfrm>
            <a:off x="8445500" y="1905000"/>
            <a:ext cx="2933700" cy="1778000"/>
          </a:xfrm>
          <a:prstGeom prst="roundRect">
            <a:avLst>
              <a:gd name="adj" fmla="val 6428"/>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33B47"/>
                </a:solidFill>
                <a:latin typeface="Arial"/>
              </a:rPr>
              <a:t>of the team’s tokens when saves count. Losses only: 79%.</a:t>
            </a:r>
          </a:p>
        </p:txBody>
      </p:sp>
      <p:sp>
        <p:nvSpPr>
          <p:cNvPr id="6" name="TextBox 5"/>
          <p:cNvSpPr txBox="1"/>
          <p:nvPr/>
        </p:nvSpPr>
        <p:spPr>
          <a:xfrm>
            <a:off x="8445500" y="3937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Teams break right answers on up to 9% of tasks. The bet gives the rule credit for them.</a:t>
            </a:r>
          </a:p>
        </p:txBody>
      </p:sp>
      <p:sp>
        <p:nvSpPr>
          <p:cNvPr id="7" name="TextBox 6"/>
          <p:cNvSpPr txBox="1"/>
          <p:nvPr/>
        </p:nvSpPr>
        <p:spPr>
          <a:xfrm>
            <a:off x="812800" y="5778500"/>
            <a:ext cx="7302500" cy="2540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Tokens each valid test can certify at ε = 5. Lower is better.</a:t>
            </a:r>
          </a:p>
        </p:txBody>
      </p:sp>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DEPTH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4" name="TextBox 3"/>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5" name="Rounded Rectangle 4"/>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6" name="Right Arrow 5"/>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8" name="TextBox 7"/>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9" name="TextBox 8"/>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0" name="Rounded Rectangle 9"/>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1" name="Right Arrow 10"/>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3" name="TextBox 12"/>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4" name="Rounded Rectangle 13"/>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4" name="TextBox 3"/>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5" name="TextBox 4"/>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6" name="TextBox 5"/>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8" name="TextBox 7"/>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9" name="Rounded Rectangle 8"/>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0" name="Rounded Rectangle 9"/>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3" name="TextBox 12"/>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4" name="Rounded Rectangle 13"/>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5" name="Rounded Rectangle 14"/>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8" name="TextBox 17"/>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19" name="Rounded Rectangle 18"/>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0" name="Rounded Rectangle 19"/>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
        <p:nvSpPr>
          <p:cNvPr id="24" name="TextBox 2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4" name="Picture 3" descr="c_viol.png"/>
          <p:cNvPicPr>
            <a:picLocks noChangeAspect="1"/>
          </p:cNvPicPr>
          <p:nvPr/>
        </p:nvPicPr>
        <p:blipFill>
          <a:blip r:embed="rId3"/>
          <a:stretch>
            <a:fillRect/>
          </a:stretch>
        </p:blipFill>
        <p:spPr>
          <a:xfrm>
            <a:off x="812800" y="1999442"/>
            <a:ext cx="7302500" cy="37481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4" name="Picture 3" descr="c_savings.png"/>
          <p:cNvPicPr>
            <a:picLocks noChangeAspect="1"/>
          </p:cNvPicPr>
          <p:nvPr/>
        </p:nvPicPr>
        <p:blipFill>
          <a:blip r:embed="rId3"/>
          <a:stretch>
            <a:fillRect/>
          </a:stretch>
        </p:blipFill>
        <p:spPr>
          <a:xfrm>
            <a:off x="812800" y="1997499"/>
            <a:ext cx="7302500" cy="3752001"/>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6" name="Rounded Rectangle 5"/>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and it saves 38–65%</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Splits that broke the promise (%)</a:t>
            </a:r>
          </a:p>
        </p:txBody>
      </p:sp>
      <p:pic>
        <p:nvPicPr>
          <p:cNvPr id="5" name="Picture 4" descr="c_viol.png"/>
          <p:cNvPicPr>
            <a:picLocks noChangeAspect="1"/>
          </p:cNvPicPr>
          <p:nvPr/>
        </p:nvPicPr>
        <p:blipFill>
          <a:blip r:embed="rId3"/>
          <a:stretch>
            <a:fillRect/>
          </a:stretch>
        </p:blipFill>
        <p:spPr>
          <a:xfrm>
            <a:off x="812800" y="1998307"/>
            <a:ext cx="5080000" cy="2607384"/>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Tokens used (% of the team’s)</a:t>
            </a:r>
          </a:p>
        </p:txBody>
      </p:sp>
      <p:pic>
        <p:nvPicPr>
          <p:cNvPr id="7" name="Picture 6" descr="c_savings.png"/>
          <p:cNvPicPr>
            <a:picLocks noChangeAspect="1"/>
          </p:cNvPicPr>
          <p:nvPr/>
        </p:nvPicPr>
        <p:blipFill>
          <a:blip r:embed="rId4"/>
          <a:stretch>
            <a:fillRect/>
          </a:stretch>
        </p:blipFill>
        <p:spPr>
          <a:xfrm>
            <a:off x="6299200" y="1996955"/>
            <a:ext cx="5080000" cy="261008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 65% saved</a:t>
            </a:r>
          </a:p>
          <a:p>
            <a:pPr algn="l">
              <a:lnSpc>
                <a:spcPct val="115000"/>
              </a:lnSpc>
              <a:spcAft>
                <a:spcPts val="0"/>
              </a:spcAft>
            </a:pPr>
            <a:r>
              <a:rPr sz="1700" b="0">
                <a:solidFill>
                  <a:srgbClr val="333B47"/>
                </a:solidFill>
                <a:latin typeface="Arial"/>
              </a:rPr>
              <a:t>allowing 5 / 10 points of loss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4" name="Picture 3" descr="c_tuned.png"/>
          <p:cNvPicPr>
            <a:picLocks noChangeAspect="1"/>
          </p:cNvPicPr>
          <p:nvPr/>
        </p:nvPicPr>
        <p:blipFill>
          <a:blip r:embed="rId3"/>
          <a:stretch>
            <a:fillRect/>
          </a:stretch>
        </p:blipFill>
        <p:spPr>
          <a:xfrm>
            <a:off x="812800" y="1721371"/>
            <a:ext cx="7302500" cy="4304257"/>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4" name="Rectangle 3"/>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6" name="Rectangle 5"/>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A betting test keeps the promise</a:t>
            </a:r>
          </a:p>
          <a:p>
            <a:pPr algn="l">
              <a:lnSpc>
                <a:spcPct val="115000"/>
              </a:lnSpc>
              <a:spcAft>
                <a:spcPts val="0"/>
              </a:spcAft>
            </a:pPr>
            <a:r>
              <a:rPr sz="2000" b="0">
                <a:solidFill>
                  <a:srgbClr val="333B47"/>
                </a:solidFill>
                <a:latin typeface="Arial"/>
              </a:rPr>
              <a:t>you set the loss, it finds the cheapest safe rule.</a:t>
            </a:r>
          </a:p>
        </p:txBody>
      </p:sp>
      <p:sp>
        <p:nvSpPr>
          <p:cNvPr id="8" name="Rectangle 7"/>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0" name="TextBox 9"/>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4" name="Oval 3"/>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6" name="Oval 5"/>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8" name="Rounded Rectangle 7"/>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9" name="Right Arrow 8"/>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1" name="Right Arrow 10"/>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3" name="TextBox 12"/>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4" name="TextBox 13"/>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5" name="Rounded Rectangle 14"/>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6" name="Rounded Rectangle 15"/>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7" name="Rounded Rectangle 16"/>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8" name="Rounded Rectangle 17"/>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19" name="TextBox 18"/>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
        <p:nvSpPr>
          <p:cNvPr id="20" name="TextBox 1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2667000"/>
            <a:ext cx="10566400" cy="7620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Backup</a:t>
            </a:r>
          </a:p>
        </p:txBody>
      </p:sp>
      <p:sp>
        <p:nvSpPr>
          <p:cNvPr id="3" name="TextBox 2"/>
          <p:cNvSpPr txBox="1"/>
          <p:nvPr/>
        </p:nvSpPr>
        <p:spPr>
          <a:xfrm>
            <a:off x="812800" y="368300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6B7480"/>
                </a:solidFill>
                <a:latin typeface="Arial"/>
              </a:rPr>
              <a:t>Details for questions</a:t>
            </a:r>
          </a:p>
        </p:txBody>
      </p:sp>
      <p:sp>
        <p:nvSpPr>
          <p:cNvPr id="4" name="TextBox 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EXECUTIVE SUMMARY</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Call the team only when you must, with a guarantee</a:t>
            </a:r>
          </a:p>
        </p:txBody>
      </p:sp>
      <p:sp>
        <p:nvSpPr>
          <p:cNvPr id="4" name="Rounded Rectangle 3"/>
          <p:cNvSpPr/>
          <p:nvPr/>
        </p:nvSpPr>
        <p:spPr>
          <a:xfrm>
            <a:off x="812800" y="16827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Problem</a:t>
            </a:r>
          </a:p>
        </p:txBody>
      </p:sp>
      <p:sp>
        <p:nvSpPr>
          <p:cNvPr id="5" name="Rounded Rectangle 4"/>
          <p:cNvSpPr/>
          <p:nvPr/>
        </p:nvSpPr>
        <p:spPr>
          <a:xfrm>
            <a:off x="2844800" y="16827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Agent teams are more accurate, but use up to </a:t>
            </a:r>
            <a:r>
              <a:rPr sz="2100" b="1">
                <a:solidFill>
                  <a:srgbClr val="00175A"/>
                </a:solidFill>
                <a:latin typeface="Arial"/>
              </a:rPr>
              <a:t>6.3×</a:t>
            </a:r>
            <a:r>
              <a:rPr sz="2100" b="0">
                <a:solidFill>
                  <a:srgbClr val="00175A"/>
                </a:solidFill>
                <a:latin typeface="Arial"/>
              </a:rPr>
              <a:t> the tokens of a single agent and break right answers on up to </a:t>
            </a:r>
            <a:r>
              <a:rPr sz="2100" b="1">
                <a:solidFill>
                  <a:srgbClr val="00175A"/>
                </a:solidFill>
                <a:latin typeface="Arial"/>
              </a:rPr>
              <a:t>9%</a:t>
            </a:r>
            <a:r>
              <a:rPr sz="2100" b="0">
                <a:solidFill>
                  <a:srgbClr val="00175A"/>
                </a:solidFill>
                <a:latin typeface="Arial"/>
              </a:rPr>
              <a:t> of tasks.</a:t>
            </a:r>
          </a:p>
        </p:txBody>
      </p:sp>
      <p:sp>
        <p:nvSpPr>
          <p:cNvPr id="6" name="Rounded Rectangle 5"/>
          <p:cNvSpPr/>
          <p:nvPr/>
        </p:nvSpPr>
        <p:spPr>
          <a:xfrm>
            <a:off x="812800" y="25844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Idea</a:t>
            </a:r>
          </a:p>
        </p:txBody>
      </p:sp>
      <p:sp>
        <p:nvSpPr>
          <p:cNvPr id="7" name="Rounded Rectangle 6"/>
          <p:cNvSpPr/>
          <p:nvPr/>
        </p:nvSpPr>
        <p:spPr>
          <a:xfrm>
            <a:off x="2844800" y="25844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Try cheap answers first. Call the team only when a cheap answer looks unreliable (</a:t>
            </a:r>
            <a:r>
              <a:rPr sz="2100" b="1">
                <a:solidFill>
                  <a:srgbClr val="00175A"/>
                </a:solidFill>
                <a:latin typeface="Arial"/>
              </a:rPr>
              <a:t>confidence</a:t>
            </a:r>
            <a:r>
              <a:rPr sz="2100" b="0">
                <a:solidFill>
                  <a:srgbClr val="00175A"/>
                </a:solidFill>
                <a:latin typeface="Arial"/>
              </a:rPr>
              <a:t>, </a:t>
            </a:r>
            <a:r>
              <a:rPr sz="2100" b="1">
                <a:solidFill>
                  <a:srgbClr val="00175A"/>
                </a:solidFill>
                <a:latin typeface="Arial"/>
              </a:rPr>
              <a:t>agreement</a:t>
            </a:r>
            <a:r>
              <a:rPr sz="2100" b="0">
                <a:solidFill>
                  <a:srgbClr val="00175A"/>
                </a:solidFill>
                <a:latin typeface="Arial"/>
              </a:rPr>
              <a:t>).</a:t>
            </a:r>
          </a:p>
        </p:txBody>
      </p:sp>
      <p:sp>
        <p:nvSpPr>
          <p:cNvPr id="8" name="Rounded Rectangle 7"/>
          <p:cNvSpPr/>
          <p:nvPr/>
        </p:nvSpPr>
        <p:spPr>
          <a:xfrm>
            <a:off x="812800" y="3486150"/>
            <a:ext cx="1905000" cy="762000"/>
          </a:xfrm>
          <a:prstGeom prst="roundRect">
            <a:avLst>
              <a:gd name="adj" fmla="val 10000"/>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Guarantee</a:t>
            </a:r>
          </a:p>
        </p:txBody>
      </p:sp>
      <p:sp>
        <p:nvSpPr>
          <p:cNvPr id="9" name="Rounded Rectangle 8"/>
          <p:cNvSpPr/>
          <p:nvPr/>
        </p:nvSpPr>
        <p:spPr>
          <a:xfrm>
            <a:off x="2844800" y="3486150"/>
            <a:ext cx="8534400" cy="762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You set the accuracy you can lose. A </a:t>
            </a:r>
            <a:r>
              <a:rPr sz="2100" b="1">
                <a:solidFill>
                  <a:srgbClr val="00175A"/>
                </a:solidFill>
                <a:latin typeface="Arial"/>
              </a:rPr>
              <a:t>betting test</a:t>
            </a:r>
            <a:r>
              <a:rPr sz="2100" b="0">
                <a:solidFill>
                  <a:srgbClr val="00175A"/>
                </a:solidFill>
                <a:latin typeface="Arial"/>
              </a:rPr>
              <a:t> certifies the cheapest rule that keeps it, with </a:t>
            </a:r>
            <a:r>
              <a:rPr sz="2100" b="1">
                <a:solidFill>
                  <a:srgbClr val="00175A"/>
                </a:solidFill>
                <a:latin typeface="Arial"/>
              </a:rPr>
              <a:t>90%</a:t>
            </a:r>
            <a:r>
              <a:rPr sz="2100" b="0">
                <a:solidFill>
                  <a:srgbClr val="00175A"/>
                </a:solidFill>
                <a:latin typeface="Arial"/>
              </a:rPr>
              <a:t> probability.</a:t>
            </a:r>
          </a:p>
        </p:txBody>
      </p:sp>
      <p:sp>
        <p:nvSpPr>
          <p:cNvPr id="10" name="Rounded Rectangle 9"/>
          <p:cNvSpPr/>
          <p:nvPr/>
        </p:nvSpPr>
        <p:spPr>
          <a:xfrm>
            <a:off x="812800" y="43878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Result</a:t>
            </a:r>
          </a:p>
        </p:txBody>
      </p:sp>
      <p:sp>
        <p:nvSpPr>
          <p:cNvPr id="11" name="Rounded Rectangle 10"/>
          <p:cNvSpPr/>
          <p:nvPr/>
        </p:nvSpPr>
        <p:spPr>
          <a:xfrm>
            <a:off x="2844800" y="43878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1">
                <a:solidFill>
                  <a:srgbClr val="00175A"/>
                </a:solidFill>
                <a:latin typeface="Arial"/>
              </a:rPr>
              <a:t>38–65% fewer tokens</a:t>
            </a:r>
            <a:r>
              <a:rPr sz="2100" b="0">
                <a:solidFill>
                  <a:srgbClr val="00175A"/>
                </a:solidFill>
                <a:latin typeface="Arial"/>
              </a:rPr>
              <a:t> on 3 models × 4 benchmarks. The promise broke in </a:t>
            </a:r>
            <a:r>
              <a:rPr sz="2100" b="1">
                <a:solidFill>
                  <a:srgbClr val="00175A"/>
                </a:solidFill>
                <a:latin typeface="Arial"/>
              </a:rPr>
              <a:t>≤ 2%</a:t>
            </a:r>
            <a:r>
              <a:rPr sz="2100" b="0">
                <a:solidFill>
                  <a:srgbClr val="00175A"/>
                </a:solidFill>
                <a:latin typeface="Arial"/>
              </a:rPr>
              <a:t> of splits (10% allowed).</a:t>
            </a:r>
          </a:p>
        </p:txBody>
      </p:sp>
      <p:sp>
        <p:nvSpPr>
          <p:cNvPr id="12" name="Rounded Rectangle 11"/>
          <p:cNvSpPr/>
          <p:nvPr/>
        </p:nvSpPr>
        <p:spPr>
          <a:xfrm>
            <a:off x="812800" y="52895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For Amex</a:t>
            </a:r>
          </a:p>
        </p:txBody>
      </p:sp>
      <p:sp>
        <p:nvSpPr>
          <p:cNvPr id="13" name="Rounded Rectangle 12"/>
          <p:cNvSpPr/>
          <p:nvPr/>
        </p:nvSpPr>
        <p:spPr>
          <a:xfrm>
            <a:off x="2844800" y="52895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Sits in front of any multi-agent workflow. Lessons for designing complex agent systems.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